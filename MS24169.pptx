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66" r:id="rId2"/>
    <p:sldId id="267" r:id="rId3"/>
    <p:sldId id="284" r:id="rId4"/>
    <p:sldId id="277" r:id="rId5"/>
    <p:sldId id="268" r:id="rId6"/>
    <p:sldId id="272" r:id="rId7"/>
    <p:sldId id="273" r:id="rId8"/>
    <p:sldId id="274" r:id="rId9"/>
    <p:sldId id="275" r:id="rId10"/>
    <p:sldId id="278" r:id="rId11"/>
    <p:sldId id="279" r:id="rId12"/>
    <p:sldId id="280" r:id="rId13"/>
    <p:sldId id="281" r:id="rId14"/>
    <p:sldId id="285" r:id="rId15"/>
    <p:sldId id="286" r:id="rId16"/>
    <p:sldId id="287" r:id="rId17"/>
    <p:sldId id="288" r:id="rId18"/>
    <p:sldId id="256" r:id="rId19"/>
    <p:sldId id="257" r:id="rId20"/>
    <p:sldId id="258" r:id="rId21"/>
    <p:sldId id="259" r:id="rId22"/>
    <p:sldId id="260" r:id="rId23"/>
    <p:sldId id="261" r:id="rId24"/>
    <p:sldId id="262" r:id="rId25"/>
    <p:sldId id="263" r:id="rId26"/>
    <p:sldId id="264" r:id="rId27"/>
    <p:sldId id="265" r:id="rId28"/>
    <p:sldId id="282" r:id="rId29"/>
    <p:sldId id="283" r:id="rId30"/>
    <p:sldId id="289" r:id="rId31"/>
    <p:sldId id="291" r:id="rId32"/>
    <p:sldId id="292" r:id="rId33"/>
    <p:sldId id="293" r:id="rId34"/>
    <p:sldId id="294" r:id="rId35"/>
    <p:sldId id="295" r:id="rId36"/>
    <p:sldId id="296" r:id="rId37"/>
    <p:sldId id="297" r:id="rId38"/>
    <p:sldId id="298" r:id="rId39"/>
    <p:sldId id="309" r:id="rId40"/>
    <p:sldId id="312" r:id="rId41"/>
    <p:sldId id="311" r:id="rId42"/>
    <p:sldId id="299" r:id="rId43"/>
    <p:sldId id="300" r:id="rId44"/>
    <p:sldId id="310" r:id="rId45"/>
    <p:sldId id="301" r:id="rId46"/>
    <p:sldId id="302" r:id="rId47"/>
    <p:sldId id="303" r:id="rId48"/>
    <p:sldId id="313" r:id="rId49"/>
    <p:sldId id="304" r:id="rId50"/>
    <p:sldId id="305" r:id="rId51"/>
    <p:sldId id="306" r:id="rId52"/>
    <p:sldId id="307" r:id="rId53"/>
    <p:sldId id="308" r:id="rId54"/>
    <p:sldId id="314" r:id="rId55"/>
    <p:sldId id="315" r:id="rId56"/>
    <p:sldId id="316" r:id="rId57"/>
    <p:sldId id="319" r:id="rId58"/>
    <p:sldId id="317" r:id="rId59"/>
    <p:sldId id="318" r:id="rId60"/>
    <p:sldId id="320"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9" d="100"/>
          <a:sy n="69" d="100"/>
        </p:scale>
        <p:origin x="-1416"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3D22D0F-0342-444A-9746-DED56459D482}" type="datetimeFigureOut">
              <a:rPr lang="en-US" smtClean="0"/>
              <a:pPr/>
              <a:t>3/25/2026</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EE9CAB1-7146-484F-8A32-448D860C46D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03D22D0F-0342-444A-9746-DED56459D482}" type="datetimeFigureOut">
              <a:rPr lang="en-US" smtClean="0"/>
              <a:pPr/>
              <a:t>3/25/2026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3D22D0F-0342-444A-9746-DED56459D482}" type="datetimeFigureOut">
              <a:rPr lang="en-US" smtClean="0"/>
              <a:pPr/>
              <a:t>3/25/2026</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EE9CAB1-7146-484F-8A32-448D860C46D4}"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3D22D0F-0342-444A-9746-DED56459D482}" type="datetimeFigureOut">
              <a:rPr lang="en-US" smtClean="0"/>
              <a:pPr/>
              <a:t>3/25/2026</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EE9CAB1-7146-484F-8A32-448D860C46D4}"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getbootstrap.com/"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158775"/>
            <a:ext cx="8424936" cy="1470025"/>
          </a:xfrm>
        </p:spPr>
        <p:txBody>
          <a:bodyPr>
            <a:normAutofit fontScale="90000"/>
          </a:bodyPr>
          <a:lstStyle/>
          <a:p>
            <a:pPr algn="ctr"/>
            <a:r>
              <a:rPr lang="en-IN" b="1" dirty="0" smtClean="0">
                <a:latin typeface="Times New Roman" pitchFamily="18" charset="0"/>
                <a:cs typeface="Times New Roman" pitchFamily="18" charset="0"/>
              </a:rPr>
              <a:t>The Event Management System</a:t>
            </a:r>
            <a:endParaRPr lang="en-US" b="1" dirty="0">
              <a:latin typeface="Times New Roman" pitchFamily="18" charset="0"/>
              <a:cs typeface="Times New Roman" pitchFamily="18" charset="0"/>
            </a:endParaRPr>
          </a:p>
        </p:txBody>
      </p:sp>
      <p:sp>
        <p:nvSpPr>
          <p:cNvPr id="4" name="Subtitle 3"/>
          <p:cNvSpPr>
            <a:spLocks noGrp="1"/>
          </p:cNvSpPr>
          <p:nvPr>
            <p:ph type="subTitle" idx="1"/>
          </p:nvPr>
        </p:nvSpPr>
        <p:spPr/>
        <p:txBody>
          <a:bodyPr>
            <a:noAutofit/>
          </a:bodyPr>
          <a:lstStyle/>
          <a:p>
            <a:pPr algn="r"/>
            <a:r>
              <a:rPr lang="en-IN" sz="2800" b="1" dirty="0" smtClean="0">
                <a:solidFill>
                  <a:schemeClr val="tx1"/>
                </a:solidFill>
                <a:latin typeface="Times New Roman" pitchFamily="18" charset="0"/>
                <a:cs typeface="Times New Roman" pitchFamily="18" charset="0"/>
              </a:rPr>
              <a:t>Presented by: Patel Ami</a:t>
            </a:r>
            <a:endParaRPr lang="en-US" sz="2800" b="1" dirty="0" smtClean="0">
              <a:solidFill>
                <a:schemeClr val="tx1"/>
              </a:solidFill>
              <a:latin typeface="Times New Roman" pitchFamily="18" charset="0"/>
              <a:cs typeface="Times New Roman" pitchFamily="18" charset="0"/>
            </a:endParaRPr>
          </a:p>
          <a:p>
            <a:pPr algn="r"/>
            <a:r>
              <a:rPr lang="en-IN" sz="2800" b="1" dirty="0" smtClean="0">
                <a:solidFill>
                  <a:schemeClr val="tx1"/>
                </a:solidFill>
                <a:latin typeface="Times New Roman" pitchFamily="18" charset="0"/>
                <a:cs typeface="Times New Roman" pitchFamily="18" charset="0"/>
              </a:rPr>
              <a:t>Guide by: Dr D.B.Choksi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6"/>
          <a:ext cx="8784976" cy="5268815"/>
        </p:xfrm>
        <a:graphic>
          <a:graphicData uri="http://schemas.openxmlformats.org/drawingml/2006/table">
            <a:tbl>
              <a:tblPr firstRow="1" bandRow="1">
                <a:tableStyleId>{3B4B98B0-60AC-42C2-AFA5-B58CD77FA1E5}</a:tableStyleId>
              </a:tblPr>
              <a:tblGrid>
                <a:gridCol w="1728192"/>
                <a:gridCol w="7056784"/>
              </a:tblGrid>
              <a:tr h="432048">
                <a:tc>
                  <a:txBody>
                    <a:bodyPr/>
                    <a:lstStyle/>
                    <a:p>
                      <a:pPr>
                        <a:lnSpc>
                          <a:spcPct val="115000"/>
                        </a:lnSpc>
                        <a:spcAft>
                          <a:spcPts val="0"/>
                        </a:spcAft>
                      </a:pPr>
                      <a:r>
                        <a:rPr lang="en-IN" sz="1800" dirty="0" smtClean="0">
                          <a:latin typeface="Times New Roman" pitchFamily="18" charset="0"/>
                          <a:ea typeface="Calibri"/>
                          <a:cs typeface="Times New Roman" pitchFamily="18" charset="0"/>
                        </a:rPr>
                        <a:t>Project Title</a:t>
                      </a:r>
                      <a:endParaRPr lang="en-US" sz="18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b="0" dirty="0" smtClean="0">
                          <a:latin typeface="Times New Roman" pitchFamily="18" charset="0"/>
                          <a:ea typeface="Calibri"/>
                          <a:cs typeface="Times New Roman" pitchFamily="18" charset="0"/>
                        </a:rPr>
                        <a:t>The Event Management System</a:t>
                      </a:r>
                      <a:endParaRPr lang="en-US" sz="1800" b="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Purpose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US" dirty="0" smtClean="0">
                          <a:latin typeface="Times New Roman" pitchFamily="18" charset="0"/>
                          <a:cs typeface="Times New Roman" pitchFamily="18" charset="0"/>
                        </a:rPr>
                        <a:t>To automate event creation, registration, payment, and ticket generation</a:t>
                      </a:r>
                      <a:endParaRPr lang="en-US" sz="180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Developer</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Patel Ami</a:t>
                      </a:r>
                      <a:endParaRPr lang="en-US" sz="180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Organization</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7Sisters Tech</a:t>
                      </a:r>
                      <a:endParaRPr lang="en-US" sz="180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Organization Address</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kumimoji="0" lang="en-IN" sz="1800" kern="1200" dirty="0" smtClean="0">
                          <a:solidFill>
                            <a:schemeClr val="tx1"/>
                          </a:solidFill>
                          <a:latin typeface="Times New Roman" pitchFamily="18" charset="0"/>
                          <a:ea typeface="+mn-ea"/>
                          <a:cs typeface="Times New Roman" pitchFamily="18" charset="0"/>
                        </a:rPr>
                        <a:t>Skywalk the element,511,Jagatpur Rd,Gota,Ahemedabad,Gujarat 382481</a:t>
                      </a:r>
                      <a:endParaRPr lang="en-US" sz="180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Technologies </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US" sz="1800" dirty="0" smtClean="0">
                          <a:latin typeface="Times New Roman" pitchFamily="18" charset="0"/>
                          <a:ea typeface="Calibri"/>
                          <a:cs typeface="Times New Roman" pitchFamily="18" charset="0"/>
                        </a:rPr>
                        <a:t>React JS, HTML5,CSS3,Axios,React , Bootstrap,PHP,MySQL</a:t>
                      </a:r>
                      <a:endParaRPr lang="en-US" sz="1800" dirty="0">
                        <a:latin typeface="Times New Roman" pitchFamily="18" charset="0"/>
                        <a:ea typeface="Calibri"/>
                        <a:cs typeface="Times New Roman" pitchFamily="18" charset="0"/>
                      </a:endParaRPr>
                    </a:p>
                  </a:txBody>
                  <a:tcPr marL="68580" marR="68580" marT="0" marB="0"/>
                </a:tc>
              </a:tr>
              <a:tr h="60258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Development Tools</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US" sz="1800" dirty="0" smtClean="0">
                          <a:latin typeface="Times New Roman" pitchFamily="18" charset="0"/>
                          <a:ea typeface="Calibri"/>
                          <a:cs typeface="Times New Roman" pitchFamily="18" charset="0"/>
                        </a:rPr>
                        <a:t>Visual Studio Code, XAMPP(server)</a:t>
                      </a:r>
                      <a:endParaRPr lang="en-US" sz="1800" dirty="0">
                        <a:latin typeface="Times New Roman" pitchFamily="18" charset="0"/>
                        <a:ea typeface="Calibri"/>
                        <a:cs typeface="Times New Roman" pitchFamily="18" charset="0"/>
                      </a:endParaRPr>
                    </a:p>
                  </a:txBody>
                  <a:tcPr marL="68580" marR="68580" marT="0" marB="0"/>
                </a:tc>
              </a:tr>
              <a:tr h="60258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Objective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The objective of this project is to </a:t>
                      </a:r>
                      <a:r>
                        <a:rPr lang="en-US" dirty="0" smtClean="0">
                          <a:latin typeface="Times New Roman" pitchFamily="18" charset="0"/>
                          <a:cs typeface="Times New Roman" pitchFamily="18" charset="0"/>
                        </a:rPr>
                        <a:t>Simplify and manage event operations efficiently.</a:t>
                      </a:r>
                      <a:endParaRPr lang="en-US" sz="1800" dirty="0">
                        <a:latin typeface="Times New Roman" pitchFamily="18" charset="0"/>
                        <a:ea typeface="Calibri"/>
                        <a:cs typeface="Times New Roman" pitchFamily="18" charset="0"/>
                      </a:endParaRPr>
                    </a:p>
                  </a:txBody>
                  <a:tcPr marL="68580" marR="68580" marT="0" marB="0"/>
                </a:tc>
              </a:tr>
              <a:tr h="60258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Project Type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Web application</a:t>
                      </a:r>
                      <a:endParaRPr lang="en-US" sz="1800" dirty="0">
                        <a:latin typeface="Times New Roman" pitchFamily="18" charset="0"/>
                        <a:ea typeface="Calibri"/>
                        <a:cs typeface="Times New Roman" pitchFamily="18" charset="0"/>
                      </a:endParaRPr>
                    </a:p>
                  </a:txBody>
                  <a:tcPr marL="68580" marR="68580" marT="0" marB="0"/>
                </a:tc>
              </a:tr>
              <a:tr h="638452">
                <a:tc>
                  <a:txBody>
                    <a:bodyPr/>
                    <a:lstStyle/>
                    <a:p>
                      <a:pPr>
                        <a:lnSpc>
                          <a:spcPct val="115000"/>
                        </a:lnSpc>
                        <a:spcAft>
                          <a:spcPts val="0"/>
                        </a:spcAft>
                      </a:pPr>
                      <a:r>
                        <a:rPr lang="en-IN" sz="1800" b="1" smtClean="0">
                          <a:latin typeface="Times New Roman" pitchFamily="18" charset="0"/>
                          <a:ea typeface="Calibri"/>
                          <a:cs typeface="Times New Roman" pitchFamily="18" charset="0"/>
                        </a:rPr>
                        <a:t>Project Guide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Dr.D.B.Choksi</a:t>
                      </a:r>
                      <a:endParaRPr lang="en-US" sz="1800" dirty="0">
                        <a:latin typeface="Times New Roman" pitchFamily="18" charset="0"/>
                        <a:ea typeface="Calibri"/>
                        <a:cs typeface="Times New Roman" pitchFamily="18" charset="0"/>
                      </a:endParaRPr>
                    </a:p>
                  </a:txBody>
                  <a:tcPr marL="68580" marR="68580" marT="0" marB="0"/>
                </a:tc>
              </a:tr>
            </a:tbl>
          </a:graphicData>
        </a:graphic>
      </p:graphicFrame>
      <p:sp>
        <p:nvSpPr>
          <p:cNvPr id="3" name="Title 2"/>
          <p:cNvSpPr>
            <a:spLocks noGrp="1"/>
          </p:cNvSpPr>
          <p:nvPr>
            <p:ph type="title"/>
          </p:nvPr>
        </p:nvSpPr>
        <p:spPr>
          <a:xfrm>
            <a:off x="1331640" y="-99392"/>
            <a:ext cx="5184576" cy="720080"/>
          </a:xfrm>
        </p:spPr>
        <p:txBody>
          <a:bodyPr>
            <a:normAutofit/>
          </a:bodyPr>
          <a:lstStyle/>
          <a:p>
            <a:pPr algn="ctr"/>
            <a:r>
              <a:rPr lang="en-IN" sz="4000" dirty="0" smtClean="0">
                <a:latin typeface="Times New Roman" pitchFamily="18" charset="0"/>
                <a:cs typeface="Times New Roman" pitchFamily="18" charset="0"/>
              </a:rPr>
              <a:t>Project Profile</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4704"/>
            <a:ext cx="8229600" cy="5242587"/>
          </a:xfrm>
        </p:spPr>
        <p:txBody>
          <a:bodyPr>
            <a:normAutofit fontScale="55000" lnSpcReduction="20000"/>
          </a:bodyPr>
          <a:lstStyle/>
          <a:p>
            <a:pPr>
              <a:buNone/>
            </a:pPr>
            <a:r>
              <a:rPr lang="en-US" sz="4000" b="1" dirty="0" smtClean="0">
                <a:latin typeface="Times New Roman" pitchFamily="18" charset="0"/>
                <a:cs typeface="Times New Roman" pitchFamily="18" charset="0"/>
              </a:rPr>
              <a:t>Hardware Configuration:</a:t>
            </a:r>
          </a:p>
          <a:p>
            <a:pPr lvl="0"/>
            <a:r>
              <a:rPr lang="en-US" sz="3200" dirty="0" smtClean="0">
                <a:latin typeface="Times New Roman" pitchFamily="18" charset="0"/>
                <a:cs typeface="Times New Roman" pitchFamily="18" charset="0"/>
              </a:rPr>
              <a:t>Processor</a:t>
            </a:r>
            <a:r>
              <a:rPr lang="en-US" sz="3200" b="1" dirty="0" smtClean="0">
                <a:latin typeface="Times New Roman" pitchFamily="18" charset="0"/>
                <a:cs typeface="Times New Roman" pitchFamily="18" charset="0"/>
              </a:rPr>
              <a:t>:</a:t>
            </a:r>
            <a:r>
              <a:rPr lang="en-US" sz="3200" dirty="0" smtClean="0">
                <a:latin typeface="Times New Roman" pitchFamily="18" charset="0"/>
                <a:cs typeface="Times New Roman" pitchFamily="18" charset="0"/>
              </a:rPr>
              <a:t> Intel Core </a:t>
            </a:r>
            <a:r>
              <a:rPr lang="en-US" sz="3200" dirty="0" smtClean="0">
                <a:latin typeface="Times New Roman" pitchFamily="18" charset="0"/>
                <a:cs typeface="Times New Roman" pitchFamily="18" charset="0"/>
              </a:rPr>
              <a:t>i3 or above</a:t>
            </a:r>
            <a:endParaRPr lang="en-US" sz="3200" dirty="0" smtClean="0">
              <a:latin typeface="Times New Roman" pitchFamily="18" charset="0"/>
              <a:cs typeface="Times New Roman" pitchFamily="18" charset="0"/>
            </a:endParaRPr>
          </a:p>
          <a:p>
            <a:pPr lvl="0"/>
            <a:r>
              <a:rPr lang="en-US" sz="3200" dirty="0" smtClean="0">
                <a:latin typeface="Times New Roman" pitchFamily="18" charset="0"/>
                <a:cs typeface="Times New Roman" pitchFamily="18" charset="0"/>
              </a:rPr>
              <a:t>RAM</a:t>
            </a:r>
            <a:r>
              <a:rPr lang="en-US" sz="3200" b="1" dirty="0" smtClean="0">
                <a:latin typeface="Times New Roman" pitchFamily="18" charset="0"/>
                <a:cs typeface="Times New Roman" pitchFamily="18" charset="0"/>
              </a:rPr>
              <a:t>:</a:t>
            </a:r>
            <a:r>
              <a:rPr lang="en-US"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4</a:t>
            </a:r>
            <a:r>
              <a:rPr lang="en-US" sz="3200" dirty="0" smtClean="0">
                <a:latin typeface="Times New Roman" pitchFamily="18" charset="0"/>
                <a:cs typeface="Times New Roman" pitchFamily="18" charset="0"/>
              </a:rPr>
              <a:t>GB or higher</a:t>
            </a:r>
            <a:endParaRPr lang="en-US" sz="3200" dirty="0" smtClean="0">
              <a:latin typeface="Times New Roman" pitchFamily="18" charset="0"/>
              <a:cs typeface="Times New Roman" pitchFamily="18" charset="0"/>
            </a:endParaRPr>
          </a:p>
          <a:p>
            <a:pPr lvl="0"/>
            <a:r>
              <a:rPr lang="en-US" sz="3200" dirty="0" smtClean="0">
                <a:latin typeface="Times New Roman" pitchFamily="18" charset="0"/>
                <a:cs typeface="Times New Roman" pitchFamily="18" charset="0"/>
              </a:rPr>
              <a:t>System Type</a:t>
            </a:r>
            <a:r>
              <a:rPr lang="en-US" sz="3200" b="1" dirty="0" smtClean="0">
                <a:latin typeface="Times New Roman" pitchFamily="18" charset="0"/>
                <a:cs typeface="Times New Roman" pitchFamily="18" charset="0"/>
              </a:rPr>
              <a:t>:</a:t>
            </a:r>
            <a:r>
              <a:rPr lang="en-US" sz="3200" dirty="0" smtClean="0">
                <a:latin typeface="Times New Roman" pitchFamily="18" charset="0"/>
                <a:cs typeface="Times New Roman" pitchFamily="18" charset="0"/>
              </a:rPr>
              <a:t> 64-bit Operating System</a:t>
            </a:r>
          </a:p>
          <a:p>
            <a:pPr lvl="0"/>
            <a:r>
              <a:rPr lang="en-US" sz="3200" dirty="0" smtClean="0">
                <a:latin typeface="Times New Roman" pitchFamily="18" charset="0"/>
                <a:cs typeface="Times New Roman" pitchFamily="18" charset="0"/>
              </a:rPr>
              <a:t>Input Devices</a:t>
            </a:r>
            <a:r>
              <a:rPr lang="en-US" sz="3200" b="1" dirty="0" smtClean="0">
                <a:latin typeface="Times New Roman" pitchFamily="18" charset="0"/>
                <a:cs typeface="Times New Roman" pitchFamily="18" charset="0"/>
              </a:rPr>
              <a:t>:</a:t>
            </a:r>
            <a:r>
              <a:rPr lang="en-US" sz="3200" dirty="0" smtClean="0">
                <a:latin typeface="Times New Roman" pitchFamily="18" charset="0"/>
                <a:cs typeface="Times New Roman" pitchFamily="18" charset="0"/>
              </a:rPr>
              <a:t> Keyboard, Mouse</a:t>
            </a:r>
          </a:p>
          <a:p>
            <a:pPr lvl="0"/>
            <a:r>
              <a:rPr lang="en-US" sz="3200" dirty="0" smtClean="0">
                <a:latin typeface="Times New Roman" pitchFamily="18" charset="0"/>
                <a:cs typeface="Times New Roman" pitchFamily="18" charset="0"/>
              </a:rPr>
              <a:t>System</a:t>
            </a:r>
            <a:r>
              <a:rPr lang="en-US" sz="3200" dirty="0" smtClean="0">
                <a:latin typeface="Times New Roman" pitchFamily="18" charset="0"/>
                <a:cs typeface="Times New Roman" pitchFamily="18" charset="0"/>
              </a:rPr>
              <a:t>: Laptop/Computer</a:t>
            </a:r>
          </a:p>
          <a:p>
            <a:pPr lvl="0"/>
            <a:r>
              <a:rPr lang="en-US" sz="3200" dirty="0" smtClean="0">
                <a:latin typeface="Times New Roman" pitchFamily="18" charset="0"/>
                <a:cs typeface="Times New Roman" pitchFamily="18" charset="0"/>
              </a:rPr>
              <a:t>Internet Connection</a:t>
            </a:r>
            <a:endParaRPr lang="en-US" sz="3200" dirty="0" smtClean="0">
              <a:latin typeface="Times New Roman" pitchFamily="18" charset="0"/>
              <a:cs typeface="Times New Roman" pitchFamily="18" charset="0"/>
            </a:endParaRPr>
          </a:p>
          <a:p>
            <a:pPr>
              <a:buNone/>
            </a:pPr>
            <a:endParaRPr lang="en-US" dirty="0" smtClean="0"/>
          </a:p>
          <a:p>
            <a:pPr>
              <a:buNone/>
            </a:pPr>
            <a:r>
              <a:rPr lang="en-US" sz="4000" b="1" dirty="0" smtClean="0">
                <a:latin typeface="Times New Roman" pitchFamily="18" charset="0"/>
                <a:cs typeface="Times New Roman" pitchFamily="18" charset="0"/>
              </a:rPr>
              <a:t>Software Configuration:</a:t>
            </a:r>
          </a:p>
          <a:p>
            <a:pPr lvl="0"/>
            <a:r>
              <a:rPr lang="en-US" sz="3600" dirty="0" smtClean="0">
                <a:latin typeface="Times New Roman" pitchFamily="18" charset="0"/>
                <a:cs typeface="Times New Roman" pitchFamily="18" charset="0"/>
              </a:rPr>
              <a:t>Operating System</a:t>
            </a:r>
            <a:r>
              <a:rPr lang="en-US" sz="3600" b="1" dirty="0" smtClean="0">
                <a:latin typeface="Times New Roman" pitchFamily="18" charset="0"/>
                <a:cs typeface="Times New Roman" pitchFamily="18" charset="0"/>
              </a:rPr>
              <a:t>:</a:t>
            </a:r>
            <a:r>
              <a:rPr lang="en-US" sz="3600" dirty="0" smtClean="0">
                <a:latin typeface="Times New Roman" pitchFamily="18" charset="0"/>
                <a:cs typeface="Times New Roman" pitchFamily="18" charset="0"/>
              </a:rPr>
              <a:t> Windows 11</a:t>
            </a:r>
          </a:p>
          <a:p>
            <a:pPr lvl="0"/>
            <a:r>
              <a:rPr lang="en-US" sz="3600" dirty="0" smtClean="0">
                <a:latin typeface="Times New Roman" pitchFamily="18" charset="0"/>
                <a:cs typeface="Times New Roman" pitchFamily="18" charset="0"/>
              </a:rPr>
              <a:t>Frontend</a:t>
            </a:r>
            <a:r>
              <a:rPr lang="en-US" sz="3600" b="1" dirty="0" smtClean="0">
                <a:latin typeface="Times New Roman" pitchFamily="18" charset="0"/>
                <a:cs typeface="Times New Roman" pitchFamily="18" charset="0"/>
              </a:rPr>
              <a:t>:</a:t>
            </a:r>
            <a:r>
              <a:rPr lang="en-US" sz="3600" dirty="0" smtClean="0">
                <a:latin typeface="Times New Roman" pitchFamily="18" charset="0"/>
                <a:cs typeface="Times New Roman" pitchFamily="18" charset="0"/>
              </a:rPr>
              <a:t> ReactJS</a:t>
            </a:r>
          </a:p>
          <a:p>
            <a:pPr lvl="0"/>
            <a:r>
              <a:rPr lang="en-US" sz="3600" dirty="0" smtClean="0">
                <a:latin typeface="Times New Roman" pitchFamily="18" charset="0"/>
                <a:cs typeface="Times New Roman" pitchFamily="18" charset="0"/>
              </a:rPr>
              <a:t>Backend</a:t>
            </a:r>
            <a:r>
              <a:rPr lang="en-US" sz="3600" b="1" dirty="0" smtClean="0">
                <a:latin typeface="Times New Roman" pitchFamily="18" charset="0"/>
                <a:cs typeface="Times New Roman" pitchFamily="18" charset="0"/>
              </a:rPr>
              <a:t>:</a:t>
            </a:r>
            <a:r>
              <a:rPr lang="en-US" sz="3600" dirty="0" smtClean="0">
                <a:latin typeface="Times New Roman" pitchFamily="18" charset="0"/>
                <a:cs typeface="Times New Roman" pitchFamily="18" charset="0"/>
              </a:rPr>
              <a:t> PHP</a:t>
            </a:r>
          </a:p>
          <a:p>
            <a:pPr lvl="0"/>
            <a:r>
              <a:rPr lang="en-US" sz="3600" dirty="0" smtClean="0">
                <a:latin typeface="Times New Roman" pitchFamily="18" charset="0"/>
                <a:cs typeface="Times New Roman" pitchFamily="18" charset="0"/>
              </a:rPr>
              <a:t>Database</a:t>
            </a:r>
            <a:r>
              <a:rPr lang="en-US" sz="3600" b="1" dirty="0" smtClean="0">
                <a:latin typeface="Times New Roman" pitchFamily="18" charset="0"/>
                <a:cs typeface="Times New Roman" pitchFamily="18" charset="0"/>
              </a:rPr>
              <a:t>:</a:t>
            </a:r>
            <a:r>
              <a:rPr lang="en-US" sz="3600" dirty="0" smtClean="0">
                <a:latin typeface="Times New Roman" pitchFamily="18" charset="0"/>
                <a:cs typeface="Times New Roman" pitchFamily="18" charset="0"/>
              </a:rPr>
              <a:t> MySQL</a:t>
            </a:r>
          </a:p>
          <a:p>
            <a:pPr lvl="0"/>
            <a:r>
              <a:rPr lang="en-US" sz="3600" dirty="0" smtClean="0">
                <a:latin typeface="Times New Roman" pitchFamily="18" charset="0"/>
                <a:cs typeface="Times New Roman" pitchFamily="18" charset="0"/>
              </a:rPr>
              <a:t>Server: </a:t>
            </a:r>
            <a:r>
              <a:rPr lang="en-US" sz="3600" dirty="0" smtClean="0">
                <a:latin typeface="Times New Roman" pitchFamily="18" charset="0"/>
                <a:cs typeface="Times New Roman" pitchFamily="18" charset="0"/>
              </a:rPr>
              <a:t>XAMPP,Localhost,Apache</a:t>
            </a:r>
          </a:p>
          <a:p>
            <a:pPr lvl="0"/>
            <a:r>
              <a:rPr lang="en-IN" sz="3600" dirty="0" smtClean="0">
                <a:latin typeface="Times New Roman" pitchFamily="18" charset="0"/>
                <a:cs typeface="Times New Roman" pitchFamily="18" charset="0"/>
              </a:rPr>
              <a:t>Code Editor: Visual Studio Code(VS Code)</a:t>
            </a:r>
            <a:endParaRPr lang="en-US" sz="3600" dirty="0" smtClean="0">
              <a:latin typeface="Times New Roman" pitchFamily="18" charset="0"/>
              <a:cs typeface="Times New Roman" pitchFamily="18" charset="0"/>
            </a:endParaRPr>
          </a:p>
          <a:p>
            <a:pPr lvl="0"/>
            <a:r>
              <a:rPr lang="en-US" sz="3600" dirty="0" smtClean="0">
                <a:latin typeface="Times New Roman" pitchFamily="18" charset="0"/>
                <a:cs typeface="Times New Roman" pitchFamily="18" charset="0"/>
              </a:rPr>
              <a:t>Browser</a:t>
            </a:r>
            <a:r>
              <a:rPr lang="en-US" sz="3600" b="1" dirty="0" smtClean="0">
                <a:latin typeface="Times New Roman" pitchFamily="18" charset="0"/>
                <a:cs typeface="Times New Roman" pitchFamily="18" charset="0"/>
              </a:rPr>
              <a:t>:</a:t>
            </a:r>
            <a:r>
              <a:rPr lang="en-US" sz="3600" dirty="0" smtClean="0">
                <a:latin typeface="Times New Roman" pitchFamily="18" charset="0"/>
                <a:cs typeface="Times New Roman" pitchFamily="18" charset="0"/>
              </a:rPr>
              <a:t> Google Chrome / Edge</a:t>
            </a:r>
          </a:p>
          <a:p>
            <a:pPr lvl="0"/>
            <a:r>
              <a:rPr lang="en-US" sz="3600" dirty="0" smtClean="0">
                <a:latin typeface="Times New Roman" pitchFamily="18" charset="0"/>
                <a:cs typeface="Times New Roman" pitchFamily="18" charset="0"/>
              </a:rPr>
              <a:t>Payment Gateway</a:t>
            </a:r>
            <a:r>
              <a:rPr lang="en-US" sz="3600" b="1" dirty="0" smtClean="0">
                <a:latin typeface="Times New Roman" pitchFamily="18" charset="0"/>
                <a:cs typeface="Times New Roman" pitchFamily="18" charset="0"/>
              </a:rPr>
              <a:t>:</a:t>
            </a:r>
            <a:r>
              <a:rPr lang="en-US" sz="3600" dirty="0" smtClean="0">
                <a:latin typeface="Times New Roman" pitchFamily="18" charset="0"/>
                <a:cs typeface="Times New Roman" pitchFamily="18" charset="0"/>
              </a:rPr>
              <a:t> Razorpay</a:t>
            </a:r>
          </a:p>
          <a:p>
            <a:pPr lvl="0"/>
            <a:r>
              <a:rPr lang="en-US" sz="3600" dirty="0" smtClean="0">
                <a:latin typeface="Times New Roman" pitchFamily="18" charset="0"/>
                <a:cs typeface="Times New Roman" pitchFamily="18" charset="0"/>
              </a:rPr>
              <a:t>Notification Service</a:t>
            </a:r>
            <a:r>
              <a:rPr lang="en-US" sz="3600" b="1" dirty="0" smtClean="0">
                <a:latin typeface="Times New Roman" pitchFamily="18" charset="0"/>
                <a:cs typeface="Times New Roman" pitchFamily="18" charset="0"/>
              </a:rPr>
              <a:t>:</a:t>
            </a:r>
            <a:r>
              <a:rPr lang="en-US" sz="3600" dirty="0" smtClean="0">
                <a:latin typeface="Times New Roman" pitchFamily="18" charset="0"/>
                <a:cs typeface="Times New Roman" pitchFamily="18" charset="0"/>
              </a:rPr>
              <a:t> Firebase Cloud Messaging (FCM)</a:t>
            </a:r>
          </a:p>
          <a:p>
            <a:endParaRPr lang="en-US" dirty="0"/>
          </a:p>
        </p:txBody>
      </p:sp>
      <p:sp>
        <p:nvSpPr>
          <p:cNvPr id="3" name="Title 2"/>
          <p:cNvSpPr>
            <a:spLocks noGrp="1"/>
          </p:cNvSpPr>
          <p:nvPr>
            <p:ph type="title"/>
          </p:nvPr>
        </p:nvSpPr>
        <p:spPr>
          <a:xfrm>
            <a:off x="0" y="0"/>
            <a:ext cx="9144000" cy="692696"/>
          </a:xfrm>
        </p:spPr>
        <p:txBody>
          <a:bodyPr>
            <a:noAutofit/>
          </a:bodyPr>
          <a:lstStyle/>
          <a:p>
            <a:pPr algn="ctr"/>
            <a:r>
              <a:rPr lang="en-IN" sz="4000" dirty="0" smtClean="0">
                <a:latin typeface="Times New Roman" pitchFamily="18" charset="0"/>
                <a:cs typeface="Times New Roman" pitchFamily="18" charset="0"/>
              </a:rPr>
              <a:t>Hardware and Software Configuration</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52736"/>
            <a:ext cx="8229600" cy="4954555"/>
          </a:xfrm>
        </p:spPr>
        <p:txBody>
          <a:bodyPr>
            <a:normAutofit/>
          </a:bodyPr>
          <a:lstStyle/>
          <a:p>
            <a:r>
              <a:rPr lang="en-US" sz="2000" dirty="0" smtClean="0">
                <a:latin typeface="Times New Roman" pitchFamily="18" charset="0"/>
                <a:cs typeface="Times New Roman" pitchFamily="18" charset="0"/>
              </a:rPr>
              <a:t>Role-based login (Admin, Organizer, Customer</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City-wise event </a:t>
            </a:r>
            <a:r>
              <a:rPr lang="en-US" sz="2000" dirty="0" smtClean="0">
                <a:latin typeface="Times New Roman" pitchFamily="18" charset="0"/>
                <a:cs typeface="Times New Roman" pitchFamily="18" charset="0"/>
              </a:rPr>
              <a:t>filtering.</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Event creation and approval </a:t>
            </a:r>
            <a:r>
              <a:rPr lang="en-US" sz="2000" dirty="0" smtClean="0">
                <a:latin typeface="Times New Roman" pitchFamily="18" charset="0"/>
                <a:cs typeface="Times New Roman" pitchFamily="18" charset="0"/>
              </a:rPr>
              <a:t>system.</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Secure user </a:t>
            </a:r>
            <a:r>
              <a:rPr lang="en-US" sz="2000" dirty="0" smtClean="0">
                <a:latin typeface="Times New Roman" pitchFamily="18" charset="0"/>
                <a:cs typeface="Times New Roman" pitchFamily="18" charset="0"/>
              </a:rPr>
              <a:t>authentication.</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Notification </a:t>
            </a:r>
            <a:r>
              <a:rPr lang="en-US" sz="2000" dirty="0" smtClean="0">
                <a:latin typeface="Times New Roman" pitchFamily="18" charset="0"/>
                <a:cs typeface="Times New Roman" pitchFamily="18" charset="0"/>
              </a:rPr>
              <a:t>system.</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Payment and ticket </a:t>
            </a:r>
            <a:r>
              <a:rPr lang="en-US" sz="2000" dirty="0" smtClean="0">
                <a:latin typeface="Times New Roman" pitchFamily="18" charset="0"/>
                <a:cs typeface="Times New Roman" pitchFamily="18" charset="0"/>
              </a:rPr>
              <a:t>generation.</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QR code ticket PDF ticket download </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Dashboard </a:t>
            </a:r>
            <a:r>
              <a:rPr lang="en-US" sz="2000" dirty="0" smtClean="0">
                <a:latin typeface="Times New Roman" pitchFamily="18" charset="0"/>
                <a:cs typeface="Times New Roman" pitchFamily="18" charset="0"/>
              </a:rPr>
              <a:t>for each </a:t>
            </a:r>
            <a:r>
              <a:rPr lang="en-US" sz="2000" dirty="0" smtClean="0">
                <a:latin typeface="Times New Roman" pitchFamily="18" charset="0"/>
                <a:cs typeface="Times New Roman" pitchFamily="18" charset="0"/>
              </a:rPr>
              <a:t>role.</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Contact and review system</a:t>
            </a:r>
            <a:endParaRPr lang="en-US" sz="2000" dirty="0">
              <a:latin typeface="Times New Roman" pitchFamily="18" charset="0"/>
              <a:cs typeface="Times New Roman" pitchFamily="18" charset="0"/>
            </a:endParaRPr>
          </a:p>
        </p:txBody>
      </p:sp>
      <p:sp>
        <p:nvSpPr>
          <p:cNvPr id="3" name="Title 2"/>
          <p:cNvSpPr>
            <a:spLocks noGrp="1"/>
          </p:cNvSpPr>
          <p:nvPr>
            <p:ph type="title"/>
          </p:nvPr>
        </p:nvSpPr>
        <p:spPr>
          <a:xfrm>
            <a:off x="467544" y="0"/>
            <a:ext cx="8229600" cy="1143000"/>
          </a:xfrm>
        </p:spPr>
        <p:txBody>
          <a:bodyPr>
            <a:normAutofit/>
          </a:bodyPr>
          <a:lstStyle/>
          <a:p>
            <a:pPr algn="ctr"/>
            <a:r>
              <a:rPr lang="en-IN" sz="4000" dirty="0" smtClean="0">
                <a:latin typeface="Times New Roman" pitchFamily="18" charset="0"/>
                <a:cs typeface="Times New Roman" pitchFamily="18" charset="0"/>
              </a:rPr>
              <a:t>Salient features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908720"/>
            <a:ext cx="8229600" cy="4954555"/>
          </a:xfrm>
        </p:spPr>
        <p:txBody>
          <a:bodyPr>
            <a:noAutofit/>
          </a:bodyPr>
          <a:lstStyle/>
          <a:p>
            <a:r>
              <a:rPr lang="en-US" sz="2000" dirty="0" smtClean="0">
                <a:latin typeface="Times New Roman" pitchFamily="18" charset="0"/>
                <a:cs typeface="Times New Roman" pitchFamily="18" charset="0"/>
              </a:rPr>
              <a:t>Event Management System is a web-based application to manage events digitally. </a:t>
            </a:r>
          </a:p>
          <a:p>
            <a:r>
              <a:rPr lang="en-US" sz="2000" dirty="0" smtClean="0">
                <a:latin typeface="Times New Roman" pitchFamily="18" charset="0"/>
                <a:cs typeface="Times New Roman" pitchFamily="18" charset="0"/>
              </a:rPr>
              <a:t>It helps organize seminars, workshops, conferences, and cultural programs easily. </a:t>
            </a:r>
          </a:p>
          <a:p>
            <a:r>
              <a:rPr lang="en-US" sz="2000" dirty="0" smtClean="0">
                <a:latin typeface="Times New Roman" pitchFamily="18" charset="0"/>
                <a:cs typeface="Times New Roman" pitchFamily="18" charset="0"/>
              </a:rPr>
              <a:t>The system reduces manual work like paper registration and ticket management. </a:t>
            </a:r>
          </a:p>
          <a:p>
            <a:r>
              <a:rPr lang="en-US" sz="2000" dirty="0" smtClean="0">
                <a:latin typeface="Times New Roman" pitchFamily="18" charset="0"/>
                <a:cs typeface="Times New Roman" pitchFamily="18" charset="0"/>
              </a:rPr>
              <a:t>It provides role-based access for Admin, Organizer, and Customer. </a:t>
            </a:r>
          </a:p>
          <a:p>
            <a:r>
              <a:rPr lang="en-US" sz="2000" dirty="0" smtClean="0">
                <a:latin typeface="Times New Roman" pitchFamily="18" charset="0"/>
                <a:cs typeface="Times New Roman" pitchFamily="18" charset="0"/>
              </a:rPr>
              <a:t>Organizers can create events and admin approves them. </a:t>
            </a:r>
          </a:p>
          <a:p>
            <a:r>
              <a:rPr lang="en-US" sz="2000" dirty="0" smtClean="0">
                <a:latin typeface="Times New Roman" pitchFamily="18" charset="0"/>
                <a:cs typeface="Times New Roman" pitchFamily="18" charset="0"/>
              </a:rPr>
              <a:t>Customers can search, register, and pay for events online. </a:t>
            </a:r>
          </a:p>
          <a:p>
            <a:r>
              <a:rPr lang="en-US" sz="2000" dirty="0" smtClean="0">
                <a:latin typeface="Times New Roman" pitchFamily="18" charset="0"/>
                <a:cs typeface="Times New Roman" pitchFamily="18" charset="0"/>
              </a:rPr>
              <a:t>System generates tickets with QR code and PDF download. </a:t>
            </a:r>
          </a:p>
          <a:p>
            <a:r>
              <a:rPr lang="en-US" sz="2000" dirty="0" smtClean="0">
                <a:latin typeface="Times New Roman" pitchFamily="18" charset="0"/>
                <a:cs typeface="Times New Roman" pitchFamily="18" charset="0"/>
              </a:rPr>
              <a:t>Notifications and city-wise event filtering improve user experience. </a:t>
            </a:r>
          </a:p>
          <a:p>
            <a:r>
              <a:rPr lang="en-US" sz="2000" dirty="0" smtClean="0">
                <a:latin typeface="Times New Roman" pitchFamily="18" charset="0"/>
                <a:cs typeface="Times New Roman" pitchFamily="18" charset="0"/>
              </a:rPr>
              <a:t>Built using React, PHP, and MySQL for secure and efficient management. </a:t>
            </a:r>
          </a:p>
          <a:p>
            <a:r>
              <a:rPr lang="en-US" sz="2000" dirty="0" smtClean="0">
                <a:latin typeface="Times New Roman" pitchFamily="18" charset="0"/>
                <a:cs typeface="Times New Roman" pitchFamily="18" charset="0"/>
              </a:rPr>
              <a:t>Overall, the system makes event management simple, fast, and organized. </a:t>
            </a:r>
            <a:endParaRPr lang="en-US" sz="2000" dirty="0">
              <a:latin typeface="Times New Roman" pitchFamily="18" charset="0"/>
              <a:cs typeface="Times New Roman" pitchFamily="18" charset="0"/>
            </a:endParaRPr>
          </a:p>
        </p:txBody>
      </p:sp>
      <p:sp>
        <p:nvSpPr>
          <p:cNvPr id="4" name="Title 3"/>
          <p:cNvSpPr>
            <a:spLocks noGrp="1"/>
          </p:cNvSpPr>
          <p:nvPr>
            <p:ph type="title"/>
          </p:nvPr>
        </p:nvSpPr>
        <p:spPr>
          <a:xfrm>
            <a:off x="467544" y="0"/>
            <a:ext cx="8229600" cy="764704"/>
          </a:xfrm>
        </p:spPr>
        <p:txBody>
          <a:bodyPr>
            <a:normAutofit/>
          </a:bodyPr>
          <a:lstStyle/>
          <a:p>
            <a:pPr algn="ctr"/>
            <a:r>
              <a:rPr lang="en-IN" sz="4000" dirty="0" smtClean="0">
                <a:latin typeface="Times New Roman" pitchFamily="18" charset="0"/>
                <a:cs typeface="Times New Roman" pitchFamily="18" charset="0"/>
              </a:rPr>
              <a:t>Introduction</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1"/>
            <a:ext cx="8229600" cy="5040559"/>
          </a:xfrm>
        </p:spPr>
        <p:txBody>
          <a:bodyPr>
            <a:normAutofit fontScale="85000" lnSpcReduction="10000"/>
          </a:bodyPr>
          <a:lstStyle/>
          <a:p>
            <a:r>
              <a:rPr lang="en-US" sz="2600" b="1" dirty="0" smtClean="0">
                <a:latin typeface="Times New Roman" pitchFamily="18" charset="0"/>
                <a:cs typeface="Times New Roman" pitchFamily="18" charset="0"/>
              </a:rPr>
              <a:t>Event Management System is divided into three main modules.</a:t>
            </a:r>
          </a:p>
          <a:p>
            <a:pPr lvl="1"/>
            <a:r>
              <a:rPr lang="en-US" sz="26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Admin Module manages and controls the entire system. </a:t>
            </a:r>
          </a:p>
          <a:p>
            <a:pPr lvl="1"/>
            <a:r>
              <a:rPr lang="en-US" sz="2400" dirty="0" smtClean="0">
                <a:latin typeface="Times New Roman" pitchFamily="18" charset="0"/>
                <a:cs typeface="Times New Roman" pitchFamily="18" charset="0"/>
              </a:rPr>
              <a:t>Organizer Module creates and manages events.</a:t>
            </a:r>
          </a:p>
          <a:p>
            <a:pPr lvl="1"/>
            <a:r>
              <a:rPr lang="en-US" sz="2400" dirty="0" smtClean="0">
                <a:latin typeface="Times New Roman" pitchFamily="18" charset="0"/>
                <a:cs typeface="Times New Roman" pitchFamily="18" charset="0"/>
              </a:rPr>
              <a:t> Customer Module allows users to browse and register for events.</a:t>
            </a:r>
          </a:p>
          <a:p>
            <a:pPr>
              <a:buNone/>
            </a:pPr>
            <a:r>
              <a:rPr lang="en-US" sz="3300" b="1" dirty="0" smtClean="0">
                <a:latin typeface="Times New Roman" pitchFamily="18" charset="0"/>
                <a:cs typeface="Times New Roman" pitchFamily="18" charset="0"/>
              </a:rPr>
              <a:t>Admin Module:</a:t>
            </a:r>
          </a:p>
          <a:p>
            <a:r>
              <a:rPr lang="en-US" sz="2400" dirty="0" smtClean="0">
                <a:latin typeface="Times New Roman" pitchFamily="18" charset="0"/>
                <a:cs typeface="Times New Roman" pitchFamily="18" charset="0"/>
              </a:rPr>
              <a:t>Admin manages categories like workshops, seminars, and conferences. </a:t>
            </a:r>
          </a:p>
          <a:p>
            <a:r>
              <a:rPr lang="en-US" sz="2400" dirty="0" smtClean="0">
                <a:latin typeface="Times New Roman" pitchFamily="18" charset="0"/>
                <a:cs typeface="Times New Roman" pitchFamily="18" charset="0"/>
              </a:rPr>
              <a:t>Approves or rejects events created by organizers. </a:t>
            </a:r>
          </a:p>
          <a:p>
            <a:r>
              <a:rPr lang="en-US" sz="2400" dirty="0" smtClean="0">
                <a:latin typeface="Times New Roman" pitchFamily="18" charset="0"/>
                <a:cs typeface="Times New Roman" pitchFamily="18" charset="0"/>
              </a:rPr>
              <a:t>Manages event registrations. </a:t>
            </a:r>
          </a:p>
          <a:p>
            <a:r>
              <a:rPr lang="en-US" sz="2400" dirty="0" smtClean="0">
                <a:latin typeface="Times New Roman" pitchFamily="18" charset="0"/>
                <a:cs typeface="Times New Roman" pitchFamily="18" charset="0"/>
              </a:rPr>
              <a:t>Views and manages all users. </a:t>
            </a:r>
          </a:p>
          <a:p>
            <a:r>
              <a:rPr lang="en-US" sz="2400" dirty="0" smtClean="0">
                <a:latin typeface="Times New Roman" pitchFamily="18" charset="0"/>
                <a:cs typeface="Times New Roman" pitchFamily="18" charset="0"/>
              </a:rPr>
              <a:t>Checks bookings and payment status. </a:t>
            </a:r>
          </a:p>
          <a:p>
            <a:r>
              <a:rPr lang="en-US" sz="2400" dirty="0" smtClean="0">
                <a:latin typeface="Times New Roman" pitchFamily="18" charset="0"/>
                <a:cs typeface="Times New Roman" pitchFamily="18" charset="0"/>
              </a:rPr>
              <a:t>Views user reviews and feedback. </a:t>
            </a:r>
          </a:p>
          <a:p>
            <a:r>
              <a:rPr lang="en-US" sz="2400" dirty="0" smtClean="0">
                <a:latin typeface="Times New Roman" pitchFamily="18" charset="0"/>
                <a:cs typeface="Times New Roman" pitchFamily="18" charset="0"/>
              </a:rPr>
              <a:t>Manages contact messages. </a:t>
            </a:r>
          </a:p>
          <a:p>
            <a:r>
              <a:rPr lang="en-US" sz="2400" dirty="0" smtClean="0">
                <a:latin typeface="Times New Roman" pitchFamily="18" charset="0"/>
                <a:cs typeface="Times New Roman" pitchFamily="18" charset="0"/>
              </a:rPr>
              <a:t>Receives notifications for events and registrations. </a:t>
            </a:r>
          </a:p>
          <a:p>
            <a:r>
              <a:rPr lang="en-US" sz="2400" dirty="0" smtClean="0">
                <a:latin typeface="Times New Roman" pitchFamily="18" charset="0"/>
                <a:cs typeface="Times New Roman" pitchFamily="18" charset="0"/>
              </a:rPr>
              <a:t>Ensures system security and smooth operation. </a:t>
            </a:r>
          </a:p>
          <a:p>
            <a:pPr lvl="1">
              <a:buNone/>
            </a:pPr>
            <a:endParaRPr lang="en-IN" sz="2000" dirty="0" smtClean="0">
              <a:latin typeface="Times New Roman" pitchFamily="18" charset="0"/>
              <a:cs typeface="Times New Roman" pitchFamily="18" charset="0"/>
            </a:endParaRPr>
          </a:p>
          <a:p>
            <a:pPr lvl="1"/>
            <a:endParaRPr lang="en-IN" sz="2000" dirty="0" smtClean="0">
              <a:latin typeface="Times New Roman" pitchFamily="18" charset="0"/>
              <a:cs typeface="Times New Roman" pitchFamily="18" charset="0"/>
            </a:endParaRPr>
          </a:p>
          <a:p>
            <a:pPr lvl="1"/>
            <a:endParaRPr lang="en-US" sz="2000" dirty="0">
              <a:latin typeface="Times New Roman" pitchFamily="18" charset="0"/>
              <a:cs typeface="Times New Roman" pitchFamily="18" charset="0"/>
            </a:endParaRPr>
          </a:p>
        </p:txBody>
      </p:sp>
      <p:sp>
        <p:nvSpPr>
          <p:cNvPr id="3" name="Title 2"/>
          <p:cNvSpPr>
            <a:spLocks noGrp="1"/>
          </p:cNvSpPr>
          <p:nvPr>
            <p:ph type="title"/>
          </p:nvPr>
        </p:nvSpPr>
        <p:spPr>
          <a:xfrm>
            <a:off x="539552" y="0"/>
            <a:ext cx="8229600" cy="850106"/>
          </a:xfrm>
        </p:spPr>
        <p:txBody>
          <a:bodyPr>
            <a:normAutofit/>
          </a:bodyPr>
          <a:lstStyle/>
          <a:p>
            <a:pPr algn="ctr"/>
            <a:r>
              <a:rPr lang="en-IN" sz="4000" dirty="0" smtClean="0">
                <a:latin typeface="Times New Roman" pitchFamily="18" charset="0"/>
                <a:cs typeface="Times New Roman" pitchFamily="18" charset="0"/>
              </a:rPr>
              <a:t>Modules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775245"/>
            <a:ext cx="8229600" cy="3589859"/>
          </a:xfrm>
        </p:spPr>
        <p:txBody>
          <a:bodyPr>
            <a:normAutofit fontScale="32500" lnSpcReduction="20000"/>
          </a:bodyPr>
          <a:lstStyle/>
          <a:p>
            <a:pPr>
              <a:buNone/>
            </a:pPr>
            <a:r>
              <a:rPr lang="en-US" sz="8600" b="1" dirty="0" smtClean="0">
                <a:latin typeface="Times New Roman" pitchFamily="18" charset="0"/>
                <a:cs typeface="Times New Roman" pitchFamily="18" charset="0"/>
              </a:rPr>
              <a:t>Organizer Module:</a:t>
            </a:r>
          </a:p>
          <a:p>
            <a:r>
              <a:rPr lang="en-US" sz="6200" dirty="0" smtClean="0">
                <a:latin typeface="Times New Roman" pitchFamily="18" charset="0"/>
                <a:cs typeface="Times New Roman" pitchFamily="18" charset="0"/>
              </a:rPr>
              <a:t>Organizer can create new events. </a:t>
            </a:r>
          </a:p>
          <a:p>
            <a:r>
              <a:rPr lang="en-US" sz="6200" dirty="0" smtClean="0">
                <a:latin typeface="Times New Roman" pitchFamily="18" charset="0"/>
                <a:cs typeface="Times New Roman" pitchFamily="18" charset="0"/>
              </a:rPr>
              <a:t>Enters event details like title, date, </a:t>
            </a:r>
            <a:r>
              <a:rPr lang="en-US" sz="6200" dirty="0" smtClean="0">
                <a:latin typeface="Times New Roman" pitchFamily="18" charset="0"/>
                <a:cs typeface="Times New Roman" pitchFamily="18" charset="0"/>
              </a:rPr>
              <a:t>venue, event type, </a:t>
            </a:r>
            <a:r>
              <a:rPr lang="en-US" sz="6200" dirty="0" err="1" smtClean="0">
                <a:latin typeface="Times New Roman" pitchFamily="18" charset="0"/>
                <a:cs typeface="Times New Roman" pitchFamily="18" charset="0"/>
              </a:rPr>
              <a:t>seats,price,etc</a:t>
            </a:r>
            <a:r>
              <a:rPr lang="en-US" sz="6200" dirty="0" smtClean="0">
                <a:latin typeface="Times New Roman" pitchFamily="18" charset="0"/>
                <a:cs typeface="Times New Roman" pitchFamily="18" charset="0"/>
              </a:rPr>
              <a:t>. </a:t>
            </a:r>
            <a:endParaRPr lang="en-US" sz="6200" dirty="0" smtClean="0">
              <a:latin typeface="Times New Roman" pitchFamily="18" charset="0"/>
              <a:cs typeface="Times New Roman" pitchFamily="18" charset="0"/>
            </a:endParaRPr>
          </a:p>
          <a:p>
            <a:r>
              <a:rPr lang="en-US" sz="6200" dirty="0" smtClean="0">
                <a:latin typeface="Times New Roman" pitchFamily="18" charset="0"/>
                <a:cs typeface="Times New Roman" pitchFamily="18" charset="0"/>
              </a:rPr>
              <a:t>Update events before admin approval. </a:t>
            </a:r>
          </a:p>
          <a:p>
            <a:r>
              <a:rPr lang="en-US" sz="6200" dirty="0" smtClean="0">
                <a:latin typeface="Times New Roman" pitchFamily="18" charset="0"/>
                <a:cs typeface="Times New Roman" pitchFamily="18" charset="0"/>
              </a:rPr>
              <a:t>Delete events before approval. </a:t>
            </a:r>
          </a:p>
          <a:p>
            <a:r>
              <a:rPr lang="en-US" sz="6200" dirty="0" smtClean="0">
                <a:latin typeface="Times New Roman" pitchFamily="18" charset="0"/>
                <a:cs typeface="Times New Roman" pitchFamily="18" charset="0"/>
              </a:rPr>
              <a:t>View all created events. </a:t>
            </a:r>
          </a:p>
          <a:p>
            <a:r>
              <a:rPr lang="en-US" sz="6200" dirty="0" smtClean="0">
                <a:latin typeface="Times New Roman" pitchFamily="18" charset="0"/>
                <a:cs typeface="Times New Roman" pitchFamily="18" charset="0"/>
              </a:rPr>
              <a:t>View event analytics. </a:t>
            </a:r>
          </a:p>
          <a:p>
            <a:r>
              <a:rPr lang="en-US" sz="6200" dirty="0" smtClean="0">
                <a:latin typeface="Times New Roman" pitchFamily="18" charset="0"/>
                <a:cs typeface="Times New Roman" pitchFamily="18" charset="0"/>
              </a:rPr>
              <a:t>View Total events and registered users. </a:t>
            </a:r>
          </a:p>
          <a:p>
            <a:r>
              <a:rPr lang="en-US" sz="6200" dirty="0" smtClean="0">
                <a:latin typeface="Times New Roman" pitchFamily="18" charset="0"/>
                <a:cs typeface="Times New Roman" pitchFamily="18" charset="0"/>
              </a:rPr>
              <a:t>Receives notifications for approval or rejection. </a:t>
            </a:r>
          </a:p>
          <a:p>
            <a:r>
              <a:rPr lang="en-US" sz="6200" dirty="0" smtClean="0">
                <a:latin typeface="Times New Roman" pitchFamily="18" charset="0"/>
                <a:cs typeface="Times New Roman" pitchFamily="18" charset="0"/>
              </a:rPr>
              <a:t>Organizer cannot modify event after admin approval. </a:t>
            </a:r>
          </a:p>
        </p:txBody>
      </p:sp>
      <p:sp>
        <p:nvSpPr>
          <p:cNvPr id="3" name="Title 2"/>
          <p:cNvSpPr>
            <a:spLocks noGrp="1"/>
          </p:cNvSpPr>
          <p:nvPr>
            <p:ph type="title"/>
          </p:nvPr>
        </p:nvSpPr>
        <p:spPr>
          <a:xfrm>
            <a:off x="467544" y="0"/>
            <a:ext cx="8229600" cy="778098"/>
          </a:xfrm>
        </p:spPr>
        <p:txBody>
          <a:bodyPr>
            <a:normAutofit/>
          </a:bodyPr>
          <a:lstStyle/>
          <a:p>
            <a:pPr algn="ctr"/>
            <a:r>
              <a:rPr lang="en-IN" sz="4000" dirty="0" smtClean="0">
                <a:latin typeface="Times New Roman" pitchFamily="18" charset="0"/>
                <a:cs typeface="Times New Roman" pitchFamily="18" charset="0"/>
              </a:rPr>
              <a:t>Modules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9552" y="1196752"/>
            <a:ext cx="8229600" cy="4525963"/>
          </a:xfrm>
        </p:spPr>
        <p:txBody>
          <a:bodyPr>
            <a:normAutofit/>
          </a:bodyPr>
          <a:lstStyle/>
          <a:p>
            <a:pPr>
              <a:buNone/>
            </a:pPr>
            <a:r>
              <a:rPr lang="en-US" sz="2800" b="1" dirty="0" smtClean="0">
                <a:latin typeface="Times New Roman" pitchFamily="18" charset="0"/>
                <a:cs typeface="Times New Roman" pitchFamily="18" charset="0"/>
              </a:rPr>
              <a:t>Customer Module:</a:t>
            </a:r>
          </a:p>
          <a:p>
            <a:r>
              <a:rPr lang="en-US" sz="2000" dirty="0" smtClean="0">
                <a:latin typeface="Times New Roman" pitchFamily="18" charset="0"/>
                <a:cs typeface="Times New Roman" pitchFamily="18" charset="0"/>
              </a:rPr>
              <a:t>Register and log in securely. </a:t>
            </a:r>
          </a:p>
          <a:p>
            <a:r>
              <a:rPr lang="en-US" sz="2000" dirty="0" smtClean="0">
                <a:latin typeface="Times New Roman" pitchFamily="18" charset="0"/>
                <a:cs typeface="Times New Roman" pitchFamily="18" charset="0"/>
              </a:rPr>
              <a:t>Browse upcoming and today’s events. </a:t>
            </a:r>
          </a:p>
          <a:p>
            <a:r>
              <a:rPr lang="en-US" sz="2000" dirty="0" smtClean="0">
                <a:latin typeface="Times New Roman" pitchFamily="18" charset="0"/>
                <a:cs typeface="Times New Roman" pitchFamily="18" charset="0"/>
              </a:rPr>
              <a:t>Filter events city-wise. </a:t>
            </a:r>
          </a:p>
          <a:p>
            <a:r>
              <a:rPr lang="en-US" sz="2000" dirty="0" smtClean="0">
                <a:latin typeface="Times New Roman" pitchFamily="18" charset="0"/>
                <a:cs typeface="Times New Roman" pitchFamily="18" charset="0"/>
              </a:rPr>
              <a:t>View full event details. </a:t>
            </a:r>
          </a:p>
          <a:p>
            <a:r>
              <a:rPr lang="en-US" sz="2000" dirty="0" smtClean="0">
                <a:latin typeface="Times New Roman" pitchFamily="18" charset="0"/>
                <a:cs typeface="Times New Roman" pitchFamily="18" charset="0"/>
              </a:rPr>
              <a:t>Register for events. </a:t>
            </a:r>
          </a:p>
          <a:p>
            <a:r>
              <a:rPr lang="en-US" sz="2000" dirty="0" smtClean="0">
                <a:latin typeface="Times New Roman" pitchFamily="18" charset="0"/>
                <a:cs typeface="Times New Roman" pitchFamily="18" charset="0"/>
              </a:rPr>
              <a:t>Users complete payment for paid events. </a:t>
            </a:r>
          </a:p>
          <a:p>
            <a:r>
              <a:rPr lang="en-US" sz="2000" dirty="0" smtClean="0">
                <a:latin typeface="Times New Roman" pitchFamily="18" charset="0"/>
                <a:cs typeface="Times New Roman" pitchFamily="18" charset="0"/>
              </a:rPr>
              <a:t>Ticket ID and QR code are generated. </a:t>
            </a:r>
          </a:p>
          <a:p>
            <a:r>
              <a:rPr lang="en-US" sz="2000" dirty="0" smtClean="0">
                <a:latin typeface="Times New Roman" pitchFamily="18" charset="0"/>
                <a:cs typeface="Times New Roman" pitchFamily="18" charset="0"/>
              </a:rPr>
              <a:t>Download PDF ticket. </a:t>
            </a:r>
          </a:p>
          <a:p>
            <a:r>
              <a:rPr lang="en-US" sz="2000" dirty="0" smtClean="0">
                <a:latin typeface="Times New Roman" pitchFamily="18" charset="0"/>
                <a:cs typeface="Times New Roman" pitchFamily="18" charset="0"/>
              </a:rPr>
              <a:t>View registered events in </a:t>
            </a:r>
            <a:r>
              <a:rPr lang="en-US" sz="2000" dirty="0" smtClean="0">
                <a:latin typeface="Times New Roman" pitchFamily="18" charset="0"/>
                <a:cs typeface="Times New Roman" pitchFamily="18" charset="0"/>
              </a:rPr>
              <a:t>dashboard.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Receive notifications for approvals and tickets. </a:t>
            </a:r>
          </a:p>
          <a:p>
            <a:endParaRPr lang="en-US" dirty="0"/>
          </a:p>
        </p:txBody>
      </p:sp>
      <p:sp>
        <p:nvSpPr>
          <p:cNvPr id="3" name="Title 2"/>
          <p:cNvSpPr>
            <a:spLocks noGrp="1"/>
          </p:cNvSpPr>
          <p:nvPr>
            <p:ph type="title"/>
          </p:nvPr>
        </p:nvSpPr>
        <p:spPr>
          <a:xfrm>
            <a:off x="457200" y="274638"/>
            <a:ext cx="8229600" cy="922114"/>
          </a:xfrm>
        </p:spPr>
        <p:txBody>
          <a:bodyPr/>
          <a:lstStyle/>
          <a:p>
            <a:pPr algn="ctr"/>
            <a:r>
              <a:rPr lang="en-IN" sz="4400" dirty="0" smtClean="0">
                <a:latin typeface="Times New Roman" pitchFamily="18" charset="0"/>
                <a:cs typeface="Times New Roman" pitchFamily="18" charset="0"/>
              </a:rPr>
              <a:t>Modules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75656" y="0"/>
            <a:ext cx="5328592" cy="720080"/>
          </a:xfrm>
        </p:spPr>
        <p:txBody>
          <a:bodyPr>
            <a:normAutofit/>
          </a:bodyPr>
          <a:lstStyle/>
          <a:p>
            <a:pPr algn="ctr"/>
            <a:r>
              <a:rPr lang="en-IN" sz="4000" dirty="0" smtClean="0">
                <a:latin typeface="Times New Roman" pitchFamily="18" charset="0"/>
                <a:cs typeface="Times New Roman" pitchFamily="18" charset="0"/>
              </a:rPr>
              <a:t>Data Flow Diagram</a:t>
            </a:r>
            <a:endParaRPr lang="en-US" sz="4000" dirty="0">
              <a:latin typeface="Times New Roman" pitchFamily="18" charset="0"/>
              <a:cs typeface="Times New Roman" pitchFamily="18" charset="0"/>
            </a:endParaRPr>
          </a:p>
        </p:txBody>
      </p:sp>
      <p:sp>
        <p:nvSpPr>
          <p:cNvPr id="7" name="Content Placeholder 6"/>
          <p:cNvSpPr>
            <a:spLocks noGrp="1"/>
          </p:cNvSpPr>
          <p:nvPr>
            <p:ph idx="1"/>
          </p:nvPr>
        </p:nvSpPr>
        <p:spPr>
          <a:xfrm>
            <a:off x="179512" y="836712"/>
            <a:ext cx="8964488" cy="4968551"/>
          </a:xfrm>
        </p:spPr>
        <p:txBody>
          <a:bodyPr/>
          <a:lstStyle/>
          <a:p>
            <a:r>
              <a:rPr lang="en-IN" sz="2800" b="1" dirty="0" smtClean="0">
                <a:latin typeface="Times New Roman" pitchFamily="18" charset="0"/>
                <a:cs typeface="Times New Roman" pitchFamily="18" charset="0"/>
              </a:rPr>
              <a:t>Context Level DFD</a:t>
            </a:r>
          </a:p>
          <a:p>
            <a:endParaRPr lang="en-IN" sz="2800" dirty="0" smtClean="0">
              <a:latin typeface="Times New Roman" pitchFamily="18" charset="0"/>
              <a:cs typeface="Times New Roman" pitchFamily="18" charset="0"/>
            </a:endParaRPr>
          </a:p>
          <a:p>
            <a:endParaRPr lang="en-US" dirty="0"/>
          </a:p>
        </p:txBody>
      </p:sp>
      <p:pic>
        <p:nvPicPr>
          <p:cNvPr id="9" name="Picture 8" descr="C:\Users\A\Pictures\Screenshots\context level (2).png"/>
          <p:cNvPicPr/>
          <p:nvPr/>
        </p:nvPicPr>
        <p:blipFill>
          <a:blip r:embed="rId2" cstate="print"/>
          <a:srcRect/>
          <a:stretch>
            <a:fillRect/>
          </a:stretch>
        </p:blipFill>
        <p:spPr bwMode="auto">
          <a:xfrm>
            <a:off x="395536" y="1373192"/>
            <a:ext cx="8496944" cy="44320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0"/>
            <a:ext cx="8712968" cy="6858000"/>
          </a:xfrm>
        </p:spPr>
        <p:txBody>
          <a:bodyPr>
            <a:normAutofit/>
          </a:bodyPr>
          <a:lstStyle/>
          <a:p>
            <a:r>
              <a:rPr lang="en-IN" sz="2800" b="1" dirty="0" smtClean="0">
                <a:latin typeface="Times New Roman" pitchFamily="18" charset="0"/>
                <a:cs typeface="Times New Roman" pitchFamily="18" charset="0"/>
              </a:rPr>
              <a:t>First Level DFD of users</a:t>
            </a:r>
            <a:endParaRPr lang="en-US" sz="2800" b="1" dirty="0">
              <a:latin typeface="Times New Roman" pitchFamily="18" charset="0"/>
              <a:cs typeface="Times New Roman" pitchFamily="18" charset="0"/>
            </a:endParaRPr>
          </a:p>
        </p:txBody>
      </p:sp>
      <p:pic>
        <p:nvPicPr>
          <p:cNvPr id="5" name="Picture 4" descr="C:\Users\A\Pictures\Screenshots\level 1 dfd users.png"/>
          <p:cNvPicPr/>
          <p:nvPr/>
        </p:nvPicPr>
        <p:blipFill>
          <a:blip r:embed="rId2" cstate="print"/>
          <a:srcRect/>
          <a:stretch>
            <a:fillRect/>
          </a:stretch>
        </p:blipFill>
        <p:spPr bwMode="auto">
          <a:xfrm>
            <a:off x="0" y="476672"/>
            <a:ext cx="8892480" cy="63813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a:spLocks noGrp="1"/>
          </p:cNvSpPr>
          <p:nvPr>
            <p:ph idx="1"/>
          </p:nvPr>
        </p:nvSpPr>
        <p:spPr>
          <a:xfrm>
            <a:off x="0" y="0"/>
            <a:ext cx="9144000" cy="7101408"/>
          </a:xfrm>
        </p:spPr>
        <p:txBody>
          <a:bodyPr>
            <a:normAutofit/>
          </a:bodyPr>
          <a:lstStyle/>
          <a:p>
            <a:r>
              <a:rPr lang="en-IN" sz="2800" b="1" dirty="0" smtClean="0">
                <a:latin typeface="Times New Roman" pitchFamily="18" charset="0"/>
                <a:cs typeface="Times New Roman" pitchFamily="18" charset="0"/>
              </a:rPr>
              <a:t>First Level DFD of admin</a:t>
            </a:r>
          </a:p>
          <a:p>
            <a:endParaRPr lang="en-US" sz="2800" b="1" dirty="0">
              <a:latin typeface="Times New Roman" pitchFamily="18" charset="0"/>
              <a:cs typeface="Times New Roman" pitchFamily="18" charset="0"/>
            </a:endParaRPr>
          </a:p>
        </p:txBody>
      </p:sp>
      <p:pic>
        <p:nvPicPr>
          <p:cNvPr id="4" name="Picture 3" descr="C:\Users\A\Pictures\Screenshots\level 1 dfd admin (2).png"/>
          <p:cNvPicPr/>
          <p:nvPr/>
        </p:nvPicPr>
        <p:blipFill>
          <a:blip r:embed="rId2" cstate="print"/>
          <a:srcRect/>
          <a:stretch>
            <a:fillRect/>
          </a:stretch>
        </p:blipFill>
        <p:spPr bwMode="auto">
          <a:xfrm>
            <a:off x="0" y="476672"/>
            <a:ext cx="8964487" cy="63813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First Level DFD of organizers</a:t>
            </a:r>
          </a:p>
          <a:p>
            <a:endParaRPr lang="en-IN" sz="2800" b="1" dirty="0" smtClean="0">
              <a:latin typeface="Times New Roman" pitchFamily="18" charset="0"/>
              <a:cs typeface="Times New Roman" pitchFamily="18" charset="0"/>
            </a:endParaRPr>
          </a:p>
          <a:p>
            <a:endParaRPr lang="en-US" sz="2800" b="1" dirty="0">
              <a:latin typeface="Times New Roman" pitchFamily="18" charset="0"/>
              <a:cs typeface="Times New Roman" pitchFamily="18" charset="0"/>
            </a:endParaRPr>
          </a:p>
        </p:txBody>
      </p:sp>
      <p:pic>
        <p:nvPicPr>
          <p:cNvPr id="5" name="Picture 4" descr="C:\Users\A\Pictures\Screenshots\level1 dfd organizer.png"/>
          <p:cNvPicPr/>
          <p:nvPr/>
        </p:nvPicPr>
        <p:blipFill>
          <a:blip r:embed="rId2" cstate="print"/>
          <a:srcRect/>
          <a:stretch>
            <a:fillRect/>
          </a:stretch>
        </p:blipFill>
        <p:spPr bwMode="auto">
          <a:xfrm>
            <a:off x="0" y="476672"/>
            <a:ext cx="9144000" cy="63813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800" b="1" dirty="0" smtClean="0">
                <a:latin typeface="Times New Roman" pitchFamily="18" charset="0"/>
                <a:cs typeface="Times New Roman" pitchFamily="18" charset="0"/>
              </a:rPr>
              <a:t>Second Level DFD of Admin</a:t>
            </a:r>
          </a:p>
          <a:p>
            <a:endParaRPr lang="en-US" dirty="0"/>
          </a:p>
        </p:txBody>
      </p:sp>
      <p:pic>
        <p:nvPicPr>
          <p:cNvPr id="4" name="Picture 3" descr="C:\Users\A\Pictures\Screenshots\level 2 dfd manage users.png"/>
          <p:cNvPicPr/>
          <p:nvPr/>
        </p:nvPicPr>
        <p:blipFill>
          <a:blip r:embed="rId2" cstate="print"/>
          <a:srcRect/>
          <a:stretch>
            <a:fillRect/>
          </a:stretch>
        </p:blipFill>
        <p:spPr bwMode="auto">
          <a:xfrm>
            <a:off x="0" y="491852"/>
            <a:ext cx="9144000" cy="63661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400" b="1" dirty="0" smtClean="0">
                <a:latin typeface="Times New Roman" pitchFamily="18" charset="0"/>
                <a:cs typeface="Times New Roman" pitchFamily="18" charset="0"/>
              </a:rPr>
              <a:t>Second Level DFD of Admin</a:t>
            </a:r>
          </a:p>
          <a:p>
            <a:endParaRPr lang="en-US" dirty="0"/>
          </a:p>
        </p:txBody>
      </p:sp>
      <p:pic>
        <p:nvPicPr>
          <p:cNvPr id="5" name="Picture 4" descr="H:\Internship_MCA_Report\screenshots\level 2 dfd manage events.png"/>
          <p:cNvPicPr/>
          <p:nvPr/>
        </p:nvPicPr>
        <p:blipFill>
          <a:blip r:embed="rId2" cstate="print"/>
          <a:srcRect/>
          <a:stretch>
            <a:fillRect/>
          </a:stretch>
        </p:blipFill>
        <p:spPr bwMode="auto">
          <a:xfrm>
            <a:off x="0" y="404664"/>
            <a:ext cx="9144000" cy="51845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620688"/>
            <a:ext cx="8892480" cy="6237312"/>
          </a:xfrm>
        </p:spPr>
        <p:txBody>
          <a:bodyPr/>
          <a:lstStyle/>
          <a:p>
            <a:r>
              <a:rPr lang="en-IN" sz="2800" b="1" dirty="0" smtClean="0">
                <a:latin typeface="Times New Roman" pitchFamily="18" charset="0"/>
                <a:cs typeface="Times New Roman" pitchFamily="18" charset="0"/>
              </a:rPr>
              <a:t>Use Case Diagram of User</a:t>
            </a:r>
          </a:p>
          <a:p>
            <a:endParaRPr lang="en-IN" dirty="0" smtClean="0"/>
          </a:p>
          <a:p>
            <a:endParaRPr lang="en-US" dirty="0"/>
          </a:p>
        </p:txBody>
      </p:sp>
      <p:sp>
        <p:nvSpPr>
          <p:cNvPr id="3" name="Title 2"/>
          <p:cNvSpPr>
            <a:spLocks noGrp="1"/>
          </p:cNvSpPr>
          <p:nvPr>
            <p:ph type="title"/>
          </p:nvPr>
        </p:nvSpPr>
        <p:spPr>
          <a:xfrm>
            <a:off x="323528" y="0"/>
            <a:ext cx="8229600" cy="576064"/>
          </a:xfrm>
        </p:spPr>
        <p:txBody>
          <a:bodyPr>
            <a:normAutofit fontScale="90000"/>
          </a:bodyPr>
          <a:lstStyle/>
          <a:p>
            <a:pPr algn="ctr"/>
            <a:r>
              <a:rPr lang="en-IN" dirty="0" smtClean="0">
                <a:latin typeface="Times New Roman" pitchFamily="18" charset="0"/>
                <a:cs typeface="Times New Roman" pitchFamily="18" charset="0"/>
              </a:rPr>
              <a:t>Use </a:t>
            </a:r>
            <a:r>
              <a:rPr lang="en-IN" sz="4000" dirty="0" smtClean="0">
                <a:latin typeface="Times New Roman" pitchFamily="18" charset="0"/>
                <a:cs typeface="Times New Roman" pitchFamily="18" charset="0"/>
              </a:rPr>
              <a:t>Case</a:t>
            </a:r>
            <a:r>
              <a:rPr lang="en-IN" dirty="0" smtClean="0">
                <a:latin typeface="Times New Roman" pitchFamily="18" charset="0"/>
                <a:cs typeface="Times New Roman" pitchFamily="18" charset="0"/>
              </a:rPr>
              <a:t> Diagram</a:t>
            </a:r>
            <a:endParaRPr lang="en-US" dirty="0">
              <a:latin typeface="Times New Roman" pitchFamily="18" charset="0"/>
              <a:cs typeface="Times New Roman" pitchFamily="18" charset="0"/>
            </a:endParaRPr>
          </a:p>
        </p:txBody>
      </p:sp>
      <p:pic>
        <p:nvPicPr>
          <p:cNvPr id="1028" name="Picture 4" descr="C:\Users\A\Pictures\Screenshots\UseCase of users.png"/>
          <p:cNvPicPr>
            <a:picLocks noChangeAspect="1" noChangeArrowheads="1"/>
          </p:cNvPicPr>
          <p:nvPr/>
        </p:nvPicPr>
        <p:blipFill>
          <a:blip r:embed="rId2" cstate="print"/>
          <a:srcRect/>
          <a:stretch>
            <a:fillRect/>
          </a:stretch>
        </p:blipFill>
        <p:spPr bwMode="auto">
          <a:xfrm>
            <a:off x="0" y="1196752"/>
            <a:ext cx="8820472" cy="5661248"/>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528" y="0"/>
            <a:ext cx="8229600" cy="706090"/>
          </a:xfrm>
        </p:spPr>
        <p:txBody>
          <a:bodyPr>
            <a:normAutofit/>
          </a:bodyPr>
          <a:lstStyle/>
          <a:p>
            <a:pPr algn="ctr"/>
            <a:r>
              <a:rPr lang="en-IN" sz="3100" dirty="0" smtClean="0">
                <a:latin typeface="Times New Roman" pitchFamily="18" charset="0"/>
                <a:cs typeface="Times New Roman" pitchFamily="18" charset="0"/>
              </a:rPr>
              <a:t>Use Case Diagram of </a:t>
            </a:r>
            <a:r>
              <a:rPr lang="en-IN" sz="3100" dirty="0" smtClean="0">
                <a:latin typeface="Times New Roman" pitchFamily="18" charset="0"/>
                <a:cs typeface="Times New Roman" pitchFamily="18" charset="0"/>
              </a:rPr>
              <a:t>Organizer</a:t>
            </a:r>
            <a:endParaRPr lang="en-US" dirty="0"/>
          </a:p>
        </p:txBody>
      </p:sp>
      <p:pic>
        <p:nvPicPr>
          <p:cNvPr id="2051" name="Picture 3" descr="C:\Users\A\Pictures\Screenshots\UseCase of Organizer.png"/>
          <p:cNvPicPr>
            <a:picLocks noGrp="1" noChangeAspect="1" noChangeArrowheads="1"/>
          </p:cNvPicPr>
          <p:nvPr>
            <p:ph idx="1"/>
          </p:nvPr>
        </p:nvPicPr>
        <p:blipFill>
          <a:blip r:embed="rId2" cstate="print"/>
          <a:srcRect/>
          <a:stretch>
            <a:fillRect/>
          </a:stretch>
        </p:blipFill>
        <p:spPr bwMode="auto">
          <a:xfrm>
            <a:off x="0" y="548680"/>
            <a:ext cx="9144000" cy="630932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528" y="0"/>
            <a:ext cx="8229600" cy="648072"/>
          </a:xfrm>
        </p:spPr>
        <p:txBody>
          <a:bodyPr>
            <a:normAutofit/>
          </a:bodyPr>
          <a:lstStyle/>
          <a:p>
            <a:pPr algn="ctr"/>
            <a:r>
              <a:rPr lang="en-IN" sz="2800" dirty="0" smtClean="0">
                <a:latin typeface="Times New Roman" pitchFamily="18" charset="0"/>
                <a:cs typeface="Times New Roman" pitchFamily="18" charset="0"/>
              </a:rPr>
              <a:t>Use Case Diagram of </a:t>
            </a:r>
            <a:r>
              <a:rPr lang="en-IN" sz="2800" dirty="0" smtClean="0">
                <a:latin typeface="Times New Roman" pitchFamily="18" charset="0"/>
                <a:cs typeface="Times New Roman" pitchFamily="18" charset="0"/>
              </a:rPr>
              <a:t>Admin</a:t>
            </a:r>
            <a:endParaRPr lang="en-US" sz="2800" dirty="0"/>
          </a:p>
        </p:txBody>
      </p:sp>
      <p:pic>
        <p:nvPicPr>
          <p:cNvPr id="3074" name="Picture 2" descr="C:\Users\A\Pictures\Screenshots\UseCase of Admin.png"/>
          <p:cNvPicPr>
            <a:picLocks noGrp="1" noChangeAspect="1" noChangeArrowheads="1"/>
          </p:cNvPicPr>
          <p:nvPr>
            <p:ph idx="1"/>
          </p:nvPr>
        </p:nvPicPr>
        <p:blipFill>
          <a:blip r:embed="rId2" cstate="print"/>
          <a:srcRect/>
          <a:stretch>
            <a:fillRect/>
          </a:stretch>
        </p:blipFill>
        <p:spPr bwMode="auto">
          <a:xfrm>
            <a:off x="0" y="548680"/>
            <a:ext cx="9144000" cy="6309319"/>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1"/>
            <a:ext cx="7772400" cy="1124744"/>
          </a:xfrm>
        </p:spPr>
        <p:txBody>
          <a:bodyPr>
            <a:normAutofit/>
          </a:bodyPr>
          <a:lstStyle/>
          <a:p>
            <a:pPr algn="ctr"/>
            <a:r>
              <a:rPr lang="en-IN" sz="4000" b="1" dirty="0" smtClean="0">
                <a:latin typeface="Times New Roman" pitchFamily="18" charset="0"/>
                <a:cs typeface="Times New Roman" pitchFamily="18" charset="0"/>
              </a:rPr>
              <a:t>Data Dictionary</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23528" y="1196752"/>
            <a:ext cx="8496944" cy="3312368"/>
          </a:xfrm>
        </p:spPr>
        <p:txBody>
          <a:bodyPr>
            <a:normAutofit/>
          </a:bodyPr>
          <a:lstStyle/>
          <a:p>
            <a:pPr algn="l"/>
            <a:r>
              <a:rPr lang="en-US" sz="2400" dirty="0" smtClean="0">
                <a:latin typeface="Times New Roman" pitchFamily="18" charset="0"/>
                <a:cs typeface="Times New Roman" pitchFamily="18" charset="0"/>
              </a:rPr>
              <a:t>Data dictionary is used to describe database tables and fields. It shows field name, data type, size, and constraints. It helps to understand how data is stored in the Event Management System database.</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51520" y="908720"/>
          <a:ext cx="8229600" cy="4912868"/>
        </p:xfrm>
        <a:graphic>
          <a:graphicData uri="http://schemas.openxmlformats.org/drawingml/2006/table">
            <a:tbl>
              <a:tblPr firstRow="1" bandRow="1">
                <a:tableStyleId>{C083E6E3-FA7D-4D7B-A595-EF9225AFEA82}</a:tableStyleId>
              </a:tblPr>
              <a:tblGrid>
                <a:gridCol w="1371600"/>
                <a:gridCol w="1371600"/>
                <a:gridCol w="1371600"/>
                <a:gridCol w="1371600"/>
                <a:gridCol w="1371600"/>
                <a:gridCol w="1371600"/>
              </a:tblGrid>
              <a:tr h="370840">
                <a:tc>
                  <a:txBody>
                    <a:bodyPr/>
                    <a:lstStyle/>
                    <a:p>
                      <a:pPr algn="ctr">
                        <a:lnSpc>
                          <a:spcPct val="115000"/>
                        </a:lnSpc>
                        <a:spcAft>
                          <a:spcPts val="0"/>
                        </a:spcAft>
                      </a:pPr>
                      <a:r>
                        <a:rPr lang="en-IN" sz="1400" dirty="0">
                          <a:latin typeface="Times New Roman" pitchFamily="18" charset="0"/>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a:t>
                      </a:r>
                      <a:r>
                        <a:rPr lang="en-IN" sz="1400" dirty="0" smtClean="0">
                          <a:latin typeface="Times New Roman" pitchFamily="18" charset="0"/>
                          <a:cs typeface="Times New Roman" pitchFamily="18" charset="0"/>
                        </a:rPr>
                        <a:t>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PK,Auto_Increment,Not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Unique User identifier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cs typeface="Times New Roman" pitchFamily="18" charset="0"/>
                        </a:rPr>
                        <a:t>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Full name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a:t>
                      </a:r>
                      <a:r>
                        <a:rPr lang="en-IN" sz="1400" dirty="0" smtClean="0">
                          <a:latin typeface="Times New Roman" pitchFamily="18" charset="0"/>
                          <a:cs typeface="Times New Roman" pitchFamily="18" charset="0"/>
                        </a:rPr>
                        <a:t>mail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Email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a:t>
                      </a:r>
                      <a:r>
                        <a:rPr lang="en-IN" sz="1400" dirty="0" smtClean="0">
                          <a:latin typeface="Times New Roman" pitchFamily="18" charset="0"/>
                          <a:cs typeface="Times New Roman" pitchFamily="18" charset="0"/>
                        </a:rPr>
                        <a:t>hone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Number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20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Phone  number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a:t>
                      </a:r>
                      <a:r>
                        <a:rPr lang="en-IN" sz="1400" dirty="0" smtClean="0">
                          <a:latin typeface="Times New Roman" pitchFamily="18" charset="0"/>
                          <a:cs typeface="Times New Roman" pitchFamily="18" charset="0"/>
                        </a:rPr>
                        <a:t>assword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Encrypted user password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r</a:t>
                      </a:r>
                      <a:r>
                        <a:rPr lang="en-IN" sz="1400" dirty="0" smtClean="0">
                          <a:latin typeface="Times New Roman" pitchFamily="18" charset="0"/>
                          <a:cs typeface="Times New Roman" pitchFamily="18" charset="0"/>
                        </a:rPr>
                        <a:t>ole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customer, organizer</a:t>
                      </a:r>
                      <a:endParaRPr lang="en-US" sz="1400" dirty="0">
                        <a:latin typeface="Times New Roman" pitchFamily="18" charset="0"/>
                        <a:cs typeface="Times New Roman" pitchFamily="18" charset="0"/>
                      </a:endParaRPr>
                    </a:p>
                    <a:p>
                      <a:pPr>
                        <a:lnSpc>
                          <a:spcPct val="115000"/>
                        </a:lnSpc>
                        <a:spcAft>
                          <a:spcPts val="0"/>
                        </a:spcAft>
                      </a:pPr>
                      <a:r>
                        <a:rPr lang="en-IN" sz="1400" dirty="0">
                          <a:latin typeface="Times New Roman" pitchFamily="18" charset="0"/>
                          <a:cs typeface="Times New Roman" pitchFamily="18" charset="0"/>
                        </a:rPr>
                        <a:t>,admin</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 Default ‘customer’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Role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7</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s</a:t>
                      </a:r>
                      <a:r>
                        <a:rPr lang="en-IN" sz="1400" dirty="0" smtClean="0">
                          <a:latin typeface="Times New Roman" pitchFamily="18" charset="0"/>
                          <a:cs typeface="Times New Roman" pitchFamily="18" charset="0"/>
                        </a:rPr>
                        <a:t>tatus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Active, blocked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 Default ‘active’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Account status</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8</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 ,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Account creation date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625136" cy="764704"/>
          </a:xfrm>
        </p:spPr>
        <p:txBody>
          <a:bodyPr>
            <a:normAutofit/>
          </a:bodyPr>
          <a:lstStyle/>
          <a:p>
            <a:pPr algn="l"/>
            <a:r>
              <a:rPr lang="en-IN" sz="2000" b="1" dirty="0" smtClean="0">
                <a:latin typeface="Times New Roman" pitchFamily="18" charset="0"/>
                <a:cs typeface="Times New Roman" pitchFamily="18" charset="0"/>
              </a:rPr>
              <a:t>Table 1: users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information about users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4" y="692695"/>
          <a:ext cx="8784972" cy="1728193"/>
        </p:xfrm>
        <a:graphic>
          <a:graphicData uri="http://schemas.openxmlformats.org/drawingml/2006/table">
            <a:tbl>
              <a:tblPr firstRow="1" bandRow="1">
                <a:tableStyleId>{C083E6E3-FA7D-4D7B-A595-EF9225AFEA82}</a:tableStyleId>
              </a:tblPr>
              <a:tblGrid>
                <a:gridCol w="1464162"/>
                <a:gridCol w="1464162"/>
                <a:gridCol w="1464162"/>
                <a:gridCol w="1464162"/>
                <a:gridCol w="1464162"/>
                <a:gridCol w="1464162"/>
              </a:tblGrid>
              <a:tr h="432049">
                <a:tc>
                  <a:txBody>
                    <a:bodyPr/>
                    <a:lstStyle/>
                    <a:p>
                      <a:pPr algn="ctr">
                        <a:lnSpc>
                          <a:spcPct val="115000"/>
                        </a:lnSpc>
                        <a:spcAft>
                          <a:spcPts val="0"/>
                        </a:spcAft>
                      </a:pPr>
                      <a:r>
                        <a:rPr lang="en-IN" sz="1400" dirty="0">
                          <a:latin typeface="Times New Roman" pitchFamily="18" charset="0"/>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648072">
                <a:tc>
                  <a:txBody>
                    <a:bodyPr/>
                    <a:lstStyle/>
                    <a:p>
                      <a:pPr>
                        <a:lnSpc>
                          <a:spcPct val="115000"/>
                        </a:lnSpc>
                        <a:spcAft>
                          <a:spcPts val="0"/>
                        </a:spcAft>
                      </a:pPr>
                      <a:r>
                        <a:rPr lang="en-IN" sz="1400" dirty="0">
                          <a:latin typeface="Times New Roman" pitchFamily="18" charset="0"/>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a:t>
                      </a:r>
                      <a:r>
                        <a:rPr lang="en-IN" sz="1400" dirty="0" smtClean="0">
                          <a:latin typeface="Times New Roman" pitchFamily="18" charset="0"/>
                          <a:cs typeface="Times New Roman" pitchFamily="18" charset="0"/>
                        </a:rPr>
                        <a:t>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PK,Auto_Increment,Not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Unique category identifier</a:t>
                      </a:r>
                      <a:endParaRPr lang="en-US" sz="1400" dirty="0">
                        <a:latin typeface="Times New Roman" pitchFamily="18" charset="0"/>
                        <a:ea typeface="Calibri"/>
                        <a:cs typeface="Times New Roman" pitchFamily="18" charset="0"/>
                      </a:endParaRPr>
                    </a:p>
                  </a:txBody>
                  <a:tcPr marL="68580" marR="68580" marT="0" marB="0"/>
                </a:tc>
              </a:tr>
              <a:tr h="648072">
                <a:tc>
                  <a:txBody>
                    <a:bodyPr/>
                    <a:lstStyle/>
                    <a:p>
                      <a:pPr>
                        <a:lnSpc>
                          <a:spcPct val="115000"/>
                        </a:lnSpc>
                        <a:spcAft>
                          <a:spcPts val="0"/>
                        </a:spcAft>
                      </a:pPr>
                      <a:r>
                        <a:rPr lang="en-IN" sz="1400" dirty="0">
                          <a:latin typeface="Times New Roman" pitchFamily="18" charset="0"/>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category_name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Name of event category</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06698"/>
          </a:xfrm>
        </p:spPr>
        <p:txBody>
          <a:bodyPr>
            <a:noAutofit/>
          </a:bodyPr>
          <a:lstStyle/>
          <a:p>
            <a:pPr algn="l"/>
            <a:r>
              <a:rPr lang="en-IN" sz="2000" b="1" dirty="0" smtClean="0">
                <a:latin typeface="Times New Roman" pitchFamily="18" charset="0"/>
                <a:cs typeface="Times New Roman" pitchFamily="18" charset="0"/>
              </a:rPr>
              <a:t>Table 2: categories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event categories</a:t>
            </a:r>
            <a:endParaRPr 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2008" y="620688"/>
          <a:ext cx="8892480" cy="6256368"/>
        </p:xfrm>
        <a:graphic>
          <a:graphicData uri="http://schemas.openxmlformats.org/drawingml/2006/table">
            <a:tbl>
              <a:tblPr firstRow="1" bandRow="1">
                <a:tableStyleId>{C083E6E3-FA7D-4D7B-A595-EF9225AFEA82}</a:tableStyleId>
              </a:tblPr>
              <a:tblGrid>
                <a:gridCol w="1482080"/>
                <a:gridCol w="1482080"/>
                <a:gridCol w="1482080"/>
                <a:gridCol w="1482080"/>
                <a:gridCol w="1482080"/>
                <a:gridCol w="1482080"/>
              </a:tblGrid>
              <a:tr h="288000">
                <a:tc>
                  <a:txBody>
                    <a:bodyPr/>
                    <a:lstStyle/>
                    <a:p>
                      <a:pPr algn="ctr">
                        <a:lnSpc>
                          <a:spcPct val="115000"/>
                        </a:lnSpc>
                        <a:spcAft>
                          <a:spcPts val="0"/>
                        </a:spcAft>
                      </a:pPr>
                      <a:r>
                        <a:rPr lang="en-IN" sz="1200" dirty="0">
                          <a:latin typeface="Times New Roman" pitchFamily="18" charset="0"/>
                          <a:cs typeface="Times New Roman" pitchFamily="18" charset="0"/>
                        </a:rPr>
                        <a:t>Sr .no</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Field Name</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Data Type</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Size</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Constraints</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Description</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PK,Auto_Increment,Not null </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Unique event identifier</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2</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organizer_id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FK(users</a:t>
                      </a:r>
                      <a:r>
                        <a:rPr lang="en-IN" sz="1200" dirty="0" smtClean="0">
                          <a:latin typeface="Times New Roman" pitchFamily="18" charset="0"/>
                          <a:cs typeface="Times New Roman" pitchFamily="18" charset="0"/>
                        </a:rPr>
                        <a:t>),</a:t>
                      </a:r>
                    </a:p>
                    <a:p>
                      <a:pPr>
                        <a:lnSpc>
                          <a:spcPct val="115000"/>
                        </a:lnSpc>
                        <a:spcAft>
                          <a:spcPts val="0"/>
                        </a:spcAft>
                      </a:pPr>
                      <a:r>
                        <a:rPr lang="en-IN" sz="1200" dirty="0" smtClean="0">
                          <a:latin typeface="Times New Roman" pitchFamily="18" charset="0"/>
                          <a:cs typeface="Times New Roman" pitchFamily="18" charset="0"/>
                        </a:rPr>
                        <a:t>Not </a:t>
                      </a:r>
                      <a:r>
                        <a:rPr lang="en-IN" sz="1200" dirty="0">
                          <a:latin typeface="Times New Roman" pitchFamily="18" charset="0"/>
                          <a:cs typeface="Times New Roman" pitchFamily="18" charset="0"/>
                        </a:rPr>
                        <a:t>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Organizer user id</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3</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category_id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FK(categories</a:t>
                      </a:r>
                      <a:r>
                        <a:rPr lang="en-IN" sz="1200" dirty="0">
                          <a:latin typeface="Times New Roman" pitchFamily="18" charset="0"/>
                          <a:cs typeface="Times New Roman" pitchFamily="18" charset="0"/>
                        </a:rPr>
                        <a:t>),Not null </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category id </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4</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title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255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title</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date_time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Datetime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date &amp; time</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6</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location</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255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location</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7</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city</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100</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City of event</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8</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description</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Text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Description</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9</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poster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255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poster</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10</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Status</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Enum</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pending, approved,</a:t>
                      </a:r>
                      <a:endParaRPr lang="en-US" sz="1200" dirty="0">
                        <a:latin typeface="Times New Roman" pitchFamily="18" charset="0"/>
                        <a:cs typeface="Times New Roman" pitchFamily="18" charset="0"/>
                      </a:endParaRPr>
                    </a:p>
                    <a:p>
                      <a:pPr>
                        <a:lnSpc>
                          <a:spcPct val="115000"/>
                        </a:lnSpc>
                        <a:spcAft>
                          <a:spcPts val="0"/>
                        </a:spcAft>
                      </a:pPr>
                      <a:r>
                        <a:rPr lang="en-IN" sz="1200" dirty="0">
                          <a:latin typeface="Times New Roman" pitchFamily="18" charset="0"/>
                          <a:cs typeface="Times New Roman" pitchFamily="18" charset="0"/>
                        </a:rPr>
                        <a:t>rejected, cancelled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‘pending’</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status</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event_type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Enum</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Free, paid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‘free’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payment type</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12</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price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Decimal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10,2</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0.00</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Price of ticket</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13</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total_seats</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Total available seats</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14</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available_seats</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Remaining available seats</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reminder_sent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Tinyint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0 </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Notification reminder  </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16</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created_at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timestamp</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Current_timestamp</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creation date</a:t>
                      </a:r>
                      <a:endParaRPr lang="en-US" sz="12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58614"/>
            <a:ext cx="8229600" cy="490066"/>
          </a:xfrm>
        </p:spPr>
        <p:txBody>
          <a:bodyPr>
            <a:noAutofit/>
          </a:bodyPr>
          <a:lstStyle/>
          <a:p>
            <a:pPr algn="l"/>
            <a:r>
              <a:rPr lang="en-IN" sz="2000" b="1" dirty="0" smtClean="0">
                <a:latin typeface="Times New Roman" pitchFamily="18" charset="0"/>
                <a:cs typeface="Times New Roman" pitchFamily="18" charset="0"/>
              </a:rPr>
              <a:t>Table 3: events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event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7"/>
          <a:ext cx="8784981" cy="4643433"/>
        </p:xfrm>
        <a:graphic>
          <a:graphicData uri="http://schemas.openxmlformats.org/drawingml/2006/table">
            <a:tbl>
              <a:tblPr firstRow="1" bandRow="1">
                <a:tableStyleId>{C083E6E3-FA7D-4D7B-A595-EF9225AFEA82}</a:tableStyleId>
              </a:tblPr>
              <a:tblGrid>
                <a:gridCol w="1080120"/>
                <a:gridCol w="1440160"/>
                <a:gridCol w="1080120"/>
                <a:gridCol w="2088233"/>
                <a:gridCol w="1632185"/>
                <a:gridCol w="1464163"/>
              </a:tblGrid>
              <a:tr h="469133">
                <a:tc>
                  <a:txBody>
                    <a:bodyPr/>
                    <a:lstStyle/>
                    <a:p>
                      <a:pPr algn="ct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610986">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Registration id</a:t>
                      </a:r>
                      <a:endParaRPr lang="en-US" sz="1400" dirty="0">
                        <a:latin typeface="Times New Roman" pitchFamily="18" charset="0"/>
                        <a:ea typeface="Calibri"/>
                        <a:cs typeface="Times New Roman" pitchFamily="18" charset="0"/>
                      </a:endParaRPr>
                    </a:p>
                  </a:txBody>
                  <a:tcPr marL="68580" marR="68580" marT="0" marB="0"/>
                </a:tc>
              </a:tr>
              <a:tr h="620799">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a:t>
                      </a:r>
                      <a:endParaRPr lang="en-US" sz="1400" dirty="0">
                        <a:latin typeface="Times New Roman" pitchFamily="18" charset="0"/>
                        <a:ea typeface="Calibri"/>
                        <a:cs typeface="Times New Roman" pitchFamily="18" charset="0"/>
                      </a:endParaRPr>
                    </a:p>
                  </a:txBody>
                  <a:tcPr marL="68580" marR="68580" marT="0" marB="0"/>
                </a:tc>
              </a:tr>
              <a:tr h="620799">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FK(events),Not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 id for identify event</a:t>
                      </a:r>
                      <a:endParaRPr lang="en-US" sz="1400" dirty="0">
                        <a:latin typeface="Times New Roman" pitchFamily="18" charset="0"/>
                        <a:ea typeface="Calibri"/>
                        <a:cs typeface="Times New Roman" pitchFamily="18" charset="0"/>
                      </a:endParaRPr>
                    </a:p>
                  </a:txBody>
                  <a:tcPr marL="68580" marR="68580" marT="0" marB="0"/>
                </a:tc>
              </a:tr>
              <a:tr h="469133">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 id for users</a:t>
                      </a:r>
                      <a:endParaRPr lang="en-US" sz="1400" dirty="0">
                        <a:latin typeface="Times New Roman" pitchFamily="18" charset="0"/>
                        <a:ea typeface="Calibri"/>
                        <a:cs typeface="Times New Roman" pitchFamily="18" charset="0"/>
                      </a:endParaRPr>
                    </a:p>
                  </a:txBody>
                  <a:tcPr marL="68580" marR="68580" marT="0" marB="0"/>
                </a:tc>
              </a:tr>
              <a:tr h="921385">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status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Pending, confirmed,</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rejected,pending_payment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,cancelled_by_admin</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pending</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 Registration status</a:t>
                      </a:r>
                      <a:endParaRPr lang="en-US" sz="1400" dirty="0">
                        <a:latin typeface="Times New Roman" pitchFamily="18" charset="0"/>
                        <a:ea typeface="Calibri"/>
                        <a:cs typeface="Times New Roman" pitchFamily="18" charset="0"/>
                      </a:endParaRPr>
                    </a:p>
                  </a:txBody>
                  <a:tcPr marL="68580" marR="68580" marT="0" marB="0"/>
                </a:tc>
              </a:tr>
              <a:tr h="931198">
                <a:tc>
                  <a:txBody>
                    <a:bodyPr/>
                    <a:lstStyle/>
                    <a:p>
                      <a:pPr>
                        <a:lnSpc>
                          <a:spcPct val="115000"/>
                        </a:lnSpc>
                        <a:spcAft>
                          <a:spcPts val="0"/>
                        </a:spcAft>
                      </a:pPr>
                      <a:r>
                        <a:rPr lang="en-IN" sz="1400" dirty="0">
                          <a:latin typeface="Times New Roman" pitchFamily="18" charset="0"/>
                          <a:ea typeface="Calibri"/>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registered_at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Registration date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4: event_registrations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registrations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6"/>
          <a:ext cx="8712967" cy="4032448"/>
        </p:xfrm>
        <a:graphic>
          <a:graphicData uri="http://schemas.openxmlformats.org/drawingml/2006/table">
            <a:tbl>
              <a:tblPr firstRow="1" bandRow="1">
                <a:tableStyleId>{C083E6E3-FA7D-4D7B-A595-EF9225AFEA82}</a:tableStyleId>
              </a:tblPr>
              <a:tblGrid>
                <a:gridCol w="1452161"/>
                <a:gridCol w="1452161"/>
                <a:gridCol w="1452161"/>
                <a:gridCol w="900101"/>
                <a:gridCol w="2004222"/>
                <a:gridCol w="1452161"/>
              </a:tblGrid>
              <a:tr h="572732">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867428">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notification id</a:t>
                      </a:r>
                      <a:endParaRPr lang="en-US" sz="1400" dirty="0">
                        <a:latin typeface="Times New Roman" pitchFamily="18" charset="0"/>
                        <a:ea typeface="Calibri"/>
                        <a:cs typeface="Times New Roman" pitchFamily="18" charset="0"/>
                      </a:endParaRPr>
                    </a:p>
                  </a:txBody>
                  <a:tcPr marL="68580" marR="68580" marT="0" marB="0"/>
                </a:tc>
              </a:tr>
              <a:tr h="727586">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a:t>
                      </a:r>
                      <a:endParaRPr lang="en-US" sz="1400" dirty="0">
                        <a:latin typeface="Times New Roman" pitchFamily="18" charset="0"/>
                        <a:ea typeface="Calibri"/>
                        <a:cs typeface="Times New Roman" pitchFamily="18" charset="0"/>
                      </a:endParaRPr>
                    </a:p>
                  </a:txBody>
                  <a:tcPr marL="68580" marR="68580" marT="0" marB="0"/>
                </a:tc>
              </a:tr>
              <a:tr h="496550">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message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Text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Notification messages</a:t>
                      </a:r>
                      <a:endParaRPr lang="en-US" sz="140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is_read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Tinyint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Notification readable or not</a:t>
                      </a:r>
                      <a:endParaRPr lang="en-US" sz="1400" dirty="0">
                        <a:latin typeface="Times New Roman" pitchFamily="18" charset="0"/>
                        <a:ea typeface="Calibri"/>
                        <a:cs typeface="Times New Roman" pitchFamily="18" charset="0"/>
                      </a:endParaRPr>
                    </a:p>
                  </a:txBody>
                  <a:tcPr marL="68580" marR="68580" marT="0" marB="0"/>
                </a:tc>
              </a:tr>
              <a:tr h="792088">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Notification creation date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5: notification</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notification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4353"/>
          <a:ext cx="8712966" cy="5182991"/>
        </p:xfrm>
        <a:graphic>
          <a:graphicData uri="http://schemas.openxmlformats.org/drawingml/2006/table">
            <a:tbl>
              <a:tblPr firstRow="1" bandRow="1">
                <a:tableStyleId>{C083E6E3-FA7D-4D7B-A595-EF9225AFEA82}</a:tableStyleId>
              </a:tblPr>
              <a:tblGrid>
                <a:gridCol w="1452161"/>
                <a:gridCol w="1452161"/>
                <a:gridCol w="1200134"/>
                <a:gridCol w="1368152"/>
                <a:gridCol w="1788197"/>
                <a:gridCol w="1452161"/>
              </a:tblGrid>
              <a:tr h="525983">
                <a:tc>
                  <a:txBody>
                    <a:bodyPr/>
                    <a:lstStyle/>
                    <a:p>
                      <a:pPr>
                        <a:lnSpc>
                          <a:spcPct val="115000"/>
                        </a:lnSpc>
                        <a:spcAft>
                          <a:spcPts val="0"/>
                        </a:spcAft>
                      </a:pPr>
                      <a:r>
                        <a:rPr lang="en-IN" sz="1400" b="0" dirty="0">
                          <a:latin typeface="Times New Roman" pitchFamily="18" charset="0"/>
                          <a:ea typeface="Calibri"/>
                          <a:cs typeface="Times New Roman" pitchFamily="18" charset="0"/>
                        </a:rPr>
                        <a:t>Sr .no</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Field Name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Data Type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Size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Constraints</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Description</a:t>
                      </a:r>
                      <a:endParaRPr lang="en-US" sz="1400" b="0" dirty="0">
                        <a:latin typeface="Times New Roman" pitchFamily="18" charset="0"/>
                        <a:ea typeface="Calibri"/>
                        <a:cs typeface="Times New Roman" pitchFamily="18" charset="0"/>
                      </a:endParaRPr>
                    </a:p>
                  </a:txBody>
                  <a:tcPr marL="68580" marR="68580" marT="0" marB="0"/>
                </a:tc>
              </a:tr>
              <a:tr h="768504">
                <a:tc>
                  <a:txBody>
                    <a:bodyPr/>
                    <a:lstStyle/>
                    <a:p>
                      <a:pPr>
                        <a:lnSpc>
                          <a:spcPct val="115000"/>
                        </a:lnSpc>
                        <a:spcAft>
                          <a:spcPts val="0"/>
                        </a:spcAft>
                      </a:pPr>
                      <a:r>
                        <a:rPr lang="en-IN" sz="1400" b="0" dirty="0">
                          <a:latin typeface="Times New Roman" pitchFamily="18" charset="0"/>
                          <a:ea typeface="Calibri"/>
                          <a:cs typeface="Times New Roman" pitchFamily="18" charset="0"/>
                        </a:rPr>
                        <a:t>1</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id</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Int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11</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PK, Auto_Increment</a:t>
                      </a:r>
                      <a:endParaRPr lang="en-US" sz="1400" b="0" dirty="0">
                        <a:latin typeface="Times New Roman" pitchFamily="18" charset="0"/>
                        <a:ea typeface="Calibri"/>
                        <a:cs typeface="Times New Roman" pitchFamily="18" charset="0"/>
                      </a:endParaRPr>
                    </a:p>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Unique contact id</a:t>
                      </a:r>
                      <a:endParaRPr lang="en-US" sz="1400" b="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b="0" dirty="0">
                          <a:latin typeface="Times New Roman" pitchFamily="18" charset="0"/>
                          <a:ea typeface="Calibri"/>
                          <a:cs typeface="Times New Roman" pitchFamily="18" charset="0"/>
                        </a:rPr>
                        <a:t>2</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name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Varchar</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100</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Name of the user(sender)</a:t>
                      </a:r>
                      <a:endParaRPr lang="en-US" sz="1400" b="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b="0" dirty="0">
                          <a:latin typeface="Times New Roman" pitchFamily="18" charset="0"/>
                          <a:ea typeface="Calibri"/>
                          <a:cs typeface="Times New Roman" pitchFamily="18" charset="0"/>
                        </a:rPr>
                        <a:t>3</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email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Varchar</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100</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Email of the user(sender)</a:t>
                      </a:r>
                      <a:endParaRPr lang="en-US" sz="1400" b="0" dirty="0">
                        <a:latin typeface="Times New Roman" pitchFamily="18" charset="0"/>
                        <a:ea typeface="Calibri"/>
                        <a:cs typeface="Times New Roman" pitchFamily="18" charset="0"/>
                      </a:endParaRPr>
                    </a:p>
                  </a:txBody>
                  <a:tcPr marL="68580" marR="68580" marT="0" marB="0"/>
                </a:tc>
              </a:tr>
              <a:tr h="525983">
                <a:tc>
                  <a:txBody>
                    <a:bodyPr/>
                    <a:lstStyle/>
                    <a:p>
                      <a:pPr>
                        <a:lnSpc>
                          <a:spcPct val="115000"/>
                        </a:lnSpc>
                        <a:spcAft>
                          <a:spcPts val="0"/>
                        </a:spcAft>
                      </a:pPr>
                      <a:r>
                        <a:rPr lang="en-IN" sz="1400" b="0" dirty="0">
                          <a:latin typeface="Times New Roman" pitchFamily="18" charset="0"/>
                          <a:ea typeface="Calibri"/>
                          <a:cs typeface="Times New Roman" pitchFamily="18" charset="0"/>
                        </a:rPr>
                        <a:t>4</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Text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 content</a:t>
                      </a:r>
                      <a:endParaRPr lang="en-US" sz="1400" b="0" dirty="0">
                        <a:latin typeface="Times New Roman" pitchFamily="18" charset="0"/>
                        <a:ea typeface="Calibri"/>
                        <a:cs typeface="Times New Roman" pitchFamily="18" charset="0"/>
                      </a:endParaRPr>
                    </a:p>
                  </a:txBody>
                  <a:tcPr marL="68580" marR="68580" marT="0" marB="0"/>
                </a:tc>
              </a:tr>
              <a:tr h="525983">
                <a:tc>
                  <a:txBody>
                    <a:bodyPr/>
                    <a:lstStyle/>
                    <a:p>
                      <a:pPr>
                        <a:lnSpc>
                          <a:spcPct val="115000"/>
                        </a:lnSpc>
                        <a:spcAft>
                          <a:spcPts val="0"/>
                        </a:spcAft>
                      </a:pPr>
                      <a:r>
                        <a:rPr lang="en-IN" sz="1400" b="0" dirty="0">
                          <a:latin typeface="Times New Roman" pitchFamily="18" charset="0"/>
                          <a:ea typeface="Calibri"/>
                          <a:cs typeface="Times New Roman" pitchFamily="18" charset="0"/>
                        </a:rPr>
                        <a:t>5</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reply</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Text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Admin reply</a:t>
                      </a:r>
                      <a:endParaRPr lang="en-US" sz="1400" b="0" dirty="0">
                        <a:latin typeface="Times New Roman" pitchFamily="18" charset="0"/>
                        <a:ea typeface="Calibri"/>
                        <a:cs typeface="Times New Roman" pitchFamily="18" charset="0"/>
                      </a:endParaRPr>
                    </a:p>
                  </a:txBody>
                  <a:tcPr marL="68580" marR="68580" marT="0" marB="0"/>
                </a:tc>
              </a:tr>
              <a:tr h="668198">
                <a:tc>
                  <a:txBody>
                    <a:bodyPr/>
                    <a:lstStyle/>
                    <a:p>
                      <a:pPr>
                        <a:lnSpc>
                          <a:spcPct val="115000"/>
                        </a:lnSpc>
                        <a:spcAft>
                          <a:spcPts val="0"/>
                        </a:spcAft>
                      </a:pPr>
                      <a:r>
                        <a:rPr lang="en-IN" sz="1400" b="0" dirty="0">
                          <a:latin typeface="Times New Roman" pitchFamily="18" charset="0"/>
                          <a:ea typeface="Calibri"/>
                          <a:cs typeface="Times New Roman" pitchFamily="18" charset="0"/>
                        </a:rPr>
                        <a:t>6</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status</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Enum</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New,read,replied</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 Default new</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 status</a:t>
                      </a:r>
                      <a:endParaRPr lang="en-US" sz="1400" b="0" dirty="0">
                        <a:latin typeface="Times New Roman" pitchFamily="18" charset="0"/>
                        <a:ea typeface="Calibri"/>
                        <a:cs typeface="Times New Roman" pitchFamily="18" charset="0"/>
                      </a:endParaRPr>
                    </a:p>
                  </a:txBody>
                  <a:tcPr marL="68580" marR="68580" marT="0" marB="0"/>
                </a:tc>
              </a:tr>
              <a:tr h="1016212">
                <a:tc>
                  <a:txBody>
                    <a:bodyPr/>
                    <a:lstStyle/>
                    <a:p>
                      <a:pPr>
                        <a:lnSpc>
                          <a:spcPct val="115000"/>
                        </a:lnSpc>
                        <a:spcAft>
                          <a:spcPts val="0"/>
                        </a:spcAft>
                      </a:pPr>
                      <a:r>
                        <a:rPr lang="en-IN" sz="1400" b="0" dirty="0">
                          <a:latin typeface="Times New Roman" pitchFamily="18" charset="0"/>
                          <a:ea typeface="Calibri"/>
                          <a:cs typeface="Times New Roman" pitchFamily="18" charset="0"/>
                        </a:rPr>
                        <a:t>7</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created_at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timestamp</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 Default Current_timestamp</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 creation date</a:t>
                      </a:r>
                      <a:endParaRPr lang="en-US" sz="1400" b="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6: contact_messages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details about messages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6"/>
          <a:ext cx="8784978" cy="5487607"/>
        </p:xfrm>
        <a:graphic>
          <a:graphicData uri="http://schemas.openxmlformats.org/drawingml/2006/table">
            <a:tbl>
              <a:tblPr firstRow="1" bandRow="1">
                <a:tableStyleId>{C083E6E3-FA7D-4D7B-A595-EF9225AFEA82}</a:tableStyleId>
              </a:tblPr>
              <a:tblGrid>
                <a:gridCol w="1464163"/>
                <a:gridCol w="1464163"/>
                <a:gridCol w="1464163"/>
                <a:gridCol w="1008111"/>
                <a:gridCol w="1920215"/>
                <a:gridCol w="1464163"/>
              </a:tblGrid>
              <a:tr h="496299">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958860">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review id</a:t>
                      </a:r>
                      <a:endParaRPr lang="en-US" sz="1400" dirty="0">
                        <a:latin typeface="Times New Roman" pitchFamily="18" charset="0"/>
                        <a:ea typeface="Calibri"/>
                        <a:cs typeface="Times New Roman" pitchFamily="18" charset="0"/>
                      </a:endParaRPr>
                    </a:p>
                  </a:txBody>
                  <a:tcPr marL="68580" marR="68580" marT="0" marB="0"/>
                </a:tc>
              </a:tr>
              <a:tr h="630487">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a:t>
                      </a:r>
                      <a:endParaRPr lang="en-US" sz="1400" dirty="0">
                        <a:latin typeface="Times New Roman" pitchFamily="18" charset="0"/>
                        <a:ea typeface="Calibri"/>
                        <a:cs typeface="Times New Roman" pitchFamily="18" charset="0"/>
                      </a:endParaRPr>
                    </a:p>
                  </a:txBody>
                  <a:tcPr marL="68580" marR="68580" marT="0" marB="0"/>
                </a:tc>
              </a:tr>
              <a:tr h="630487">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FK(events),Not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 id for identify event</a:t>
                      </a:r>
                      <a:endParaRPr lang="en-US" sz="1400" dirty="0">
                        <a:latin typeface="Times New Roman" pitchFamily="18" charset="0"/>
                        <a:ea typeface="Calibri"/>
                        <a:cs typeface="Times New Roman" pitchFamily="18" charset="0"/>
                      </a:endParaRPr>
                    </a:p>
                  </a:txBody>
                  <a:tcPr marL="68580" marR="68580" marT="0" marB="0"/>
                </a:tc>
              </a:tr>
              <a:tr h="958860">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rating</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check(between 1 to 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Rating given between 1 to 5</a:t>
                      </a:r>
                      <a:endParaRPr lang="en-US" sz="1400" dirty="0">
                        <a:latin typeface="Times New Roman" pitchFamily="18" charset="0"/>
                        <a:ea typeface="Calibri"/>
                        <a:cs typeface="Times New Roman" pitchFamily="18" charset="0"/>
                      </a:endParaRPr>
                    </a:p>
                  </a:txBody>
                  <a:tcPr marL="68580" marR="68580" marT="0" marB="0"/>
                </a:tc>
              </a:tr>
              <a:tr h="357455">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review</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Text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Review comment</a:t>
                      </a:r>
                      <a:endParaRPr lang="en-US" sz="1400" dirty="0">
                        <a:latin typeface="Times New Roman" pitchFamily="18" charset="0"/>
                        <a:ea typeface="Calibri"/>
                        <a:cs typeface="Times New Roman" pitchFamily="18" charset="0"/>
                      </a:endParaRPr>
                    </a:p>
                  </a:txBody>
                  <a:tcPr marL="68580" marR="68580" marT="0" marB="0"/>
                </a:tc>
              </a:tr>
              <a:tr h="958860">
                <a:tc>
                  <a:txBody>
                    <a:bodyPr/>
                    <a:lstStyle/>
                    <a:p>
                      <a:pPr>
                        <a:lnSpc>
                          <a:spcPct val="115000"/>
                        </a:lnSpc>
                        <a:spcAft>
                          <a:spcPts val="0"/>
                        </a:spcAft>
                      </a:pPr>
                      <a:r>
                        <a:rPr lang="en-IN" sz="1400" dirty="0">
                          <a:latin typeface="Times New Roman" pitchFamily="18" charset="0"/>
                          <a:ea typeface="Calibri"/>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Review date</a:t>
                      </a:r>
                      <a:endParaRPr lang="en-US" sz="1400" dirty="0">
                        <a:latin typeface="Times New Roman" pitchFamily="18" charset="0"/>
                        <a:ea typeface="Calibri"/>
                        <a:cs typeface="Times New Roman" pitchFamily="18" charset="0"/>
                      </a:endParaRPr>
                    </a:p>
                  </a:txBody>
                  <a:tcPr marL="68580" marR="68580" marT="0" marB="0"/>
                </a:tc>
              </a:tr>
              <a:tr h="496299">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5"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7: event_reviews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event review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179512" y="692696"/>
          <a:ext cx="8784981" cy="5899912"/>
        </p:xfrm>
        <a:graphic>
          <a:graphicData uri="http://schemas.openxmlformats.org/drawingml/2006/table">
            <a:tbl>
              <a:tblPr firstRow="1" bandRow="1">
                <a:tableStyleId>{C083E6E3-FA7D-4D7B-A595-EF9225AFEA82}</a:tableStyleId>
              </a:tblPr>
              <a:tblGrid>
                <a:gridCol w="720080"/>
                <a:gridCol w="1728192"/>
                <a:gridCol w="1080120"/>
                <a:gridCol w="1512168"/>
                <a:gridCol w="2280258"/>
                <a:gridCol w="1464163"/>
              </a:tblGrid>
              <a:tr h="370840">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booking id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registration_id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FK(event_registrations),Not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Registration id </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FK(event_registrations),Not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 id </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razorpay_order_id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order id</a:t>
                      </a:r>
                      <a:endParaRPr lang="en-US" sz="1400" dirty="0">
                        <a:latin typeface="Times New Roman" pitchFamily="18" charset="0"/>
                        <a:ea typeface="Calibri"/>
                        <a:cs typeface="Times New Roman" pitchFamily="18" charset="0"/>
                      </a:endParaRPr>
                    </a:p>
                  </a:txBody>
                  <a:tcPr marL="68580" marR="68580" marT="0" marB="0"/>
                </a:tc>
              </a:tr>
              <a:tr h="365279">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razorpay_payment_id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payment id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razorpay_signature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signature</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7</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amount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Booking amount</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8</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payment_status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Pending, paid,</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failed, refunded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pending</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Payment status</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9</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booking_date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Booking date and time</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razorpay_refund_id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refund id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refund_amount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 amount</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datetime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 fate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4"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8: bookings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details of paid event booking</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4" y="764704"/>
          <a:ext cx="8712967" cy="3240360"/>
        </p:xfrm>
        <a:graphic>
          <a:graphicData uri="http://schemas.openxmlformats.org/drawingml/2006/table">
            <a:tbl>
              <a:tblPr firstRow="1" bandRow="1">
                <a:tableStyleId>{C083E6E3-FA7D-4D7B-A595-EF9225AFEA82}</a:tableStyleId>
              </a:tblPr>
              <a:tblGrid>
                <a:gridCol w="1452161"/>
                <a:gridCol w="1452161"/>
                <a:gridCol w="1452161"/>
                <a:gridCol w="1188131"/>
                <a:gridCol w="1716192"/>
                <a:gridCol w="1452161"/>
              </a:tblGrid>
              <a:tr h="709889">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658263">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user token id</a:t>
                      </a:r>
                      <a:endParaRPr lang="en-US" sz="140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 </a:t>
                      </a:r>
                      <a:endParaRPr lang="en-US" sz="140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token</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Generated token from Google</a:t>
                      </a:r>
                      <a:endParaRPr lang="en-US" sz="1400" dirty="0">
                        <a:latin typeface="Times New Roman" pitchFamily="18" charset="0"/>
                        <a:ea typeface="Calibri"/>
                        <a:cs typeface="Times New Roman" pitchFamily="18" charset="0"/>
                      </a:endParaRPr>
                    </a:p>
                  </a:txBody>
                  <a:tcPr marL="68580" marR="68580" marT="0" marB="0"/>
                </a:tc>
              </a:tr>
              <a:tr h="720080">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Token creation date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5"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9: user_tokens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user token</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4704"/>
            <a:ext cx="8229600" cy="5242587"/>
          </a:xfrm>
        </p:spPr>
        <p:txBody>
          <a:bodyPr/>
          <a:lstStyle/>
          <a:p>
            <a:r>
              <a:rPr lang="en-IN" sz="2800" b="1" dirty="0" smtClean="0">
                <a:latin typeface="Times New Roman" pitchFamily="18" charset="0"/>
                <a:cs typeface="Times New Roman" pitchFamily="18" charset="0"/>
              </a:rPr>
              <a:t>Register Page</a:t>
            </a:r>
          </a:p>
          <a:p>
            <a:endParaRPr lang="en-US" dirty="0"/>
          </a:p>
        </p:txBody>
      </p:sp>
      <p:sp>
        <p:nvSpPr>
          <p:cNvPr id="3" name="Title 2"/>
          <p:cNvSpPr>
            <a:spLocks noGrp="1"/>
          </p:cNvSpPr>
          <p:nvPr>
            <p:ph type="title"/>
          </p:nvPr>
        </p:nvSpPr>
        <p:spPr>
          <a:xfrm>
            <a:off x="395536" y="0"/>
            <a:ext cx="8229600" cy="778098"/>
          </a:xfrm>
        </p:spPr>
        <p:txBody>
          <a:bodyPr>
            <a:normAutofit/>
          </a:bodyPr>
          <a:lstStyle/>
          <a:p>
            <a:pPr algn="ctr"/>
            <a:r>
              <a:rPr lang="en-IN" sz="4000" dirty="0" smtClean="0">
                <a:latin typeface="Times New Roman" pitchFamily="18" charset="0"/>
                <a:cs typeface="Times New Roman" pitchFamily="18" charset="0"/>
              </a:rPr>
              <a:t>Web Interface</a:t>
            </a:r>
            <a:endParaRPr lang="en-US" sz="4000" dirty="0">
              <a:latin typeface="Times New Roman" pitchFamily="18" charset="0"/>
              <a:cs typeface="Times New Roman" pitchFamily="18" charset="0"/>
            </a:endParaRPr>
          </a:p>
        </p:txBody>
      </p:sp>
      <p:pic>
        <p:nvPicPr>
          <p:cNvPr id="4" name="Picture 3" descr="C:\Users\A\Pictures\Screenshots\Register page.png"/>
          <p:cNvPicPr/>
          <p:nvPr/>
        </p:nvPicPr>
        <p:blipFill>
          <a:blip r:embed="rId2" cstate="print"/>
          <a:srcRect/>
          <a:stretch>
            <a:fillRect/>
          </a:stretch>
        </p:blipFill>
        <p:spPr bwMode="auto">
          <a:xfrm>
            <a:off x="0" y="1268760"/>
            <a:ext cx="9144000" cy="46805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007291"/>
          </a:xfrm>
        </p:spPr>
        <p:txBody>
          <a:bodyPr>
            <a:normAutofit/>
          </a:bodyPr>
          <a:lstStyle/>
          <a:p>
            <a:r>
              <a:rPr lang="en-IN" sz="2800" b="1" dirty="0" smtClean="0">
                <a:latin typeface="Times New Roman" pitchFamily="18" charset="0"/>
                <a:cs typeface="Times New Roman" pitchFamily="18" charset="0"/>
              </a:rPr>
              <a:t>Login Page</a:t>
            </a:r>
            <a:endParaRPr lang="en-US" sz="2800" b="1" dirty="0">
              <a:latin typeface="Times New Roman" pitchFamily="18" charset="0"/>
              <a:cs typeface="Times New Roman" pitchFamily="18" charset="0"/>
            </a:endParaRPr>
          </a:p>
        </p:txBody>
      </p:sp>
      <p:pic>
        <p:nvPicPr>
          <p:cNvPr id="4" name="Picture 3" descr="C:\Users\A\Pictures\Screenshots\login page.png"/>
          <p:cNvPicPr/>
          <p:nvPr/>
        </p:nvPicPr>
        <p:blipFill>
          <a:blip r:embed="rId2" cstate="print"/>
          <a:srcRect/>
          <a:stretch>
            <a:fillRect/>
          </a:stretch>
        </p:blipFill>
        <p:spPr bwMode="auto">
          <a:xfrm>
            <a:off x="0" y="620688"/>
            <a:ext cx="9144000" cy="51845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Home Page</a:t>
            </a:r>
            <a:endParaRPr lang="en-US" sz="2800" b="1" dirty="0">
              <a:latin typeface="Times New Roman" pitchFamily="18" charset="0"/>
              <a:cs typeface="Times New Roman" pitchFamily="18" charset="0"/>
            </a:endParaRPr>
          </a:p>
        </p:txBody>
      </p:sp>
      <p:pic>
        <p:nvPicPr>
          <p:cNvPr id="4098" name="Picture 2" descr="C:\Users\A\Pictures\Screenshots\Home Page.png"/>
          <p:cNvPicPr>
            <a:picLocks noChangeAspect="1" noChangeArrowheads="1"/>
          </p:cNvPicPr>
          <p:nvPr/>
        </p:nvPicPr>
        <p:blipFill>
          <a:blip r:embed="rId2" cstate="print"/>
          <a:srcRect/>
          <a:stretch>
            <a:fillRect/>
          </a:stretch>
        </p:blipFill>
        <p:spPr bwMode="auto">
          <a:xfrm>
            <a:off x="0" y="495300"/>
            <a:ext cx="9144000" cy="586740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Upcoming Events</a:t>
            </a:r>
            <a:endParaRPr lang="en-US" sz="2800" b="1" dirty="0">
              <a:latin typeface="Times New Roman" pitchFamily="18" charset="0"/>
              <a:cs typeface="Times New Roman" pitchFamily="18" charset="0"/>
            </a:endParaRPr>
          </a:p>
        </p:txBody>
      </p:sp>
      <p:pic>
        <p:nvPicPr>
          <p:cNvPr id="7170" name="Picture 2" descr="C:\Users\A\Pictures\Screenshots\Upcoming events.png"/>
          <p:cNvPicPr>
            <a:picLocks noChangeAspect="1" noChangeArrowheads="1"/>
          </p:cNvPicPr>
          <p:nvPr/>
        </p:nvPicPr>
        <p:blipFill>
          <a:blip r:embed="rId2" cstate="print"/>
          <a:srcRect/>
          <a:stretch>
            <a:fillRect/>
          </a:stretch>
        </p:blipFill>
        <p:spPr bwMode="auto">
          <a:xfrm>
            <a:off x="0" y="538163"/>
            <a:ext cx="9144000" cy="5781675"/>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Event Details Page</a:t>
            </a:r>
            <a:endParaRPr lang="en-US" sz="2800" b="1" dirty="0">
              <a:latin typeface="Times New Roman" pitchFamily="18" charset="0"/>
              <a:cs typeface="Times New Roman" pitchFamily="18" charset="0"/>
            </a:endParaRPr>
          </a:p>
        </p:txBody>
      </p:sp>
      <p:pic>
        <p:nvPicPr>
          <p:cNvPr id="8194" name="Picture 2" descr="C:\Users\A\Pictures\Screenshots\EventDetails Page.png"/>
          <p:cNvPicPr>
            <a:picLocks noChangeAspect="1" noChangeArrowheads="1"/>
          </p:cNvPicPr>
          <p:nvPr/>
        </p:nvPicPr>
        <p:blipFill>
          <a:blip r:embed="rId2" cstate="print"/>
          <a:srcRect/>
          <a:stretch>
            <a:fillRect/>
          </a:stretch>
        </p:blipFill>
        <p:spPr bwMode="auto">
          <a:xfrm>
            <a:off x="0" y="534119"/>
            <a:ext cx="9144000" cy="5991225"/>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Customer Dashboard</a:t>
            </a:r>
            <a:endParaRPr lang="en-US" sz="2800" b="1" dirty="0">
              <a:latin typeface="Times New Roman" pitchFamily="18" charset="0"/>
              <a:cs typeface="Times New Roman" pitchFamily="18" charset="0"/>
            </a:endParaRPr>
          </a:p>
        </p:txBody>
      </p:sp>
      <p:pic>
        <p:nvPicPr>
          <p:cNvPr id="9219" name="Picture 3" descr="C:\Users\A\Pictures\Screenshots\CustomerDashboard.png"/>
          <p:cNvPicPr>
            <a:picLocks noChangeAspect="1" noChangeArrowheads="1"/>
          </p:cNvPicPr>
          <p:nvPr/>
        </p:nvPicPr>
        <p:blipFill>
          <a:blip r:embed="rId2" cstate="print"/>
          <a:srcRect/>
          <a:stretch>
            <a:fillRect/>
          </a:stretch>
        </p:blipFill>
        <p:spPr bwMode="auto">
          <a:xfrm>
            <a:off x="-1" y="571500"/>
            <a:ext cx="9144001" cy="57150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User Notification</a:t>
            </a:r>
            <a:endParaRPr lang="en-US" sz="2800" b="1" dirty="0">
              <a:latin typeface="Times New Roman" pitchFamily="18" charset="0"/>
              <a:cs typeface="Times New Roman" pitchFamily="18" charset="0"/>
            </a:endParaRPr>
          </a:p>
        </p:txBody>
      </p:sp>
      <p:pic>
        <p:nvPicPr>
          <p:cNvPr id="10243" name="Picture 3" descr="C:\Users\A\Pictures\Screenshots\User Notification.png"/>
          <p:cNvPicPr>
            <a:picLocks noChangeAspect="1" noChangeArrowheads="1"/>
          </p:cNvPicPr>
          <p:nvPr/>
        </p:nvPicPr>
        <p:blipFill>
          <a:blip r:embed="rId2" cstate="print"/>
          <a:srcRect/>
          <a:stretch>
            <a:fillRect/>
          </a:stretch>
        </p:blipFill>
        <p:spPr bwMode="auto">
          <a:xfrm>
            <a:off x="0" y="600794"/>
            <a:ext cx="9144000" cy="592455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Booking Page</a:t>
            </a:r>
            <a:endParaRPr lang="en-US" sz="2800" b="1" dirty="0">
              <a:latin typeface="Times New Roman" pitchFamily="18" charset="0"/>
              <a:cs typeface="Times New Roman" pitchFamily="18" charset="0"/>
            </a:endParaRPr>
          </a:p>
        </p:txBody>
      </p:sp>
      <p:pic>
        <p:nvPicPr>
          <p:cNvPr id="11266" name="Picture 2" descr="C:\Users\A\Pictures\Screenshots\Booking Page.png"/>
          <p:cNvPicPr>
            <a:picLocks noChangeAspect="1" noChangeArrowheads="1"/>
          </p:cNvPicPr>
          <p:nvPr/>
        </p:nvPicPr>
        <p:blipFill>
          <a:blip r:embed="rId2" cstate="print"/>
          <a:srcRect/>
          <a:stretch>
            <a:fillRect/>
          </a:stretch>
        </p:blipFill>
        <p:spPr bwMode="auto">
          <a:xfrm>
            <a:off x="0" y="764704"/>
            <a:ext cx="9144000" cy="5686425"/>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Payment Page</a:t>
            </a:r>
            <a:endParaRPr lang="en-US" sz="2800" b="1" dirty="0">
              <a:latin typeface="Times New Roman" pitchFamily="18" charset="0"/>
              <a:cs typeface="Times New Roman" pitchFamily="18" charset="0"/>
            </a:endParaRPr>
          </a:p>
        </p:txBody>
      </p:sp>
      <p:pic>
        <p:nvPicPr>
          <p:cNvPr id="12290" name="Picture 2" descr="C:\Users\A\Pictures\Screenshots\Payment Page.png"/>
          <p:cNvPicPr>
            <a:picLocks noChangeAspect="1" noChangeArrowheads="1"/>
          </p:cNvPicPr>
          <p:nvPr/>
        </p:nvPicPr>
        <p:blipFill>
          <a:blip r:embed="rId2" cstate="print"/>
          <a:srcRect/>
          <a:stretch>
            <a:fillRect/>
          </a:stretch>
        </p:blipFill>
        <p:spPr bwMode="auto">
          <a:xfrm>
            <a:off x="0" y="548680"/>
            <a:ext cx="9144000" cy="592455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Ticket Page</a:t>
            </a:r>
            <a:endParaRPr lang="en-US" sz="2800" b="1" dirty="0">
              <a:latin typeface="Times New Roman" pitchFamily="18" charset="0"/>
              <a:cs typeface="Times New Roman" pitchFamily="18" charset="0"/>
            </a:endParaRPr>
          </a:p>
        </p:txBody>
      </p:sp>
      <p:pic>
        <p:nvPicPr>
          <p:cNvPr id="13314" name="Picture 2" descr="C:\Users\A\Pictures\Screenshots\Ticket Page.png"/>
          <p:cNvPicPr>
            <a:picLocks noChangeAspect="1" noChangeArrowheads="1"/>
          </p:cNvPicPr>
          <p:nvPr/>
        </p:nvPicPr>
        <p:blipFill>
          <a:blip r:embed="rId2" cstate="print"/>
          <a:srcRect/>
          <a:stretch>
            <a:fillRect/>
          </a:stretch>
        </p:blipFill>
        <p:spPr bwMode="auto">
          <a:xfrm>
            <a:off x="1" y="548680"/>
            <a:ext cx="9108504" cy="5663183"/>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Ticket PDF Format</a:t>
            </a:r>
            <a:endParaRPr lang="en-US" sz="2800" b="1" dirty="0">
              <a:latin typeface="Times New Roman" pitchFamily="18" charset="0"/>
              <a:cs typeface="Times New Roman" pitchFamily="18" charset="0"/>
            </a:endParaRPr>
          </a:p>
        </p:txBody>
      </p:sp>
      <p:pic>
        <p:nvPicPr>
          <p:cNvPr id="14338" name="Picture 2" descr="C:\Users\A\Pictures\Screenshots\Ticket Downlod PDF.png"/>
          <p:cNvPicPr>
            <a:picLocks noChangeAspect="1" noChangeArrowheads="1"/>
          </p:cNvPicPr>
          <p:nvPr/>
        </p:nvPicPr>
        <p:blipFill>
          <a:blip r:embed="rId2" cstate="print"/>
          <a:srcRect/>
          <a:stretch>
            <a:fillRect/>
          </a:stretch>
        </p:blipFill>
        <p:spPr bwMode="auto">
          <a:xfrm>
            <a:off x="1619672" y="690265"/>
            <a:ext cx="6120680" cy="5907087"/>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Review Page</a:t>
            </a:r>
            <a:endParaRPr lang="en-US" sz="2800" b="1" dirty="0">
              <a:latin typeface="Times New Roman" pitchFamily="18" charset="0"/>
              <a:cs typeface="Times New Roman" pitchFamily="18" charset="0"/>
            </a:endParaRPr>
          </a:p>
        </p:txBody>
      </p:sp>
      <p:pic>
        <p:nvPicPr>
          <p:cNvPr id="25602" name="Picture 2" descr="C:\Users\A\Pictures\Screenshots\Feedback_User.png"/>
          <p:cNvPicPr>
            <a:picLocks noChangeAspect="1" noChangeArrowheads="1"/>
          </p:cNvPicPr>
          <p:nvPr/>
        </p:nvPicPr>
        <p:blipFill>
          <a:blip r:embed="rId2" cstate="print"/>
          <a:srcRect/>
          <a:stretch>
            <a:fillRect/>
          </a:stretch>
        </p:blipFill>
        <p:spPr bwMode="auto">
          <a:xfrm>
            <a:off x="0" y="620688"/>
            <a:ext cx="9144000" cy="5867400"/>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About Us Page</a:t>
            </a:r>
            <a:endParaRPr lang="en-US" sz="2800" b="1" dirty="0">
              <a:latin typeface="Times New Roman" pitchFamily="18" charset="0"/>
              <a:cs typeface="Times New Roman" pitchFamily="18" charset="0"/>
            </a:endParaRPr>
          </a:p>
        </p:txBody>
      </p:sp>
      <p:pic>
        <p:nvPicPr>
          <p:cNvPr id="28674" name="Picture 2" descr="C:\Users\A\Pictures\Screenshots\About-1.png"/>
          <p:cNvPicPr>
            <a:picLocks noChangeAspect="1" noChangeArrowheads="1"/>
          </p:cNvPicPr>
          <p:nvPr/>
        </p:nvPicPr>
        <p:blipFill>
          <a:blip r:embed="rId2" cstate="print"/>
          <a:srcRect/>
          <a:stretch>
            <a:fillRect/>
          </a:stretch>
        </p:blipFill>
        <p:spPr bwMode="auto">
          <a:xfrm>
            <a:off x="0" y="620688"/>
            <a:ext cx="9144000" cy="6237312"/>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Contact Us Page</a:t>
            </a:r>
            <a:endParaRPr lang="en-US" sz="2800" b="1" dirty="0">
              <a:latin typeface="Times New Roman" pitchFamily="18" charset="0"/>
              <a:cs typeface="Times New Roman" pitchFamily="18" charset="0"/>
            </a:endParaRPr>
          </a:p>
        </p:txBody>
      </p:sp>
      <p:pic>
        <p:nvPicPr>
          <p:cNvPr id="27650" name="Picture 2" descr="C:\Users\A\Pictures\Screenshots\Contact Page.png"/>
          <p:cNvPicPr>
            <a:picLocks noChangeAspect="1" noChangeArrowheads="1"/>
          </p:cNvPicPr>
          <p:nvPr/>
        </p:nvPicPr>
        <p:blipFill>
          <a:blip r:embed="rId2" cstate="print"/>
          <a:srcRect/>
          <a:stretch>
            <a:fillRect/>
          </a:stretch>
        </p:blipFill>
        <p:spPr bwMode="auto">
          <a:xfrm>
            <a:off x="0" y="548680"/>
            <a:ext cx="9144000" cy="600075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Organizer Dashboard</a:t>
            </a:r>
            <a:endParaRPr lang="en-US" sz="2800" b="1" dirty="0">
              <a:latin typeface="Times New Roman" pitchFamily="18" charset="0"/>
              <a:cs typeface="Times New Roman" pitchFamily="18" charset="0"/>
            </a:endParaRPr>
          </a:p>
        </p:txBody>
      </p:sp>
      <p:pic>
        <p:nvPicPr>
          <p:cNvPr id="15362" name="Picture 2" descr="C:\Users\A\Pictures\Screenshots\Organizer Dashboard.png"/>
          <p:cNvPicPr>
            <a:picLocks noChangeAspect="1" noChangeArrowheads="1"/>
          </p:cNvPicPr>
          <p:nvPr/>
        </p:nvPicPr>
        <p:blipFill>
          <a:blip r:embed="rId2" cstate="print"/>
          <a:srcRect/>
          <a:stretch>
            <a:fillRect/>
          </a:stretch>
        </p:blipFill>
        <p:spPr bwMode="auto">
          <a:xfrm>
            <a:off x="0" y="628650"/>
            <a:ext cx="9144000" cy="56007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Create Event Page</a:t>
            </a:r>
            <a:endParaRPr lang="en-US" sz="2800" b="1" dirty="0">
              <a:latin typeface="Times New Roman" pitchFamily="18" charset="0"/>
              <a:cs typeface="Times New Roman" pitchFamily="18" charset="0"/>
            </a:endParaRPr>
          </a:p>
        </p:txBody>
      </p:sp>
      <p:pic>
        <p:nvPicPr>
          <p:cNvPr id="16386" name="Picture 2" descr="C:\Users\A\Pictures\Screenshots\Create Event Page.png"/>
          <p:cNvPicPr>
            <a:picLocks noChangeAspect="1" noChangeArrowheads="1"/>
          </p:cNvPicPr>
          <p:nvPr/>
        </p:nvPicPr>
        <p:blipFill>
          <a:blip r:embed="rId2" cstate="print"/>
          <a:srcRect/>
          <a:stretch>
            <a:fillRect/>
          </a:stretch>
        </p:blipFill>
        <p:spPr bwMode="auto">
          <a:xfrm>
            <a:off x="0" y="620688"/>
            <a:ext cx="9144000" cy="5954713"/>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Organizer Event List Page</a:t>
            </a:r>
            <a:endParaRPr lang="en-US" sz="2800" b="1" dirty="0">
              <a:latin typeface="Times New Roman" pitchFamily="18" charset="0"/>
              <a:cs typeface="Times New Roman" pitchFamily="18" charset="0"/>
            </a:endParaRPr>
          </a:p>
        </p:txBody>
      </p:sp>
      <p:pic>
        <p:nvPicPr>
          <p:cNvPr id="26626" name="Picture 2" descr="C:\Users\A\Pictures\Screenshots\Event List Page.png"/>
          <p:cNvPicPr>
            <a:picLocks noChangeAspect="1" noChangeArrowheads="1"/>
          </p:cNvPicPr>
          <p:nvPr/>
        </p:nvPicPr>
        <p:blipFill>
          <a:blip r:embed="rId2" cstate="print"/>
          <a:srcRect/>
          <a:stretch>
            <a:fillRect/>
          </a:stretch>
        </p:blipFill>
        <p:spPr bwMode="auto">
          <a:xfrm>
            <a:off x="0" y="620688"/>
            <a:ext cx="9144000" cy="5840413"/>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Organizer Analytics Page</a:t>
            </a:r>
            <a:endParaRPr lang="en-US" sz="2800" b="1" dirty="0">
              <a:latin typeface="Times New Roman" pitchFamily="18" charset="0"/>
              <a:cs typeface="Times New Roman" pitchFamily="18" charset="0"/>
            </a:endParaRPr>
          </a:p>
        </p:txBody>
      </p:sp>
      <p:pic>
        <p:nvPicPr>
          <p:cNvPr id="17410" name="Picture 2" descr="C:\Users\A\Pictures\Screenshots\Organizer Analytics Page.png"/>
          <p:cNvPicPr>
            <a:picLocks noChangeAspect="1" noChangeArrowheads="1"/>
          </p:cNvPicPr>
          <p:nvPr/>
        </p:nvPicPr>
        <p:blipFill>
          <a:blip r:embed="rId2" cstate="print"/>
          <a:srcRect/>
          <a:stretch>
            <a:fillRect/>
          </a:stretch>
        </p:blipFill>
        <p:spPr bwMode="auto">
          <a:xfrm>
            <a:off x="0" y="612923"/>
            <a:ext cx="9143999" cy="5840413"/>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Event Attendees Details</a:t>
            </a:r>
            <a:endParaRPr lang="en-US" sz="2800" b="1" dirty="0">
              <a:latin typeface="Times New Roman" pitchFamily="18" charset="0"/>
              <a:cs typeface="Times New Roman" pitchFamily="18" charset="0"/>
            </a:endParaRPr>
          </a:p>
        </p:txBody>
      </p:sp>
      <p:pic>
        <p:nvPicPr>
          <p:cNvPr id="18434" name="Picture 2" descr="C:\Users\A\Pictures\Screenshots\Event Attendes Details.png"/>
          <p:cNvPicPr>
            <a:picLocks noChangeAspect="1" noChangeArrowheads="1"/>
          </p:cNvPicPr>
          <p:nvPr/>
        </p:nvPicPr>
        <p:blipFill>
          <a:blip r:embed="rId2" cstate="print"/>
          <a:srcRect/>
          <a:stretch>
            <a:fillRect/>
          </a:stretch>
        </p:blipFill>
        <p:spPr bwMode="auto">
          <a:xfrm>
            <a:off x="0" y="620688"/>
            <a:ext cx="9144000" cy="6010275"/>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Admin Dashboard</a:t>
            </a:r>
            <a:endParaRPr lang="en-US" sz="2800" b="1" dirty="0">
              <a:latin typeface="Times New Roman" pitchFamily="18" charset="0"/>
              <a:cs typeface="Times New Roman" pitchFamily="18" charset="0"/>
            </a:endParaRPr>
          </a:p>
        </p:txBody>
      </p:sp>
      <p:pic>
        <p:nvPicPr>
          <p:cNvPr id="19458" name="Picture 2" descr="C:\Users\A\Pictures\Screenshots\Admin Dashbaord.png"/>
          <p:cNvPicPr>
            <a:picLocks noChangeAspect="1" noChangeArrowheads="1"/>
          </p:cNvPicPr>
          <p:nvPr/>
        </p:nvPicPr>
        <p:blipFill>
          <a:blip r:embed="rId2" cstate="print"/>
          <a:srcRect/>
          <a:stretch>
            <a:fillRect/>
          </a:stretch>
        </p:blipFill>
        <p:spPr bwMode="auto">
          <a:xfrm>
            <a:off x="0" y="548680"/>
            <a:ext cx="9144000" cy="5328591"/>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Add Categories Page</a:t>
            </a:r>
            <a:endParaRPr lang="en-US" sz="2800" b="1" dirty="0">
              <a:latin typeface="Times New Roman" pitchFamily="18" charset="0"/>
              <a:cs typeface="Times New Roman" pitchFamily="18" charset="0"/>
            </a:endParaRPr>
          </a:p>
        </p:txBody>
      </p:sp>
      <p:pic>
        <p:nvPicPr>
          <p:cNvPr id="29698" name="Picture 2" descr="C:\Users\A\Pictures\Screenshots\Add Categories.png"/>
          <p:cNvPicPr>
            <a:picLocks noChangeAspect="1" noChangeArrowheads="1"/>
          </p:cNvPicPr>
          <p:nvPr/>
        </p:nvPicPr>
        <p:blipFill>
          <a:blip r:embed="rId2" cstate="print"/>
          <a:srcRect/>
          <a:stretch>
            <a:fillRect/>
          </a:stretch>
        </p:blipFill>
        <p:spPr bwMode="auto">
          <a:xfrm>
            <a:off x="0" y="620688"/>
            <a:ext cx="9144000" cy="5934075"/>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Manage Events</a:t>
            </a:r>
            <a:endParaRPr lang="en-US" sz="2800" b="1" dirty="0">
              <a:latin typeface="Times New Roman" pitchFamily="18" charset="0"/>
              <a:cs typeface="Times New Roman" pitchFamily="18" charset="0"/>
            </a:endParaRPr>
          </a:p>
        </p:txBody>
      </p:sp>
      <p:pic>
        <p:nvPicPr>
          <p:cNvPr id="20482" name="Picture 2" descr="C:\Users\A\Pictures\Screenshots\Manage Events.png"/>
          <p:cNvPicPr>
            <a:picLocks noChangeAspect="1" noChangeArrowheads="1"/>
          </p:cNvPicPr>
          <p:nvPr/>
        </p:nvPicPr>
        <p:blipFill>
          <a:blip r:embed="rId2" cstate="print"/>
          <a:srcRect/>
          <a:stretch>
            <a:fillRect/>
          </a:stretch>
        </p:blipFill>
        <p:spPr bwMode="auto">
          <a:xfrm>
            <a:off x="-19050" y="534119"/>
            <a:ext cx="9163050" cy="5991225"/>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Manage Event Registrations</a:t>
            </a:r>
            <a:endParaRPr lang="en-US" sz="2800" b="1" dirty="0">
              <a:latin typeface="Times New Roman" pitchFamily="18" charset="0"/>
              <a:cs typeface="Times New Roman" pitchFamily="18" charset="0"/>
            </a:endParaRPr>
          </a:p>
        </p:txBody>
      </p:sp>
      <p:pic>
        <p:nvPicPr>
          <p:cNvPr id="21506" name="Picture 2" descr="C:\Users\A\Pictures\Screenshots\Manage Registrations.png"/>
          <p:cNvPicPr>
            <a:picLocks noChangeAspect="1" noChangeArrowheads="1"/>
          </p:cNvPicPr>
          <p:nvPr/>
        </p:nvPicPr>
        <p:blipFill>
          <a:blip r:embed="rId2" cstate="print"/>
          <a:srcRect/>
          <a:stretch>
            <a:fillRect/>
          </a:stretch>
        </p:blipFill>
        <p:spPr bwMode="auto">
          <a:xfrm>
            <a:off x="0" y="692696"/>
            <a:ext cx="9144000" cy="5886450"/>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View Booking History</a:t>
            </a:r>
            <a:endParaRPr lang="en-US" sz="2800" b="1" dirty="0">
              <a:latin typeface="Times New Roman" pitchFamily="18" charset="0"/>
              <a:cs typeface="Times New Roman" pitchFamily="18" charset="0"/>
            </a:endParaRPr>
          </a:p>
        </p:txBody>
      </p:sp>
      <p:pic>
        <p:nvPicPr>
          <p:cNvPr id="22530" name="Picture 2" descr="C:\Users\A\Pictures\Screenshots\View Booking.png"/>
          <p:cNvPicPr>
            <a:picLocks noChangeAspect="1" noChangeArrowheads="1"/>
          </p:cNvPicPr>
          <p:nvPr/>
        </p:nvPicPr>
        <p:blipFill>
          <a:blip r:embed="rId2" cstate="print"/>
          <a:srcRect/>
          <a:stretch>
            <a:fillRect/>
          </a:stretch>
        </p:blipFill>
        <p:spPr bwMode="auto">
          <a:xfrm>
            <a:off x="0" y="620688"/>
            <a:ext cx="9144000" cy="5916613"/>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smtClean="0">
                <a:latin typeface="Times New Roman" pitchFamily="18" charset="0"/>
                <a:cs typeface="Times New Roman" pitchFamily="18" charset="0"/>
              </a:rPr>
              <a:t>View User Messages</a:t>
            </a:r>
            <a:endParaRPr lang="en-US" sz="2800" b="1" dirty="0">
              <a:latin typeface="Times New Roman" pitchFamily="18" charset="0"/>
              <a:cs typeface="Times New Roman" pitchFamily="18" charset="0"/>
            </a:endParaRPr>
          </a:p>
        </p:txBody>
      </p:sp>
      <p:pic>
        <p:nvPicPr>
          <p:cNvPr id="23554" name="Picture 2" descr="C:\Users\A\Pictures\Screenshots\View Message.png"/>
          <p:cNvPicPr>
            <a:picLocks noChangeAspect="1" noChangeArrowheads="1"/>
          </p:cNvPicPr>
          <p:nvPr/>
        </p:nvPicPr>
        <p:blipFill>
          <a:blip r:embed="rId2" cstate="print"/>
          <a:srcRect/>
          <a:stretch>
            <a:fillRect/>
          </a:stretch>
        </p:blipFill>
        <p:spPr bwMode="auto">
          <a:xfrm>
            <a:off x="0" y="620688"/>
            <a:ext cx="9144000" cy="5886450"/>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View Reviews Page</a:t>
            </a:r>
            <a:endParaRPr lang="en-US" sz="2800" b="1" dirty="0">
              <a:latin typeface="Times New Roman" pitchFamily="18" charset="0"/>
              <a:cs typeface="Times New Roman" pitchFamily="18" charset="0"/>
            </a:endParaRPr>
          </a:p>
        </p:txBody>
      </p:sp>
      <p:pic>
        <p:nvPicPr>
          <p:cNvPr id="24578" name="Picture 2" descr="C:\Users\A\Pictures\Screenshots\View Review Details.png"/>
          <p:cNvPicPr>
            <a:picLocks noChangeAspect="1" noChangeArrowheads="1"/>
          </p:cNvPicPr>
          <p:nvPr/>
        </p:nvPicPr>
        <p:blipFill>
          <a:blip r:embed="rId2" cstate="print"/>
          <a:srcRect/>
          <a:stretch>
            <a:fillRect/>
          </a:stretch>
        </p:blipFill>
        <p:spPr bwMode="auto">
          <a:xfrm>
            <a:off x="0" y="692696"/>
            <a:ext cx="9144000" cy="5800725"/>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Monthly Event Report</a:t>
            </a:r>
            <a:endParaRPr lang="en-US" sz="2800" b="1" dirty="0">
              <a:latin typeface="Times New Roman" pitchFamily="18" charset="0"/>
              <a:cs typeface="Times New Roman" pitchFamily="18" charset="0"/>
            </a:endParaRPr>
          </a:p>
        </p:txBody>
      </p:sp>
      <p:pic>
        <p:nvPicPr>
          <p:cNvPr id="30722" name="Picture 2" descr="C:\Users\A\Pictures\Screenshots\Monthly Reports.png"/>
          <p:cNvPicPr>
            <a:picLocks noChangeAspect="1" noChangeArrowheads="1"/>
          </p:cNvPicPr>
          <p:nvPr/>
        </p:nvPicPr>
        <p:blipFill>
          <a:blip r:embed="rId2" cstate="print"/>
          <a:srcRect/>
          <a:stretch>
            <a:fillRect/>
          </a:stretch>
        </p:blipFill>
        <p:spPr bwMode="auto">
          <a:xfrm>
            <a:off x="0" y="637307"/>
            <a:ext cx="9144000" cy="5888037"/>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Yearly Event Report</a:t>
            </a:r>
            <a:endParaRPr lang="en-US" sz="2800" b="1" dirty="0">
              <a:latin typeface="Times New Roman" pitchFamily="18" charset="0"/>
              <a:cs typeface="Times New Roman" pitchFamily="18" charset="0"/>
            </a:endParaRPr>
          </a:p>
        </p:txBody>
      </p:sp>
      <p:pic>
        <p:nvPicPr>
          <p:cNvPr id="31746" name="Picture 2" descr="C:\Users\A\Pictures\Screenshots\Yearly Report.png"/>
          <p:cNvPicPr>
            <a:picLocks noChangeAspect="1" noChangeArrowheads="1"/>
          </p:cNvPicPr>
          <p:nvPr/>
        </p:nvPicPr>
        <p:blipFill>
          <a:blip r:embed="rId2" cstate="print"/>
          <a:srcRect/>
          <a:stretch>
            <a:fillRect/>
          </a:stretch>
        </p:blipFill>
        <p:spPr bwMode="auto">
          <a:xfrm>
            <a:off x="0" y="757239"/>
            <a:ext cx="9144000" cy="4471962"/>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0"/>
            <a:r>
              <a:rPr lang="en-US" sz="2200" dirty="0" smtClean="0">
                <a:latin typeface="Times New Roman" pitchFamily="18" charset="0"/>
                <a:cs typeface="Times New Roman" pitchFamily="18" charset="0"/>
              </a:rPr>
              <a:t>Requires a stable internet connection</a:t>
            </a:r>
          </a:p>
          <a:p>
            <a:pPr lvl="0"/>
            <a:r>
              <a:rPr lang="en-US" sz="2200" dirty="0" smtClean="0">
                <a:latin typeface="Times New Roman" pitchFamily="18" charset="0"/>
                <a:cs typeface="Times New Roman" pitchFamily="18" charset="0"/>
              </a:rPr>
              <a:t>Limited payment gateway support (only Razorpay)</a:t>
            </a:r>
          </a:p>
          <a:p>
            <a:pPr lvl="0"/>
            <a:r>
              <a:rPr lang="en-US" sz="2200" dirty="0" smtClean="0">
                <a:latin typeface="Times New Roman" pitchFamily="18" charset="0"/>
                <a:cs typeface="Times New Roman" pitchFamily="18" charset="0"/>
              </a:rPr>
              <a:t>No mobile application (only web-based system)</a:t>
            </a:r>
          </a:p>
          <a:p>
            <a:pPr lvl="0"/>
            <a:r>
              <a:rPr lang="en-US" sz="2200" dirty="0" smtClean="0">
                <a:latin typeface="Times New Roman" pitchFamily="18" charset="0"/>
                <a:cs typeface="Times New Roman" pitchFamily="18" charset="0"/>
              </a:rPr>
              <a:t> Limited scalability for very large number of users/events</a:t>
            </a:r>
          </a:p>
          <a:p>
            <a:pPr lvl="0"/>
            <a:r>
              <a:rPr lang="en-US" sz="2200" dirty="0" smtClean="0">
                <a:latin typeface="Times New Roman" pitchFamily="18" charset="0"/>
                <a:cs typeface="Times New Roman" pitchFamily="18" charset="0"/>
              </a:rPr>
              <a:t>Basic security features (can be enhanced further)</a:t>
            </a:r>
          </a:p>
          <a:p>
            <a:pPr lvl="0"/>
            <a:r>
              <a:rPr lang="en-US" sz="2200" dirty="0" smtClean="0">
                <a:latin typeface="Times New Roman" pitchFamily="18" charset="0"/>
                <a:cs typeface="Times New Roman" pitchFamily="18" charset="0"/>
              </a:rPr>
              <a:t>Dependency on server and notification service availability (FCM</a:t>
            </a:r>
            <a:r>
              <a:rPr lang="en-US" sz="2200" dirty="0" smtClean="0">
                <a:latin typeface="Times New Roman" pitchFamily="18" charset="0"/>
                <a:cs typeface="Times New Roman" pitchFamily="18" charset="0"/>
              </a:rPr>
              <a:t>)</a:t>
            </a:r>
            <a:endParaRPr lang="en-US" sz="2200" dirty="0" smtClean="0">
              <a:latin typeface="Times New Roman" pitchFamily="18" charset="0"/>
              <a:cs typeface="Times New Roman" pitchFamily="18" charset="0"/>
            </a:endParaRPr>
          </a:p>
        </p:txBody>
      </p:sp>
      <p:sp>
        <p:nvSpPr>
          <p:cNvPr id="3" name="Title 2"/>
          <p:cNvSpPr>
            <a:spLocks noGrp="1"/>
          </p:cNvSpPr>
          <p:nvPr>
            <p:ph type="title"/>
          </p:nvPr>
        </p:nvSpPr>
        <p:spPr>
          <a:xfrm>
            <a:off x="395536" y="0"/>
            <a:ext cx="8229600" cy="1143000"/>
          </a:xfrm>
        </p:spPr>
        <p:txBody>
          <a:bodyPr>
            <a:normAutofit/>
          </a:bodyPr>
          <a:lstStyle/>
          <a:p>
            <a:pPr algn="ctr"/>
            <a:r>
              <a:rPr lang="en-IN" sz="4000" dirty="0" smtClean="0">
                <a:latin typeface="Times New Roman" pitchFamily="18" charset="0"/>
                <a:cs typeface="Times New Roman" pitchFamily="18" charset="0"/>
              </a:rPr>
              <a:t>Limitations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0"/>
            <a:r>
              <a:rPr lang="en-US" sz="2200" dirty="0" smtClean="0">
                <a:latin typeface="Times New Roman" pitchFamily="18" charset="0"/>
                <a:cs typeface="Times New Roman" pitchFamily="18" charset="0"/>
              </a:rPr>
              <a:t>Develop a </a:t>
            </a:r>
            <a:r>
              <a:rPr lang="en-US" sz="2200" b="1" dirty="0" smtClean="0">
                <a:latin typeface="Times New Roman" pitchFamily="18" charset="0"/>
                <a:cs typeface="Times New Roman" pitchFamily="18" charset="0"/>
              </a:rPr>
              <a:t>mobile application (Android/iOS)</a:t>
            </a:r>
            <a:endParaRPr lang="en-US" sz="2200" dirty="0" smtClean="0">
              <a:latin typeface="Times New Roman" pitchFamily="18" charset="0"/>
              <a:cs typeface="Times New Roman" pitchFamily="18" charset="0"/>
            </a:endParaRPr>
          </a:p>
          <a:p>
            <a:pPr lvl="0"/>
            <a:r>
              <a:rPr lang="en-US" sz="2200" dirty="0" smtClean="0">
                <a:latin typeface="Times New Roman" pitchFamily="18" charset="0"/>
                <a:cs typeface="Times New Roman" pitchFamily="18" charset="0"/>
              </a:rPr>
              <a:t>Add </a:t>
            </a:r>
            <a:r>
              <a:rPr lang="en-US" sz="2200" b="1" dirty="0" smtClean="0">
                <a:latin typeface="Times New Roman" pitchFamily="18" charset="0"/>
                <a:cs typeface="Times New Roman" pitchFamily="18" charset="0"/>
              </a:rPr>
              <a:t>multiple payment gateways</a:t>
            </a:r>
            <a:r>
              <a:rPr lang="en-US" sz="2200" dirty="0" smtClean="0">
                <a:latin typeface="Times New Roman" pitchFamily="18" charset="0"/>
                <a:cs typeface="Times New Roman" pitchFamily="18" charset="0"/>
              </a:rPr>
              <a:t> (UPI, PayPal, etc.)</a:t>
            </a:r>
          </a:p>
          <a:p>
            <a:pPr lvl="0"/>
            <a:r>
              <a:rPr lang="en-US" sz="2200" dirty="0" smtClean="0">
                <a:latin typeface="Times New Roman" pitchFamily="18" charset="0"/>
                <a:cs typeface="Times New Roman" pitchFamily="18" charset="0"/>
              </a:rPr>
              <a:t>Implement </a:t>
            </a:r>
            <a:r>
              <a:rPr lang="en-US" sz="2200" b="1" dirty="0" smtClean="0">
                <a:latin typeface="Times New Roman" pitchFamily="18" charset="0"/>
                <a:cs typeface="Times New Roman" pitchFamily="18" charset="0"/>
              </a:rPr>
              <a:t>real-time notifications</a:t>
            </a:r>
            <a:r>
              <a:rPr lang="en-US" sz="2200" dirty="0" smtClean="0">
                <a:latin typeface="Times New Roman" pitchFamily="18" charset="0"/>
                <a:cs typeface="Times New Roman" pitchFamily="18" charset="0"/>
              </a:rPr>
              <a:t> (Email/SMS)</a:t>
            </a:r>
          </a:p>
          <a:p>
            <a:pPr lvl="0"/>
            <a:r>
              <a:rPr lang="en-US" sz="2200" dirty="0" smtClean="0">
                <a:latin typeface="Times New Roman" pitchFamily="18" charset="0"/>
                <a:cs typeface="Times New Roman" pitchFamily="18" charset="0"/>
              </a:rPr>
              <a:t>Add </a:t>
            </a:r>
            <a:r>
              <a:rPr lang="en-US" sz="2200" b="1" dirty="0" smtClean="0">
                <a:latin typeface="Times New Roman" pitchFamily="18" charset="0"/>
                <a:cs typeface="Times New Roman" pitchFamily="18" charset="0"/>
              </a:rPr>
              <a:t>AI-based event recommendations</a:t>
            </a:r>
            <a:endParaRPr lang="en-US" sz="2200" dirty="0" smtClean="0">
              <a:latin typeface="Times New Roman" pitchFamily="18" charset="0"/>
              <a:cs typeface="Times New Roman" pitchFamily="18" charset="0"/>
            </a:endParaRPr>
          </a:p>
          <a:p>
            <a:pPr lvl="0"/>
            <a:r>
              <a:rPr lang="en-US" sz="2200" dirty="0" smtClean="0">
                <a:latin typeface="Times New Roman" pitchFamily="18" charset="0"/>
                <a:cs typeface="Times New Roman" pitchFamily="18" charset="0"/>
              </a:rPr>
              <a:t>Introduce </a:t>
            </a:r>
            <a:r>
              <a:rPr lang="en-US" sz="2200" b="1" dirty="0" smtClean="0">
                <a:latin typeface="Times New Roman" pitchFamily="18" charset="0"/>
                <a:cs typeface="Times New Roman" pitchFamily="18" charset="0"/>
              </a:rPr>
              <a:t>live chat support</a:t>
            </a:r>
            <a:endParaRPr lang="en-US" sz="2200" dirty="0" smtClean="0">
              <a:latin typeface="Times New Roman" pitchFamily="18" charset="0"/>
              <a:cs typeface="Times New Roman" pitchFamily="18" charset="0"/>
            </a:endParaRPr>
          </a:p>
          <a:p>
            <a:pPr lvl="0"/>
            <a:r>
              <a:rPr lang="en-US" sz="2200" dirty="0" smtClean="0">
                <a:latin typeface="Times New Roman" pitchFamily="18" charset="0"/>
                <a:cs typeface="Times New Roman" pitchFamily="18" charset="0"/>
              </a:rPr>
              <a:t>Enhance </a:t>
            </a:r>
            <a:r>
              <a:rPr lang="en-US" sz="2200" b="1" dirty="0" smtClean="0">
                <a:latin typeface="Times New Roman" pitchFamily="18" charset="0"/>
                <a:cs typeface="Times New Roman" pitchFamily="18" charset="0"/>
              </a:rPr>
              <a:t>security features</a:t>
            </a:r>
            <a:r>
              <a:rPr lang="en-US" sz="2200" dirty="0" smtClean="0">
                <a:latin typeface="Times New Roman" pitchFamily="18" charset="0"/>
                <a:cs typeface="Times New Roman" pitchFamily="18" charset="0"/>
              </a:rPr>
              <a:t> (OTP, 2FA authentication)</a:t>
            </a:r>
          </a:p>
          <a:p>
            <a:pPr lvl="0"/>
            <a:r>
              <a:rPr lang="en-US" sz="2200" dirty="0" smtClean="0">
                <a:latin typeface="Times New Roman" pitchFamily="18" charset="0"/>
                <a:cs typeface="Times New Roman" pitchFamily="18" charset="0"/>
              </a:rPr>
              <a:t>Add </a:t>
            </a:r>
            <a:r>
              <a:rPr lang="en-US" sz="2200" b="1" dirty="0" smtClean="0">
                <a:latin typeface="Times New Roman" pitchFamily="18" charset="0"/>
                <a:cs typeface="Times New Roman" pitchFamily="18" charset="0"/>
              </a:rPr>
              <a:t>advanced analytics dashboard</a:t>
            </a:r>
            <a:endParaRPr lang="en-US" sz="2200" dirty="0" smtClean="0">
              <a:latin typeface="Times New Roman" pitchFamily="18" charset="0"/>
              <a:cs typeface="Times New Roman" pitchFamily="18" charset="0"/>
            </a:endParaRPr>
          </a:p>
          <a:p>
            <a:pPr lvl="0"/>
            <a:r>
              <a:rPr lang="en-US" sz="2200" dirty="0" smtClean="0">
                <a:latin typeface="Times New Roman" pitchFamily="18" charset="0"/>
                <a:cs typeface="Times New Roman" pitchFamily="18" charset="0"/>
              </a:rPr>
              <a:t>Enable </a:t>
            </a:r>
            <a:r>
              <a:rPr lang="en-US" sz="2200" b="1" dirty="0" smtClean="0">
                <a:latin typeface="Times New Roman" pitchFamily="18" charset="0"/>
                <a:cs typeface="Times New Roman" pitchFamily="18" charset="0"/>
              </a:rPr>
              <a:t>multi-language support</a:t>
            </a:r>
            <a:endParaRPr lang="en-US" sz="2200" dirty="0" smtClean="0">
              <a:latin typeface="Times New Roman" pitchFamily="18" charset="0"/>
              <a:cs typeface="Times New Roman" pitchFamily="18" charset="0"/>
            </a:endParaRPr>
          </a:p>
          <a:p>
            <a:pPr lvl="0"/>
            <a:r>
              <a:rPr lang="en-US" sz="2200" dirty="0" smtClean="0">
                <a:latin typeface="Times New Roman" pitchFamily="18" charset="0"/>
                <a:cs typeface="Times New Roman" pitchFamily="18" charset="0"/>
              </a:rPr>
              <a:t>Improve scalability using cloud deployment</a:t>
            </a:r>
          </a:p>
          <a:p>
            <a:endParaRPr lang="en-US" dirty="0"/>
          </a:p>
        </p:txBody>
      </p:sp>
      <p:sp>
        <p:nvSpPr>
          <p:cNvPr id="3" name="Title 2"/>
          <p:cNvSpPr>
            <a:spLocks noGrp="1"/>
          </p:cNvSpPr>
          <p:nvPr>
            <p:ph type="title"/>
          </p:nvPr>
        </p:nvSpPr>
        <p:spPr>
          <a:xfrm>
            <a:off x="395536" y="0"/>
            <a:ext cx="8229600" cy="1143000"/>
          </a:xfrm>
        </p:spPr>
        <p:txBody>
          <a:bodyPr>
            <a:normAutofit/>
          </a:bodyPr>
          <a:lstStyle/>
          <a:p>
            <a:pPr algn="ctr"/>
            <a:r>
              <a:rPr lang="en-IN" sz="4000" dirty="0" smtClean="0">
                <a:latin typeface="Times New Roman" pitchFamily="18" charset="0"/>
                <a:cs typeface="Times New Roman" pitchFamily="18" charset="0"/>
              </a:rPr>
              <a:t>Future Enhancements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0"/>
            <a:r>
              <a:rPr lang="en-US" sz="2200" dirty="0" smtClean="0">
                <a:latin typeface="Times New Roman" pitchFamily="18" charset="0"/>
                <a:cs typeface="Times New Roman" pitchFamily="18" charset="0"/>
              </a:rPr>
              <a:t>ReactJS Official Documentation</a:t>
            </a:r>
          </a:p>
          <a:p>
            <a:pPr lvl="0"/>
            <a:r>
              <a:rPr lang="en-US" sz="2200" dirty="0" smtClean="0">
                <a:latin typeface="Times New Roman" pitchFamily="18" charset="0"/>
                <a:cs typeface="Times New Roman" pitchFamily="18" charset="0"/>
              </a:rPr>
              <a:t>PHP Documentation</a:t>
            </a:r>
          </a:p>
          <a:p>
            <a:pPr lvl="0"/>
            <a:r>
              <a:rPr lang="en-US" sz="2200" dirty="0" smtClean="0">
                <a:latin typeface="Times New Roman" pitchFamily="18" charset="0"/>
                <a:cs typeface="Times New Roman" pitchFamily="18" charset="0"/>
              </a:rPr>
              <a:t>FPDF Documentation for PDF generate</a:t>
            </a:r>
          </a:p>
          <a:p>
            <a:pPr lvl="0"/>
            <a:r>
              <a:rPr lang="en-US" sz="2200" dirty="0" smtClean="0">
                <a:latin typeface="Times New Roman" pitchFamily="18" charset="0"/>
                <a:cs typeface="Times New Roman" pitchFamily="18" charset="0"/>
              </a:rPr>
              <a:t>Razorpay Payment Gateway Documentation</a:t>
            </a:r>
          </a:p>
          <a:p>
            <a:pPr lvl="0"/>
            <a:r>
              <a:rPr lang="en-US" sz="2200" dirty="0" smtClean="0">
                <a:latin typeface="Times New Roman" pitchFamily="18" charset="0"/>
                <a:cs typeface="Times New Roman" pitchFamily="18" charset="0"/>
              </a:rPr>
              <a:t>Firebase Cloud Messaging (FCM) Documentation</a:t>
            </a:r>
          </a:p>
          <a:p>
            <a:pPr lvl="0"/>
            <a:r>
              <a:rPr lang="en-US" sz="2200" dirty="0" smtClean="0">
                <a:latin typeface="Times New Roman" pitchFamily="18" charset="0"/>
                <a:cs typeface="Times New Roman" pitchFamily="18" charset="0"/>
              </a:rPr>
              <a:t>Online tutorials and learning resources</a:t>
            </a:r>
          </a:p>
          <a:p>
            <a:pPr lvl="0"/>
            <a:r>
              <a:rPr lang="en-IN" sz="2200" dirty="0" smtClean="0">
                <a:latin typeface="Times New Roman" pitchFamily="18" charset="0"/>
                <a:cs typeface="Times New Roman" pitchFamily="18" charset="0"/>
                <a:hlinkClick r:id="rId2"/>
              </a:rPr>
              <a:t>https://www.w3schools.com</a:t>
            </a:r>
            <a:r>
              <a:rPr lang="en-IN" sz="2200" dirty="0" smtClean="0">
                <a:latin typeface="Times New Roman" pitchFamily="18" charset="0"/>
                <a:cs typeface="Times New Roman" pitchFamily="18" charset="0"/>
                <a:hlinkClick r:id="rId2"/>
              </a:rPr>
              <a:t>/</a:t>
            </a:r>
            <a:endParaRPr lang="en-IN" sz="2200" dirty="0" smtClean="0">
              <a:latin typeface="Times New Roman" pitchFamily="18" charset="0"/>
              <a:cs typeface="Times New Roman" pitchFamily="18" charset="0"/>
            </a:endParaRPr>
          </a:p>
          <a:p>
            <a:pPr lvl="0"/>
            <a:r>
              <a:rPr lang="en-US" sz="2200" u="sng" dirty="0" smtClean="0">
                <a:latin typeface="Times New Roman" pitchFamily="18" charset="0"/>
                <a:cs typeface="Times New Roman" pitchFamily="18" charset="0"/>
                <a:hlinkClick r:id="rId3"/>
              </a:rPr>
              <a:t>https</a:t>
            </a:r>
            <a:r>
              <a:rPr lang="en-US" sz="2200" u="sng" dirty="0" smtClean="0">
                <a:latin typeface="Times New Roman" pitchFamily="18" charset="0"/>
                <a:cs typeface="Times New Roman" pitchFamily="18" charset="0"/>
                <a:hlinkClick r:id="rId3"/>
              </a:rPr>
              <a:t>://</a:t>
            </a:r>
            <a:r>
              <a:rPr lang="en-US" sz="2200" u="sng" dirty="0" smtClean="0">
                <a:latin typeface="Times New Roman" pitchFamily="18" charset="0"/>
                <a:cs typeface="Times New Roman" pitchFamily="18" charset="0"/>
                <a:hlinkClick r:id="rId3"/>
              </a:rPr>
              <a:t>getbootstrap.com</a:t>
            </a:r>
            <a:endParaRPr lang="en-US" sz="2200" dirty="0" smtClean="0">
              <a:latin typeface="Times New Roman" pitchFamily="18" charset="0"/>
              <a:cs typeface="Times New Roman" pitchFamily="18" charset="0"/>
            </a:endParaRPr>
          </a:p>
        </p:txBody>
      </p:sp>
      <p:sp>
        <p:nvSpPr>
          <p:cNvPr id="3" name="Title 2"/>
          <p:cNvSpPr>
            <a:spLocks noGrp="1"/>
          </p:cNvSpPr>
          <p:nvPr>
            <p:ph type="title"/>
          </p:nvPr>
        </p:nvSpPr>
        <p:spPr>
          <a:xfrm>
            <a:off x="467544" y="0"/>
            <a:ext cx="8229600" cy="1143000"/>
          </a:xfrm>
        </p:spPr>
        <p:txBody>
          <a:bodyPr>
            <a:normAutofit/>
          </a:bodyPr>
          <a:lstStyle/>
          <a:p>
            <a:pPr algn="ctr"/>
            <a:r>
              <a:rPr lang="en-IN" sz="4000" dirty="0" smtClean="0">
                <a:latin typeface="Times New Roman" pitchFamily="18" charset="0"/>
                <a:cs typeface="Times New Roman" pitchFamily="18" charset="0"/>
              </a:rPr>
              <a:t>References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200" dirty="0" smtClean="0">
                <a:latin typeface="Times New Roman" pitchFamily="18" charset="0"/>
                <a:cs typeface="Times New Roman" pitchFamily="18" charset="0"/>
              </a:rPr>
              <a:t>Event Management System simplifies event </a:t>
            </a:r>
            <a:r>
              <a:rPr lang="en-US" sz="2200" dirty="0" smtClean="0">
                <a:latin typeface="Times New Roman" pitchFamily="18" charset="0"/>
                <a:cs typeface="Times New Roman" pitchFamily="18" charset="0"/>
              </a:rPr>
              <a:t>handling.</a:t>
            </a:r>
          </a:p>
          <a:p>
            <a:r>
              <a:rPr lang="en-US" sz="2200" dirty="0" smtClean="0">
                <a:latin typeface="Times New Roman" pitchFamily="18" charset="0"/>
                <a:cs typeface="Times New Roman" pitchFamily="18" charset="0"/>
              </a:rPr>
              <a:t>Reduces </a:t>
            </a:r>
            <a:r>
              <a:rPr lang="en-US" sz="2200" dirty="0" smtClean="0">
                <a:latin typeface="Times New Roman" pitchFamily="18" charset="0"/>
                <a:cs typeface="Times New Roman" pitchFamily="18" charset="0"/>
              </a:rPr>
              <a:t>manual </a:t>
            </a:r>
            <a:r>
              <a:rPr lang="en-US" sz="2200" dirty="0" smtClean="0">
                <a:latin typeface="Times New Roman" pitchFamily="18" charset="0"/>
                <a:cs typeface="Times New Roman" pitchFamily="18" charset="0"/>
              </a:rPr>
              <a:t>work.</a:t>
            </a:r>
          </a:p>
          <a:p>
            <a:r>
              <a:rPr lang="en-US" sz="22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Provides secure </a:t>
            </a:r>
            <a:r>
              <a:rPr lang="en-US" sz="2200" dirty="0" smtClean="0">
                <a:latin typeface="Times New Roman" pitchFamily="18" charset="0"/>
                <a:cs typeface="Times New Roman" pitchFamily="18" charset="0"/>
              </a:rPr>
              <a:t>platform.</a:t>
            </a:r>
          </a:p>
          <a:p>
            <a:r>
              <a:rPr lang="en-US" sz="22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Easy for Admin, Organizer, and </a:t>
            </a:r>
            <a:r>
              <a:rPr lang="en-US" sz="2200" dirty="0" smtClean="0">
                <a:latin typeface="Times New Roman" pitchFamily="18" charset="0"/>
                <a:cs typeface="Times New Roman" pitchFamily="18" charset="0"/>
              </a:rPr>
              <a:t>Customer.</a:t>
            </a:r>
          </a:p>
          <a:p>
            <a:r>
              <a:rPr lang="en-US" sz="2200" dirty="0" smtClean="0">
                <a:latin typeface="Times New Roman" pitchFamily="18" charset="0"/>
                <a:cs typeface="Times New Roman" pitchFamily="18" charset="0"/>
              </a:rPr>
              <a:t>Improves </a:t>
            </a:r>
            <a:r>
              <a:rPr lang="en-US" sz="2200" dirty="0" smtClean="0">
                <a:latin typeface="Times New Roman" pitchFamily="18" charset="0"/>
                <a:cs typeface="Times New Roman" pitchFamily="18" charset="0"/>
              </a:rPr>
              <a:t>efficiency and </a:t>
            </a:r>
            <a:r>
              <a:rPr lang="en-US" sz="2200" dirty="0" smtClean="0">
                <a:latin typeface="Times New Roman" pitchFamily="18" charset="0"/>
                <a:cs typeface="Times New Roman" pitchFamily="18" charset="0"/>
              </a:rPr>
              <a:t>performance.</a:t>
            </a:r>
            <a:endParaRPr lang="en-US" sz="2200" dirty="0">
              <a:latin typeface="Times New Roman" pitchFamily="18" charset="0"/>
              <a:cs typeface="Times New Roman" pitchFamily="18" charset="0"/>
            </a:endParaRPr>
          </a:p>
        </p:txBody>
      </p:sp>
      <p:sp>
        <p:nvSpPr>
          <p:cNvPr id="3" name="Title 2"/>
          <p:cNvSpPr>
            <a:spLocks noGrp="1"/>
          </p:cNvSpPr>
          <p:nvPr>
            <p:ph type="title"/>
          </p:nvPr>
        </p:nvSpPr>
        <p:spPr>
          <a:xfrm>
            <a:off x="395536" y="0"/>
            <a:ext cx="8229600" cy="1143000"/>
          </a:xfrm>
        </p:spPr>
        <p:txBody>
          <a:bodyPr>
            <a:normAutofit/>
          </a:bodyPr>
          <a:lstStyle/>
          <a:p>
            <a:pPr algn="ctr"/>
            <a:r>
              <a:rPr lang="en-IN" sz="4000" dirty="0" smtClean="0">
                <a:latin typeface="Times New Roman" pitchFamily="18" charset="0"/>
                <a:cs typeface="Times New Roman" pitchFamily="18" charset="0"/>
              </a:rPr>
              <a:t>Conclusion</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Thank You</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430</TotalTime>
  <Words>1760</Words>
  <Application>Microsoft Office PowerPoint</Application>
  <PresentationFormat>On-screen Show (4:3)</PresentationFormat>
  <Paragraphs>630</Paragraphs>
  <Slides>60</Slides>
  <Notes>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Concourse</vt:lpstr>
      <vt:lpstr>The Event Management System</vt:lpstr>
      <vt:lpstr>Project Profile</vt:lpstr>
      <vt:lpstr>Hardware and Software Configuration</vt:lpstr>
      <vt:lpstr>Salient features</vt:lpstr>
      <vt:lpstr>Introduction</vt:lpstr>
      <vt:lpstr>Modules</vt:lpstr>
      <vt:lpstr>Modules</vt:lpstr>
      <vt:lpstr>Modules</vt:lpstr>
      <vt:lpstr>Data Flow Diagram</vt:lpstr>
      <vt:lpstr>Slide 10</vt:lpstr>
      <vt:lpstr>Slide 11</vt:lpstr>
      <vt:lpstr>Slide 12</vt:lpstr>
      <vt:lpstr>Slide 13</vt:lpstr>
      <vt:lpstr>Slide 14</vt:lpstr>
      <vt:lpstr>Use Case Diagram</vt:lpstr>
      <vt:lpstr>Use Case Diagram of Organizer</vt:lpstr>
      <vt:lpstr>Use Case Diagram of Admin</vt:lpstr>
      <vt:lpstr>Data Dictionary</vt:lpstr>
      <vt:lpstr>Table 1: users Purpose: To store information about users</vt:lpstr>
      <vt:lpstr>Table 2: categories Purpose: To store event categories</vt:lpstr>
      <vt:lpstr>Table 3: events Purpose: To store event details</vt:lpstr>
      <vt:lpstr>Table 4: event_registrations Purpose: To store registrations details</vt:lpstr>
      <vt:lpstr>Table 5: notification Purpose: To store notification details</vt:lpstr>
      <vt:lpstr>Table 6: contact_messages Purpose: To store details about messages</vt:lpstr>
      <vt:lpstr>Table 7: event_reviews Purpose: To store event review details</vt:lpstr>
      <vt:lpstr>Table 8: bookings Purpose: To store details of paid event booking</vt:lpstr>
      <vt:lpstr>Table 9: user_tokens Purpose: To store user token</vt:lpstr>
      <vt:lpstr>Web Interface</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Limitations</vt:lpstr>
      <vt:lpstr>Future Enhancements</vt:lpstr>
      <vt:lpstr>References</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c:creator>
  <cp:lastModifiedBy>A</cp:lastModifiedBy>
  <cp:revision>196</cp:revision>
  <dcterms:created xsi:type="dcterms:W3CDTF">2026-03-24T06:38:59Z</dcterms:created>
  <dcterms:modified xsi:type="dcterms:W3CDTF">2026-03-25T17:20:32Z</dcterms:modified>
</cp:coreProperties>
</file>