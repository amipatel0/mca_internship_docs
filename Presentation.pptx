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Default Extension="jpeg" ContentType="image/jpeg"/>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2" r:id="rId1"/>
  </p:sldMasterIdLst>
  <p:sldIdLst>
    <p:sldId id="266" r:id="rId2"/>
    <p:sldId id="267" r:id="rId3"/>
    <p:sldId id="284" r:id="rId4"/>
    <p:sldId id="277" r:id="rId5"/>
    <p:sldId id="268" r:id="rId6"/>
    <p:sldId id="270" r:id="rId7"/>
    <p:sldId id="271" r:id="rId8"/>
    <p:sldId id="272" r:id="rId9"/>
    <p:sldId id="273" r:id="rId10"/>
    <p:sldId id="274" r:id="rId11"/>
    <p:sldId id="276" r:id="rId12"/>
    <p:sldId id="275" r:id="rId13"/>
    <p:sldId id="278" r:id="rId14"/>
    <p:sldId id="279" r:id="rId15"/>
    <p:sldId id="280" r:id="rId16"/>
    <p:sldId id="281" r:id="rId17"/>
    <p:sldId id="285" r:id="rId18"/>
    <p:sldId id="286" r:id="rId19"/>
    <p:sldId id="287" r:id="rId20"/>
    <p:sldId id="288" r:id="rId21"/>
    <p:sldId id="256" r:id="rId22"/>
    <p:sldId id="257" r:id="rId23"/>
    <p:sldId id="258" r:id="rId24"/>
    <p:sldId id="259" r:id="rId25"/>
    <p:sldId id="260" r:id="rId26"/>
    <p:sldId id="261" r:id="rId27"/>
    <p:sldId id="262" r:id="rId28"/>
    <p:sldId id="263" r:id="rId29"/>
    <p:sldId id="264" r:id="rId30"/>
    <p:sldId id="265" r:id="rId31"/>
    <p:sldId id="282" r:id="rId32"/>
    <p:sldId id="283" r:id="rId33"/>
    <p:sldId id="289" r:id="rId34"/>
    <p:sldId id="291" r:id="rId35"/>
    <p:sldId id="292" r:id="rId36"/>
    <p:sldId id="293" r:id="rId37"/>
    <p:sldId id="294" r:id="rId38"/>
    <p:sldId id="295" r:id="rId39"/>
    <p:sldId id="296" r:id="rId40"/>
    <p:sldId id="297" r:id="rId41"/>
    <p:sldId id="298" r:id="rId42"/>
    <p:sldId id="309" r:id="rId43"/>
    <p:sldId id="312" r:id="rId44"/>
    <p:sldId id="311" r:id="rId45"/>
    <p:sldId id="299" r:id="rId46"/>
    <p:sldId id="300" r:id="rId47"/>
    <p:sldId id="310" r:id="rId48"/>
    <p:sldId id="301" r:id="rId49"/>
    <p:sldId id="302" r:id="rId50"/>
    <p:sldId id="303" r:id="rId51"/>
    <p:sldId id="313" r:id="rId52"/>
    <p:sldId id="304" r:id="rId53"/>
    <p:sldId id="305" r:id="rId54"/>
    <p:sldId id="306" r:id="rId55"/>
    <p:sldId id="307" r:id="rId56"/>
    <p:sldId id="308" r:id="rId57"/>
    <p:sldId id="314" r:id="rId58"/>
    <p:sldId id="315" r:id="rId5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69" d="100"/>
          <a:sy n="69" d="100"/>
        </p:scale>
        <p:origin x="-1416" y="-78"/>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dirty="0"/>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03D22D0F-0342-444A-9746-DED56459D482}" type="datetimeFigureOut">
              <a:rPr lang="en-US" smtClean="0"/>
              <a:pPr/>
              <a:t>3/25/2026</a:t>
            </a:fld>
            <a:endParaRPr lang="en-US" dirty="0"/>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dirty="0"/>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9EE9CAB1-7146-484F-8A32-448D860C46D4}"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03D22D0F-0342-444A-9746-DED56459D482}" type="datetimeFigureOut">
              <a:rPr lang="en-US" smtClean="0"/>
              <a:pPr/>
              <a:t>3/25/2026</a:t>
            </a:fld>
            <a:endParaRPr lang="en-US" dirty="0"/>
          </a:p>
        </p:txBody>
      </p:sp>
      <p:sp>
        <p:nvSpPr>
          <p:cNvPr id="5" name="Footer Placeholder 4"/>
          <p:cNvSpPr>
            <a:spLocks noGrp="1"/>
          </p:cNvSpPr>
          <p:nvPr>
            <p:ph type="ftr" sz="quarter" idx="11"/>
          </p:nvPr>
        </p:nvSpPr>
        <p:spPr/>
        <p:txBody>
          <a:bodyPr/>
          <a:lstStyle>
            <a:extLst/>
          </a:lstStyle>
          <a:p>
            <a:endParaRPr lang="en-US" dirty="0"/>
          </a:p>
        </p:txBody>
      </p:sp>
      <p:sp>
        <p:nvSpPr>
          <p:cNvPr id="6" name="Slide Number Placeholder 5"/>
          <p:cNvSpPr>
            <a:spLocks noGrp="1"/>
          </p:cNvSpPr>
          <p:nvPr>
            <p:ph type="sldNum" sz="quarter" idx="12"/>
          </p:nvPr>
        </p:nvSpPr>
        <p:spPr/>
        <p:txBody>
          <a:bodyPr/>
          <a:lstStyle>
            <a:extLst/>
          </a:lstStyle>
          <a:p>
            <a:fld id="{9EE9CAB1-7146-484F-8A32-448D860C46D4}" type="slidenum">
              <a:rPr lang="en-US" smtClean="0"/>
              <a:pPr/>
              <a:t>‹#›</a:t>
            </a:fld>
            <a:endParaRPr lang="en-US" dirty="0"/>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03D22D0F-0342-444A-9746-DED56459D482}" type="datetimeFigureOut">
              <a:rPr lang="en-US" smtClean="0"/>
              <a:pPr/>
              <a:t>3/25/2026</a:t>
            </a:fld>
            <a:endParaRPr lang="en-US" dirty="0"/>
          </a:p>
        </p:txBody>
      </p:sp>
      <p:sp>
        <p:nvSpPr>
          <p:cNvPr id="5" name="Footer Placeholder 4"/>
          <p:cNvSpPr>
            <a:spLocks noGrp="1"/>
          </p:cNvSpPr>
          <p:nvPr>
            <p:ph type="ftr" sz="quarter" idx="11"/>
          </p:nvPr>
        </p:nvSpPr>
        <p:spPr/>
        <p:txBody>
          <a:bodyPr/>
          <a:lstStyle>
            <a:extLst/>
          </a:lstStyle>
          <a:p>
            <a:endParaRPr lang="en-US" dirty="0"/>
          </a:p>
        </p:txBody>
      </p:sp>
      <p:sp>
        <p:nvSpPr>
          <p:cNvPr id="6" name="Slide Number Placeholder 5"/>
          <p:cNvSpPr>
            <a:spLocks noGrp="1"/>
          </p:cNvSpPr>
          <p:nvPr>
            <p:ph type="sldNum" sz="quarter" idx="12"/>
          </p:nvPr>
        </p:nvSpPr>
        <p:spPr/>
        <p:txBody>
          <a:bodyPr/>
          <a:lstStyle>
            <a:extLst/>
          </a:lstStyle>
          <a:p>
            <a:fld id="{9EE9CAB1-7146-484F-8A32-448D860C46D4}" type="slidenum">
              <a:rPr lang="en-US" smtClean="0"/>
              <a:pPr/>
              <a:t>‹#›</a:t>
            </a:fld>
            <a:endParaRPr lang="en-US" dirty="0"/>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dirty="0"/>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03D22D0F-0342-444A-9746-DED56459D482}" type="datetimeFigureOut">
              <a:rPr lang="en-US" smtClean="0"/>
              <a:pPr/>
              <a:t>3/25/2026</a:t>
            </a:fld>
            <a:endParaRPr lang="en-US" dirty="0"/>
          </a:p>
        </p:txBody>
      </p:sp>
      <p:sp>
        <p:nvSpPr>
          <p:cNvPr id="6" name="Footer Placeholder 5"/>
          <p:cNvSpPr>
            <a:spLocks noGrp="1"/>
          </p:cNvSpPr>
          <p:nvPr>
            <p:ph type="ftr" sz="quarter" idx="11"/>
          </p:nvPr>
        </p:nvSpPr>
        <p:spPr/>
        <p:txBody>
          <a:bodyPr/>
          <a:lstStyle>
            <a:extLst/>
          </a:lstStyle>
          <a:p>
            <a:endParaRPr lang="en-US" dirty="0"/>
          </a:p>
        </p:txBody>
      </p:sp>
      <p:sp>
        <p:nvSpPr>
          <p:cNvPr id="7" name="Slide Number Placeholder 6"/>
          <p:cNvSpPr>
            <a:spLocks noGrp="1"/>
          </p:cNvSpPr>
          <p:nvPr>
            <p:ph type="sldNum" sz="quarter" idx="12"/>
          </p:nvPr>
        </p:nvSpPr>
        <p:spPr/>
        <p:txBody>
          <a:bodyPr/>
          <a:lstStyle>
            <a:extLst/>
          </a:lstStyle>
          <a:p>
            <a:fld id="{9EE9CAB1-7146-484F-8A32-448D860C46D4}" type="slidenum">
              <a:rPr lang="en-US" smtClean="0"/>
              <a:pPr/>
              <a:t>‹#›</a:t>
            </a:fld>
            <a:endParaRPr lang="en-US" dirty="0"/>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03D22D0F-0342-444A-9746-DED56459D482}" type="datetimeFigureOut">
              <a:rPr lang="en-US" smtClean="0"/>
              <a:pPr/>
              <a:t>3/25/2026</a:t>
            </a:fld>
            <a:endParaRPr lang="en-US" dirty="0"/>
          </a:p>
        </p:txBody>
      </p:sp>
      <p:sp>
        <p:nvSpPr>
          <p:cNvPr id="8" name="Footer Placeholder 7"/>
          <p:cNvSpPr>
            <a:spLocks noGrp="1"/>
          </p:cNvSpPr>
          <p:nvPr>
            <p:ph type="ftr" sz="quarter" idx="11"/>
          </p:nvPr>
        </p:nvSpPr>
        <p:spPr/>
        <p:txBody>
          <a:bodyPr/>
          <a:lstStyle>
            <a:extLst/>
          </a:lstStyle>
          <a:p>
            <a:endParaRPr lang="en-US" dirty="0"/>
          </a:p>
        </p:txBody>
      </p:sp>
      <p:sp>
        <p:nvSpPr>
          <p:cNvPr id="9" name="Slide Number Placeholder 8"/>
          <p:cNvSpPr>
            <a:spLocks noGrp="1"/>
          </p:cNvSpPr>
          <p:nvPr>
            <p:ph type="sldNum" sz="quarter" idx="12"/>
          </p:nvPr>
        </p:nvSpPr>
        <p:spPr/>
        <p:txBody>
          <a:bodyPr/>
          <a:lstStyle>
            <a:extLst/>
          </a:lstStyle>
          <a:p>
            <a:fld id="{9EE9CAB1-7146-484F-8A32-448D860C46D4}"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03D22D0F-0342-444A-9746-DED56459D482}" type="datetimeFigureOut">
              <a:rPr lang="en-US" smtClean="0"/>
              <a:pPr/>
              <a:t>3/25/2026</a:t>
            </a:fld>
            <a:endParaRPr lang="en-US" dirty="0"/>
          </a:p>
        </p:txBody>
      </p:sp>
      <p:sp>
        <p:nvSpPr>
          <p:cNvPr id="4" name="Footer Placeholder 3"/>
          <p:cNvSpPr>
            <a:spLocks noGrp="1"/>
          </p:cNvSpPr>
          <p:nvPr>
            <p:ph type="ftr" sz="quarter" idx="11"/>
          </p:nvPr>
        </p:nvSpPr>
        <p:spPr/>
        <p:txBody>
          <a:bodyPr/>
          <a:lstStyle>
            <a:extLst/>
          </a:lstStyle>
          <a:p>
            <a:endParaRPr lang="en-US" dirty="0"/>
          </a:p>
        </p:txBody>
      </p:sp>
      <p:sp>
        <p:nvSpPr>
          <p:cNvPr id="5" name="Slide Number Placeholder 4"/>
          <p:cNvSpPr>
            <a:spLocks noGrp="1"/>
          </p:cNvSpPr>
          <p:nvPr>
            <p:ph type="sldNum" sz="quarter" idx="12"/>
          </p:nvPr>
        </p:nvSpPr>
        <p:spPr/>
        <p:txBody>
          <a:bodyPr/>
          <a:lstStyle>
            <a:extLst/>
          </a:lstStyle>
          <a:p>
            <a:fld id="{9EE9CAB1-7146-484F-8A32-448D860C46D4}" type="slidenum">
              <a:rPr lang="en-US" smtClean="0"/>
              <a:pPr/>
              <a:t>‹#›</a:t>
            </a:fld>
            <a:endParaRPr lang="en-US" dirty="0"/>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03D22D0F-0342-444A-9746-DED56459D482}" type="datetimeFigureOut">
              <a:rPr lang="en-US" smtClean="0"/>
              <a:pPr/>
              <a:t>3/25/2026</a:t>
            </a:fld>
            <a:endParaRPr lang="en-US" dirty="0"/>
          </a:p>
        </p:txBody>
      </p:sp>
      <p:sp>
        <p:nvSpPr>
          <p:cNvPr id="3" name="Footer Placeholder 2"/>
          <p:cNvSpPr>
            <a:spLocks noGrp="1"/>
          </p:cNvSpPr>
          <p:nvPr>
            <p:ph type="ftr" sz="quarter" idx="11"/>
          </p:nvPr>
        </p:nvSpPr>
        <p:spPr/>
        <p:txBody>
          <a:bodyPr/>
          <a:lstStyle>
            <a:extLst/>
          </a:lstStyle>
          <a:p>
            <a:endParaRPr lang="en-US" dirty="0"/>
          </a:p>
        </p:txBody>
      </p:sp>
      <p:sp>
        <p:nvSpPr>
          <p:cNvPr id="4" name="Slide Number Placeholder 3"/>
          <p:cNvSpPr>
            <a:spLocks noGrp="1"/>
          </p:cNvSpPr>
          <p:nvPr>
            <p:ph type="sldNum" sz="quarter" idx="12"/>
          </p:nvPr>
        </p:nvSpPr>
        <p:spPr/>
        <p:txBody>
          <a:bodyPr/>
          <a:lstStyle>
            <a:extLst/>
          </a:lstStyle>
          <a:p>
            <a:fld id="{9EE9CAB1-7146-484F-8A32-448D860C46D4}"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03D22D0F-0342-444A-9746-DED56459D482}" type="datetimeFigureOut">
              <a:rPr lang="en-US" smtClean="0"/>
              <a:pPr/>
              <a:t>3/25/2026</a:t>
            </a:fld>
            <a:endParaRPr lang="en-US" dirty="0"/>
          </a:p>
        </p:txBody>
      </p:sp>
      <p:sp>
        <p:nvSpPr>
          <p:cNvPr id="6" name="Footer Placeholder 5"/>
          <p:cNvSpPr>
            <a:spLocks noGrp="1"/>
          </p:cNvSpPr>
          <p:nvPr>
            <p:ph type="ftr" sz="quarter" idx="11"/>
          </p:nvPr>
        </p:nvSpPr>
        <p:spPr/>
        <p:txBody>
          <a:bodyPr/>
          <a:lstStyle>
            <a:extLst/>
          </a:lstStyle>
          <a:p>
            <a:endParaRPr lang="en-US" dirty="0"/>
          </a:p>
        </p:txBody>
      </p:sp>
      <p:sp>
        <p:nvSpPr>
          <p:cNvPr id="7" name="Slide Number Placeholder 6"/>
          <p:cNvSpPr>
            <a:spLocks noGrp="1"/>
          </p:cNvSpPr>
          <p:nvPr>
            <p:ph type="sldNum" sz="quarter" idx="12"/>
          </p:nvPr>
        </p:nvSpPr>
        <p:spPr/>
        <p:txBody>
          <a:bodyPr/>
          <a:lstStyle>
            <a:extLst/>
          </a:lstStyle>
          <a:p>
            <a:fld id="{9EE9CAB1-7146-484F-8A32-448D860C46D4}"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dirty="0"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03D22D0F-0342-444A-9746-DED56459D482}" type="datetimeFigureOut">
              <a:rPr lang="en-US" smtClean="0"/>
              <a:pPr/>
              <a:t>3/25/2026</a:t>
            </a:fld>
            <a:endParaRPr lang="en-US" dirty="0"/>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dirty="0"/>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9EE9CAB1-7146-484F-8A32-448D860C46D4}" type="slidenum">
              <a:rPr lang="en-US" smtClean="0"/>
              <a:pPr/>
              <a:t>‹#›</a:t>
            </a:fld>
            <a:endParaRPr lang="en-US" dirty="0"/>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10" name="Right Triangle 9"/>
          <p:cNvSpPr>
            <a:spLocks/>
          </p:cNvSpPr>
          <p:nvPr/>
        </p:nvSpPr>
        <p:spPr bwMode="auto">
          <a:xfrm>
            <a:off x="-6042" y="5791253"/>
            <a:ext cx="3402314" cy="1080868"/>
          </a:xfrm>
          <a:prstGeom prst="rtTriangle">
            <a:avLst/>
          </a:pr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dirty="0"/>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dirty="0"/>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03D22D0F-0342-444A-9746-DED56459D482}" type="datetimeFigureOut">
              <a:rPr lang="en-US" smtClean="0"/>
              <a:pPr/>
              <a:t>3/25/2026</a:t>
            </a:fld>
            <a:endParaRPr lang="en-US" dirty="0"/>
          </a:p>
        </p:txBody>
      </p:sp>
      <p:sp>
        <p:nvSpPr>
          <p:cNvPr id="5" name="Footer Placeholder 4"/>
          <p:cNvSpPr>
            <a:spLocks noGrp="1"/>
          </p:cNvSpPr>
          <p:nvPr>
            <p:ph type="ftr" sz="quarter" idx="11"/>
          </p:nvPr>
        </p:nvSpPr>
        <p:spPr/>
        <p:txBody>
          <a:bodyPr/>
          <a:lstStyle>
            <a:extLst/>
          </a:lstStyle>
          <a:p>
            <a:endParaRPr lang="en-US" dirty="0"/>
          </a:p>
        </p:txBody>
      </p:sp>
      <p:sp>
        <p:nvSpPr>
          <p:cNvPr id="6" name="Slide Number Placeholder 5"/>
          <p:cNvSpPr>
            <a:spLocks noGrp="1"/>
          </p:cNvSpPr>
          <p:nvPr>
            <p:ph type="sldNum" sz="quarter" idx="12"/>
          </p:nvPr>
        </p:nvSpPr>
        <p:spPr/>
        <p:txBody>
          <a:bodyPr/>
          <a:lstStyle>
            <a:extLst/>
          </a:lstStyle>
          <a:p>
            <a:fld id="{9EE9CAB1-7146-484F-8A32-448D860C46D4}"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03D22D0F-0342-444A-9746-DED56459D482}" type="datetimeFigureOut">
              <a:rPr lang="en-US" smtClean="0"/>
              <a:pPr/>
              <a:t>3/25/2026</a:t>
            </a:fld>
            <a:endParaRPr lang="en-US" dirty="0"/>
          </a:p>
        </p:txBody>
      </p:sp>
      <p:sp>
        <p:nvSpPr>
          <p:cNvPr id="5" name="Footer Placeholder 4"/>
          <p:cNvSpPr>
            <a:spLocks noGrp="1"/>
          </p:cNvSpPr>
          <p:nvPr>
            <p:ph type="ftr" sz="quarter" idx="11"/>
          </p:nvPr>
        </p:nvSpPr>
        <p:spPr/>
        <p:txBody>
          <a:bodyPr/>
          <a:lstStyle>
            <a:extLst/>
          </a:lstStyle>
          <a:p>
            <a:endParaRPr lang="en-US" dirty="0"/>
          </a:p>
        </p:txBody>
      </p:sp>
      <p:sp>
        <p:nvSpPr>
          <p:cNvPr id="6" name="Slide Number Placeholder 5"/>
          <p:cNvSpPr>
            <a:spLocks noGrp="1"/>
          </p:cNvSpPr>
          <p:nvPr>
            <p:ph type="sldNum" sz="quarter" idx="12"/>
          </p:nvPr>
        </p:nvSpPr>
        <p:spPr/>
        <p:txBody>
          <a:bodyPr/>
          <a:lstStyle>
            <a:extLst/>
          </a:lstStyle>
          <a:p>
            <a:fld id="{9EE9CAB1-7146-484F-8A32-448D860C46D4}"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14" name="Right Triangle 13"/>
          <p:cNvSpPr>
            <a:spLocks/>
          </p:cNvSpPr>
          <p:nvPr/>
        </p:nvSpPr>
        <p:spPr bwMode="auto">
          <a:xfrm>
            <a:off x="-6042" y="5791253"/>
            <a:ext cx="3402314" cy="1080868"/>
          </a:xfrm>
          <a:prstGeom prst="rtTriangle">
            <a:avLst/>
          </a:prstGeom>
          <a:blipFill>
            <a:blip r:embed="rId1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dirty="0"/>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03D22D0F-0342-444A-9746-DED56459D482}" type="datetimeFigureOut">
              <a:rPr lang="en-US" smtClean="0"/>
              <a:pPr/>
              <a:t>3/25/2026</a:t>
            </a:fld>
            <a:endParaRPr lang="en-US" dirty="0"/>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dirty="0"/>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9EE9CAB1-7146-484F-8A32-448D860C46D4}"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95536" y="158775"/>
            <a:ext cx="8424936" cy="1470025"/>
          </a:xfrm>
        </p:spPr>
        <p:txBody>
          <a:bodyPr>
            <a:normAutofit fontScale="90000"/>
          </a:bodyPr>
          <a:lstStyle/>
          <a:p>
            <a:pPr algn="ctr"/>
            <a:r>
              <a:rPr lang="en-IN" b="1" dirty="0" smtClean="0">
                <a:latin typeface="Times New Roman" pitchFamily="18" charset="0"/>
                <a:cs typeface="Times New Roman" pitchFamily="18" charset="0"/>
              </a:rPr>
              <a:t>The Event Management System</a:t>
            </a:r>
            <a:endParaRPr lang="en-US" b="1" dirty="0">
              <a:latin typeface="Times New Roman" pitchFamily="18" charset="0"/>
              <a:cs typeface="Times New Roman" pitchFamily="18" charset="0"/>
            </a:endParaRPr>
          </a:p>
        </p:txBody>
      </p:sp>
      <p:sp>
        <p:nvSpPr>
          <p:cNvPr id="4" name="Subtitle 3"/>
          <p:cNvSpPr>
            <a:spLocks noGrp="1"/>
          </p:cNvSpPr>
          <p:nvPr>
            <p:ph type="subTitle" idx="1"/>
          </p:nvPr>
        </p:nvSpPr>
        <p:spPr/>
        <p:txBody>
          <a:bodyPr>
            <a:noAutofit/>
          </a:bodyPr>
          <a:lstStyle/>
          <a:p>
            <a:pPr algn="r"/>
            <a:r>
              <a:rPr lang="en-IN" sz="2800" b="1" dirty="0" smtClean="0">
                <a:solidFill>
                  <a:schemeClr val="tx1"/>
                </a:solidFill>
                <a:latin typeface="Times New Roman" pitchFamily="18" charset="0"/>
                <a:cs typeface="Times New Roman" pitchFamily="18" charset="0"/>
              </a:rPr>
              <a:t>Presented by: Patel Ami</a:t>
            </a:r>
            <a:endParaRPr lang="en-US" sz="2800" b="1" dirty="0" smtClean="0">
              <a:solidFill>
                <a:schemeClr val="tx1"/>
              </a:solidFill>
              <a:latin typeface="Times New Roman" pitchFamily="18" charset="0"/>
              <a:cs typeface="Times New Roman" pitchFamily="18" charset="0"/>
            </a:endParaRPr>
          </a:p>
          <a:p>
            <a:pPr algn="r"/>
            <a:r>
              <a:rPr lang="en-IN" sz="2800" b="1" dirty="0" smtClean="0">
                <a:solidFill>
                  <a:schemeClr val="tx1"/>
                </a:solidFill>
                <a:latin typeface="Times New Roman" pitchFamily="18" charset="0"/>
                <a:cs typeface="Times New Roman" pitchFamily="18" charset="0"/>
              </a:rPr>
              <a:t>Guide by: Dr D.B.Choksi</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179512" y="692696"/>
          <a:ext cx="8784976" cy="4663152"/>
        </p:xfrm>
        <a:graphic>
          <a:graphicData uri="http://schemas.openxmlformats.org/drawingml/2006/table">
            <a:tbl>
              <a:tblPr firstRow="1" bandRow="1">
                <a:tableStyleId>{3B4B98B0-60AC-42C2-AFA5-B58CD77FA1E5}</a:tableStyleId>
              </a:tblPr>
              <a:tblGrid>
                <a:gridCol w="1728192"/>
                <a:gridCol w="7056784"/>
              </a:tblGrid>
              <a:tr h="432048">
                <a:tc>
                  <a:txBody>
                    <a:bodyPr/>
                    <a:lstStyle/>
                    <a:p>
                      <a:pPr>
                        <a:lnSpc>
                          <a:spcPct val="115000"/>
                        </a:lnSpc>
                        <a:spcAft>
                          <a:spcPts val="0"/>
                        </a:spcAft>
                      </a:pPr>
                      <a:r>
                        <a:rPr lang="en-IN" sz="1800" dirty="0" smtClean="0">
                          <a:latin typeface="Times New Roman" pitchFamily="18" charset="0"/>
                          <a:ea typeface="Calibri"/>
                          <a:cs typeface="Times New Roman" pitchFamily="18" charset="0"/>
                        </a:rPr>
                        <a:t>Project Title</a:t>
                      </a:r>
                      <a:endParaRPr lang="en-US" sz="18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800" b="0" dirty="0" smtClean="0">
                          <a:latin typeface="Times New Roman" pitchFamily="18" charset="0"/>
                          <a:ea typeface="Calibri"/>
                          <a:cs typeface="Times New Roman" pitchFamily="18" charset="0"/>
                        </a:rPr>
                        <a:t>The Event Management System</a:t>
                      </a:r>
                      <a:endParaRPr lang="en-US" sz="1800" b="0" dirty="0">
                        <a:latin typeface="Times New Roman" pitchFamily="18" charset="0"/>
                        <a:ea typeface="Calibri"/>
                        <a:cs typeface="Times New Roman" pitchFamily="18" charset="0"/>
                      </a:endParaRPr>
                    </a:p>
                  </a:txBody>
                  <a:tcPr marL="68580" marR="68580" marT="0" marB="0"/>
                </a:tc>
              </a:tr>
              <a:tr h="432048">
                <a:tc>
                  <a:txBody>
                    <a:bodyPr/>
                    <a:lstStyle/>
                    <a:p>
                      <a:pPr>
                        <a:lnSpc>
                          <a:spcPct val="115000"/>
                        </a:lnSpc>
                        <a:spcAft>
                          <a:spcPts val="0"/>
                        </a:spcAft>
                      </a:pPr>
                      <a:r>
                        <a:rPr lang="en-IN" sz="1800" b="1" dirty="0" smtClean="0">
                          <a:latin typeface="Times New Roman" pitchFamily="18" charset="0"/>
                          <a:ea typeface="Calibri"/>
                          <a:cs typeface="Times New Roman" pitchFamily="18" charset="0"/>
                        </a:rPr>
                        <a:t>Purpose</a:t>
                      </a:r>
                      <a:endParaRPr lang="en-US" sz="1800" b="1"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US" dirty="0" smtClean="0">
                          <a:latin typeface="Times New Roman" pitchFamily="18" charset="0"/>
                          <a:cs typeface="Times New Roman" pitchFamily="18" charset="0"/>
                        </a:rPr>
                        <a:t>To automate event creation, registration, payment, and ticket generation</a:t>
                      </a:r>
                      <a:endParaRPr lang="en-US" sz="1800" dirty="0">
                        <a:latin typeface="Times New Roman" pitchFamily="18" charset="0"/>
                        <a:ea typeface="Calibri"/>
                        <a:cs typeface="Times New Roman" pitchFamily="18" charset="0"/>
                      </a:endParaRPr>
                    </a:p>
                  </a:txBody>
                  <a:tcPr marL="68580" marR="68580" marT="0" marB="0"/>
                </a:tc>
              </a:tr>
              <a:tr h="432048">
                <a:tc>
                  <a:txBody>
                    <a:bodyPr/>
                    <a:lstStyle/>
                    <a:p>
                      <a:pPr>
                        <a:lnSpc>
                          <a:spcPct val="115000"/>
                        </a:lnSpc>
                        <a:spcAft>
                          <a:spcPts val="0"/>
                        </a:spcAft>
                      </a:pPr>
                      <a:r>
                        <a:rPr lang="en-IN" sz="1800" b="1" dirty="0" smtClean="0">
                          <a:latin typeface="Times New Roman" pitchFamily="18" charset="0"/>
                          <a:ea typeface="Calibri"/>
                          <a:cs typeface="Times New Roman" pitchFamily="18" charset="0"/>
                        </a:rPr>
                        <a:t>Developer</a:t>
                      </a:r>
                      <a:endParaRPr lang="en-US" sz="1800" b="1"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800" dirty="0" smtClean="0">
                          <a:latin typeface="Times New Roman" pitchFamily="18" charset="0"/>
                          <a:ea typeface="Calibri"/>
                          <a:cs typeface="Times New Roman" pitchFamily="18" charset="0"/>
                        </a:rPr>
                        <a:t>Patel Ami</a:t>
                      </a:r>
                      <a:endParaRPr lang="en-US" sz="1800" dirty="0">
                        <a:latin typeface="Times New Roman" pitchFamily="18" charset="0"/>
                        <a:ea typeface="Calibri"/>
                        <a:cs typeface="Times New Roman" pitchFamily="18" charset="0"/>
                      </a:endParaRPr>
                    </a:p>
                  </a:txBody>
                  <a:tcPr marL="68580" marR="68580" marT="0" marB="0"/>
                </a:tc>
              </a:tr>
              <a:tr h="432048">
                <a:tc>
                  <a:txBody>
                    <a:bodyPr/>
                    <a:lstStyle/>
                    <a:p>
                      <a:pPr>
                        <a:lnSpc>
                          <a:spcPct val="115000"/>
                        </a:lnSpc>
                        <a:spcAft>
                          <a:spcPts val="0"/>
                        </a:spcAft>
                      </a:pPr>
                      <a:r>
                        <a:rPr lang="en-IN" sz="1800" b="1" dirty="0" smtClean="0">
                          <a:latin typeface="Times New Roman" pitchFamily="18" charset="0"/>
                          <a:ea typeface="Calibri"/>
                          <a:cs typeface="Times New Roman" pitchFamily="18" charset="0"/>
                        </a:rPr>
                        <a:t>Organization</a:t>
                      </a:r>
                      <a:endParaRPr lang="en-US" sz="1800" b="1"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800" dirty="0" smtClean="0">
                          <a:latin typeface="Times New Roman" pitchFamily="18" charset="0"/>
                          <a:ea typeface="Calibri"/>
                          <a:cs typeface="Times New Roman" pitchFamily="18" charset="0"/>
                        </a:rPr>
                        <a:t>7Sisters Tech</a:t>
                      </a:r>
                      <a:endParaRPr lang="en-US" sz="1800" dirty="0">
                        <a:latin typeface="Times New Roman" pitchFamily="18" charset="0"/>
                        <a:ea typeface="Calibri"/>
                        <a:cs typeface="Times New Roman" pitchFamily="18" charset="0"/>
                      </a:endParaRPr>
                    </a:p>
                  </a:txBody>
                  <a:tcPr marL="68580" marR="68580" marT="0" marB="0"/>
                </a:tc>
              </a:tr>
              <a:tr h="432048">
                <a:tc>
                  <a:txBody>
                    <a:bodyPr/>
                    <a:lstStyle/>
                    <a:p>
                      <a:pPr>
                        <a:lnSpc>
                          <a:spcPct val="115000"/>
                        </a:lnSpc>
                        <a:spcAft>
                          <a:spcPts val="0"/>
                        </a:spcAft>
                      </a:pPr>
                      <a:r>
                        <a:rPr lang="en-IN" sz="1800" b="1" dirty="0" smtClean="0">
                          <a:latin typeface="Times New Roman" pitchFamily="18" charset="0"/>
                          <a:ea typeface="Calibri"/>
                          <a:cs typeface="Times New Roman" pitchFamily="18" charset="0"/>
                        </a:rPr>
                        <a:t>Technologies </a:t>
                      </a:r>
                      <a:endParaRPr lang="en-US" sz="1800" b="1"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US" sz="1800" dirty="0" smtClean="0">
                          <a:latin typeface="Times New Roman" pitchFamily="18" charset="0"/>
                          <a:ea typeface="Calibri"/>
                          <a:cs typeface="Times New Roman" pitchFamily="18" charset="0"/>
                        </a:rPr>
                        <a:t>React JS, HTML5,CSS3,Axios,React , Bootstrap,PHP,MySQL</a:t>
                      </a:r>
                      <a:endParaRPr lang="en-US" sz="1800" dirty="0">
                        <a:latin typeface="Times New Roman" pitchFamily="18" charset="0"/>
                        <a:ea typeface="Calibri"/>
                        <a:cs typeface="Times New Roman" pitchFamily="18" charset="0"/>
                      </a:endParaRPr>
                    </a:p>
                  </a:txBody>
                  <a:tcPr marL="68580" marR="68580" marT="0" marB="0"/>
                </a:tc>
              </a:tr>
              <a:tr h="602588">
                <a:tc>
                  <a:txBody>
                    <a:bodyPr/>
                    <a:lstStyle/>
                    <a:p>
                      <a:pPr>
                        <a:lnSpc>
                          <a:spcPct val="115000"/>
                        </a:lnSpc>
                        <a:spcAft>
                          <a:spcPts val="0"/>
                        </a:spcAft>
                      </a:pPr>
                      <a:r>
                        <a:rPr lang="en-IN" sz="1800" b="1" dirty="0" smtClean="0">
                          <a:latin typeface="Times New Roman" pitchFamily="18" charset="0"/>
                          <a:ea typeface="Calibri"/>
                          <a:cs typeface="Times New Roman" pitchFamily="18" charset="0"/>
                        </a:rPr>
                        <a:t>Development Tools</a:t>
                      </a:r>
                      <a:endParaRPr lang="en-US" sz="1800" b="1"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US" sz="1800" dirty="0" smtClean="0">
                          <a:latin typeface="Times New Roman" pitchFamily="18" charset="0"/>
                          <a:ea typeface="Calibri"/>
                          <a:cs typeface="Times New Roman" pitchFamily="18" charset="0"/>
                        </a:rPr>
                        <a:t>Visual Studio Code, XAMPP(server)</a:t>
                      </a:r>
                      <a:endParaRPr lang="en-US" sz="1800" dirty="0">
                        <a:latin typeface="Times New Roman" pitchFamily="18" charset="0"/>
                        <a:ea typeface="Calibri"/>
                        <a:cs typeface="Times New Roman" pitchFamily="18" charset="0"/>
                      </a:endParaRPr>
                    </a:p>
                  </a:txBody>
                  <a:tcPr marL="68580" marR="68580" marT="0" marB="0"/>
                </a:tc>
              </a:tr>
              <a:tr h="602588">
                <a:tc>
                  <a:txBody>
                    <a:bodyPr/>
                    <a:lstStyle/>
                    <a:p>
                      <a:pPr>
                        <a:lnSpc>
                          <a:spcPct val="115000"/>
                        </a:lnSpc>
                        <a:spcAft>
                          <a:spcPts val="0"/>
                        </a:spcAft>
                      </a:pPr>
                      <a:r>
                        <a:rPr lang="en-IN" sz="1800" b="1" dirty="0" smtClean="0">
                          <a:latin typeface="Times New Roman" pitchFamily="18" charset="0"/>
                          <a:ea typeface="Calibri"/>
                          <a:cs typeface="Times New Roman" pitchFamily="18" charset="0"/>
                        </a:rPr>
                        <a:t>Objective</a:t>
                      </a:r>
                      <a:endParaRPr lang="en-US" sz="1800" b="1"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800" dirty="0" smtClean="0">
                          <a:latin typeface="Times New Roman" pitchFamily="18" charset="0"/>
                          <a:ea typeface="Calibri"/>
                          <a:cs typeface="Times New Roman" pitchFamily="18" charset="0"/>
                        </a:rPr>
                        <a:t>The objective of this project is to </a:t>
                      </a:r>
                      <a:r>
                        <a:rPr lang="en-US" dirty="0" smtClean="0">
                          <a:latin typeface="Times New Roman" pitchFamily="18" charset="0"/>
                          <a:cs typeface="Times New Roman" pitchFamily="18" charset="0"/>
                        </a:rPr>
                        <a:t>Simplify and manage event operations efficiently.</a:t>
                      </a:r>
                      <a:endParaRPr lang="en-US" sz="1800" dirty="0">
                        <a:latin typeface="Times New Roman" pitchFamily="18" charset="0"/>
                        <a:ea typeface="Calibri"/>
                        <a:cs typeface="Times New Roman" pitchFamily="18" charset="0"/>
                      </a:endParaRPr>
                    </a:p>
                  </a:txBody>
                  <a:tcPr marL="68580" marR="68580" marT="0" marB="0"/>
                </a:tc>
              </a:tr>
              <a:tr h="602588">
                <a:tc>
                  <a:txBody>
                    <a:bodyPr/>
                    <a:lstStyle/>
                    <a:p>
                      <a:pPr>
                        <a:lnSpc>
                          <a:spcPct val="115000"/>
                        </a:lnSpc>
                        <a:spcAft>
                          <a:spcPts val="0"/>
                        </a:spcAft>
                      </a:pPr>
                      <a:r>
                        <a:rPr lang="en-IN" sz="1800" b="1" dirty="0" smtClean="0">
                          <a:latin typeface="Times New Roman" pitchFamily="18" charset="0"/>
                          <a:ea typeface="Calibri"/>
                          <a:cs typeface="Times New Roman" pitchFamily="18" charset="0"/>
                        </a:rPr>
                        <a:t>Project Type</a:t>
                      </a:r>
                      <a:endParaRPr lang="en-US" sz="1800" b="1"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800" dirty="0" smtClean="0">
                          <a:latin typeface="Times New Roman" pitchFamily="18" charset="0"/>
                          <a:ea typeface="Calibri"/>
                          <a:cs typeface="Times New Roman" pitchFamily="18" charset="0"/>
                        </a:rPr>
                        <a:t>Web application</a:t>
                      </a:r>
                      <a:endParaRPr lang="en-US" sz="1800" dirty="0">
                        <a:latin typeface="Times New Roman" pitchFamily="18" charset="0"/>
                        <a:ea typeface="Calibri"/>
                        <a:cs typeface="Times New Roman" pitchFamily="18" charset="0"/>
                      </a:endParaRPr>
                    </a:p>
                  </a:txBody>
                  <a:tcPr marL="68580" marR="68580" marT="0" marB="0"/>
                </a:tc>
              </a:tr>
              <a:tr h="638452">
                <a:tc>
                  <a:txBody>
                    <a:bodyPr/>
                    <a:lstStyle/>
                    <a:p>
                      <a:pPr>
                        <a:lnSpc>
                          <a:spcPct val="115000"/>
                        </a:lnSpc>
                        <a:spcAft>
                          <a:spcPts val="0"/>
                        </a:spcAft>
                      </a:pPr>
                      <a:r>
                        <a:rPr lang="en-IN" sz="1800" b="1" smtClean="0">
                          <a:latin typeface="Times New Roman" pitchFamily="18" charset="0"/>
                          <a:ea typeface="Calibri"/>
                          <a:cs typeface="Times New Roman" pitchFamily="18" charset="0"/>
                        </a:rPr>
                        <a:t>Project Guide</a:t>
                      </a:r>
                      <a:endParaRPr lang="en-US" sz="1800" b="1"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800" dirty="0" smtClean="0">
                          <a:latin typeface="Times New Roman" pitchFamily="18" charset="0"/>
                          <a:ea typeface="Calibri"/>
                          <a:cs typeface="Times New Roman" pitchFamily="18" charset="0"/>
                        </a:rPr>
                        <a:t>Dr.D.B.Choksi</a:t>
                      </a:r>
                      <a:endParaRPr lang="en-US" sz="1800" dirty="0">
                        <a:latin typeface="Times New Roman" pitchFamily="18" charset="0"/>
                        <a:ea typeface="Calibri"/>
                        <a:cs typeface="Times New Roman" pitchFamily="18" charset="0"/>
                      </a:endParaRPr>
                    </a:p>
                  </a:txBody>
                  <a:tcPr marL="68580" marR="68580" marT="0" marB="0"/>
                </a:tc>
              </a:tr>
            </a:tbl>
          </a:graphicData>
        </a:graphic>
      </p:graphicFrame>
      <p:sp>
        <p:nvSpPr>
          <p:cNvPr id="3" name="Title 2"/>
          <p:cNvSpPr>
            <a:spLocks noGrp="1"/>
          </p:cNvSpPr>
          <p:nvPr>
            <p:ph type="title"/>
          </p:nvPr>
        </p:nvSpPr>
        <p:spPr>
          <a:xfrm>
            <a:off x="1331640" y="-99392"/>
            <a:ext cx="5184576" cy="720080"/>
          </a:xfrm>
        </p:spPr>
        <p:txBody>
          <a:bodyPr>
            <a:normAutofit/>
          </a:bodyPr>
          <a:lstStyle/>
          <a:p>
            <a:pPr algn="ctr"/>
            <a:r>
              <a:rPr lang="en-IN" sz="4000" dirty="0" smtClean="0">
                <a:latin typeface="Times New Roman" pitchFamily="18" charset="0"/>
                <a:cs typeface="Times New Roman" pitchFamily="18" charset="0"/>
              </a:rPr>
              <a:t>Project Profile</a:t>
            </a:r>
            <a:endParaRPr lang="en-US" sz="4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764704"/>
            <a:ext cx="8229600" cy="5242587"/>
          </a:xfrm>
        </p:spPr>
        <p:txBody>
          <a:bodyPr>
            <a:normAutofit fontScale="62500" lnSpcReduction="20000"/>
          </a:bodyPr>
          <a:lstStyle/>
          <a:p>
            <a:pPr>
              <a:buNone/>
            </a:pPr>
            <a:r>
              <a:rPr lang="en-US" sz="4000" b="1" dirty="0" smtClean="0">
                <a:latin typeface="Times New Roman" pitchFamily="18" charset="0"/>
                <a:cs typeface="Times New Roman" pitchFamily="18" charset="0"/>
              </a:rPr>
              <a:t>Hardware Configuration:</a:t>
            </a:r>
          </a:p>
          <a:p>
            <a:pPr lvl="0"/>
            <a:r>
              <a:rPr lang="en-US" sz="3400" dirty="0" smtClean="0">
                <a:latin typeface="Times New Roman" pitchFamily="18" charset="0"/>
                <a:cs typeface="Times New Roman" pitchFamily="18" charset="0"/>
              </a:rPr>
              <a:t>Processor</a:t>
            </a:r>
            <a:r>
              <a:rPr lang="en-US" sz="3400" b="1" dirty="0" smtClean="0">
                <a:latin typeface="Times New Roman" pitchFamily="18" charset="0"/>
                <a:cs typeface="Times New Roman" pitchFamily="18" charset="0"/>
              </a:rPr>
              <a:t>:</a:t>
            </a:r>
            <a:r>
              <a:rPr lang="en-US" sz="3400" dirty="0" smtClean="0">
                <a:latin typeface="Times New Roman" pitchFamily="18" charset="0"/>
                <a:cs typeface="Times New Roman" pitchFamily="18" charset="0"/>
              </a:rPr>
              <a:t> Intel Core i3</a:t>
            </a:r>
          </a:p>
          <a:p>
            <a:pPr lvl="0"/>
            <a:r>
              <a:rPr lang="en-US" sz="3400" dirty="0" smtClean="0">
                <a:latin typeface="Times New Roman" pitchFamily="18" charset="0"/>
                <a:cs typeface="Times New Roman" pitchFamily="18" charset="0"/>
              </a:rPr>
              <a:t>RAM</a:t>
            </a:r>
            <a:r>
              <a:rPr lang="en-US" sz="3400" b="1" dirty="0" smtClean="0">
                <a:latin typeface="Times New Roman" pitchFamily="18" charset="0"/>
                <a:cs typeface="Times New Roman" pitchFamily="18" charset="0"/>
              </a:rPr>
              <a:t>:</a:t>
            </a:r>
            <a:r>
              <a:rPr lang="en-US" sz="3400" dirty="0" smtClean="0">
                <a:latin typeface="Times New Roman" pitchFamily="18" charset="0"/>
                <a:cs typeface="Times New Roman" pitchFamily="18" charset="0"/>
              </a:rPr>
              <a:t> 12 GB</a:t>
            </a:r>
          </a:p>
          <a:p>
            <a:pPr lvl="0"/>
            <a:r>
              <a:rPr lang="en-US" sz="3400" dirty="0" smtClean="0">
                <a:latin typeface="Times New Roman" pitchFamily="18" charset="0"/>
                <a:cs typeface="Times New Roman" pitchFamily="18" charset="0"/>
              </a:rPr>
              <a:t>System Type</a:t>
            </a:r>
            <a:r>
              <a:rPr lang="en-US" sz="3400" b="1" dirty="0" smtClean="0">
                <a:latin typeface="Times New Roman" pitchFamily="18" charset="0"/>
                <a:cs typeface="Times New Roman" pitchFamily="18" charset="0"/>
              </a:rPr>
              <a:t>:</a:t>
            </a:r>
            <a:r>
              <a:rPr lang="en-US" sz="3400" dirty="0" smtClean="0">
                <a:latin typeface="Times New Roman" pitchFamily="18" charset="0"/>
                <a:cs typeface="Times New Roman" pitchFamily="18" charset="0"/>
              </a:rPr>
              <a:t> 64-bit Operating System</a:t>
            </a:r>
          </a:p>
          <a:p>
            <a:pPr lvl="0"/>
            <a:r>
              <a:rPr lang="en-US" sz="3400" dirty="0" smtClean="0">
                <a:latin typeface="Times New Roman" pitchFamily="18" charset="0"/>
                <a:cs typeface="Times New Roman" pitchFamily="18" charset="0"/>
              </a:rPr>
              <a:t>Input Devices</a:t>
            </a:r>
            <a:r>
              <a:rPr lang="en-US" sz="3400" b="1" dirty="0" smtClean="0">
                <a:latin typeface="Times New Roman" pitchFamily="18" charset="0"/>
                <a:cs typeface="Times New Roman" pitchFamily="18" charset="0"/>
              </a:rPr>
              <a:t>:</a:t>
            </a:r>
            <a:r>
              <a:rPr lang="en-US" sz="3400" dirty="0" smtClean="0">
                <a:latin typeface="Times New Roman" pitchFamily="18" charset="0"/>
                <a:cs typeface="Times New Roman" pitchFamily="18" charset="0"/>
              </a:rPr>
              <a:t> Keyboard, Mouse</a:t>
            </a:r>
          </a:p>
          <a:p>
            <a:pPr lvl="0"/>
            <a:r>
              <a:rPr lang="en-US" sz="3400" dirty="0" smtClean="0">
                <a:latin typeface="Times New Roman" pitchFamily="18" charset="0"/>
                <a:cs typeface="Times New Roman" pitchFamily="18" charset="0"/>
              </a:rPr>
              <a:t>Output Devices</a:t>
            </a:r>
            <a:r>
              <a:rPr lang="en-US" sz="3400" b="1" dirty="0" smtClean="0">
                <a:latin typeface="Times New Roman" pitchFamily="18" charset="0"/>
                <a:cs typeface="Times New Roman" pitchFamily="18" charset="0"/>
              </a:rPr>
              <a:t>:</a:t>
            </a:r>
            <a:r>
              <a:rPr lang="en-US" sz="3400" dirty="0" smtClean="0">
                <a:latin typeface="Times New Roman" pitchFamily="18" charset="0"/>
                <a:cs typeface="Times New Roman" pitchFamily="18" charset="0"/>
              </a:rPr>
              <a:t> Monitor</a:t>
            </a:r>
          </a:p>
          <a:p>
            <a:pPr>
              <a:buNone/>
            </a:pPr>
            <a:endParaRPr lang="en-US" dirty="0" smtClean="0"/>
          </a:p>
          <a:p>
            <a:pPr>
              <a:buNone/>
            </a:pPr>
            <a:r>
              <a:rPr lang="en-US" sz="4000" b="1" dirty="0" smtClean="0">
                <a:latin typeface="Times New Roman" pitchFamily="18" charset="0"/>
                <a:cs typeface="Times New Roman" pitchFamily="18" charset="0"/>
              </a:rPr>
              <a:t>Software Configuration:</a:t>
            </a:r>
          </a:p>
          <a:p>
            <a:pPr lvl="0"/>
            <a:r>
              <a:rPr lang="en-US" sz="3100" dirty="0" smtClean="0">
                <a:latin typeface="Times New Roman" pitchFamily="18" charset="0"/>
                <a:cs typeface="Times New Roman" pitchFamily="18" charset="0"/>
              </a:rPr>
              <a:t>Operating System</a:t>
            </a:r>
            <a:r>
              <a:rPr lang="en-US" sz="3100" b="1" dirty="0" smtClean="0">
                <a:latin typeface="Times New Roman" pitchFamily="18" charset="0"/>
                <a:cs typeface="Times New Roman" pitchFamily="18" charset="0"/>
              </a:rPr>
              <a:t>:</a:t>
            </a:r>
            <a:r>
              <a:rPr lang="en-US" sz="3100" dirty="0" smtClean="0">
                <a:latin typeface="Times New Roman" pitchFamily="18" charset="0"/>
                <a:cs typeface="Times New Roman" pitchFamily="18" charset="0"/>
              </a:rPr>
              <a:t> Windows 11</a:t>
            </a:r>
          </a:p>
          <a:p>
            <a:pPr lvl="0"/>
            <a:r>
              <a:rPr lang="en-US" sz="3100" dirty="0" smtClean="0">
                <a:latin typeface="Times New Roman" pitchFamily="18" charset="0"/>
                <a:cs typeface="Times New Roman" pitchFamily="18" charset="0"/>
              </a:rPr>
              <a:t>Frontend</a:t>
            </a:r>
            <a:r>
              <a:rPr lang="en-US" sz="3100" b="1" dirty="0" smtClean="0">
                <a:latin typeface="Times New Roman" pitchFamily="18" charset="0"/>
                <a:cs typeface="Times New Roman" pitchFamily="18" charset="0"/>
              </a:rPr>
              <a:t>:</a:t>
            </a:r>
            <a:r>
              <a:rPr lang="en-US" sz="3100" dirty="0" smtClean="0">
                <a:latin typeface="Times New Roman" pitchFamily="18" charset="0"/>
                <a:cs typeface="Times New Roman" pitchFamily="18" charset="0"/>
              </a:rPr>
              <a:t> ReactJS</a:t>
            </a:r>
          </a:p>
          <a:p>
            <a:pPr lvl="0"/>
            <a:r>
              <a:rPr lang="en-US" sz="3100" dirty="0" smtClean="0">
                <a:latin typeface="Times New Roman" pitchFamily="18" charset="0"/>
                <a:cs typeface="Times New Roman" pitchFamily="18" charset="0"/>
              </a:rPr>
              <a:t>Backend</a:t>
            </a:r>
            <a:r>
              <a:rPr lang="en-US" sz="3100" b="1" dirty="0" smtClean="0">
                <a:latin typeface="Times New Roman" pitchFamily="18" charset="0"/>
                <a:cs typeface="Times New Roman" pitchFamily="18" charset="0"/>
              </a:rPr>
              <a:t>:</a:t>
            </a:r>
            <a:r>
              <a:rPr lang="en-US" sz="3100" dirty="0" smtClean="0">
                <a:latin typeface="Times New Roman" pitchFamily="18" charset="0"/>
                <a:cs typeface="Times New Roman" pitchFamily="18" charset="0"/>
              </a:rPr>
              <a:t> PHP</a:t>
            </a:r>
          </a:p>
          <a:p>
            <a:pPr lvl="0"/>
            <a:r>
              <a:rPr lang="en-US" sz="3100" dirty="0" smtClean="0">
                <a:latin typeface="Times New Roman" pitchFamily="18" charset="0"/>
                <a:cs typeface="Times New Roman" pitchFamily="18" charset="0"/>
              </a:rPr>
              <a:t>Database</a:t>
            </a:r>
            <a:r>
              <a:rPr lang="en-US" sz="3100" b="1" dirty="0" smtClean="0">
                <a:latin typeface="Times New Roman" pitchFamily="18" charset="0"/>
                <a:cs typeface="Times New Roman" pitchFamily="18" charset="0"/>
              </a:rPr>
              <a:t>:</a:t>
            </a:r>
            <a:r>
              <a:rPr lang="en-US" sz="3100" dirty="0" smtClean="0">
                <a:latin typeface="Times New Roman" pitchFamily="18" charset="0"/>
                <a:cs typeface="Times New Roman" pitchFamily="18" charset="0"/>
              </a:rPr>
              <a:t> MySQL</a:t>
            </a:r>
          </a:p>
          <a:p>
            <a:pPr lvl="0"/>
            <a:r>
              <a:rPr lang="en-US" sz="3100" dirty="0" smtClean="0">
                <a:latin typeface="Times New Roman" pitchFamily="18" charset="0"/>
                <a:cs typeface="Times New Roman" pitchFamily="18" charset="0"/>
              </a:rPr>
              <a:t>Server: XAMPP,Localhost,Apache</a:t>
            </a:r>
          </a:p>
          <a:p>
            <a:pPr lvl="0"/>
            <a:r>
              <a:rPr lang="en-US" sz="3100" dirty="0" smtClean="0">
                <a:latin typeface="Times New Roman" pitchFamily="18" charset="0"/>
                <a:cs typeface="Times New Roman" pitchFamily="18" charset="0"/>
              </a:rPr>
              <a:t>Browser</a:t>
            </a:r>
            <a:r>
              <a:rPr lang="en-US" sz="3100" b="1" dirty="0" smtClean="0">
                <a:latin typeface="Times New Roman" pitchFamily="18" charset="0"/>
                <a:cs typeface="Times New Roman" pitchFamily="18" charset="0"/>
              </a:rPr>
              <a:t>:</a:t>
            </a:r>
            <a:r>
              <a:rPr lang="en-US" sz="3100" dirty="0" smtClean="0">
                <a:latin typeface="Times New Roman" pitchFamily="18" charset="0"/>
                <a:cs typeface="Times New Roman" pitchFamily="18" charset="0"/>
              </a:rPr>
              <a:t> Google Chrome / Edge</a:t>
            </a:r>
          </a:p>
          <a:p>
            <a:pPr lvl="0"/>
            <a:r>
              <a:rPr lang="en-US" sz="3100" dirty="0" smtClean="0">
                <a:latin typeface="Times New Roman" pitchFamily="18" charset="0"/>
                <a:cs typeface="Times New Roman" pitchFamily="18" charset="0"/>
              </a:rPr>
              <a:t>Payment Gateway</a:t>
            </a:r>
            <a:r>
              <a:rPr lang="en-US" sz="3100" b="1" dirty="0" smtClean="0">
                <a:latin typeface="Times New Roman" pitchFamily="18" charset="0"/>
                <a:cs typeface="Times New Roman" pitchFamily="18" charset="0"/>
              </a:rPr>
              <a:t>:</a:t>
            </a:r>
            <a:r>
              <a:rPr lang="en-US" sz="3100" dirty="0" smtClean="0">
                <a:latin typeface="Times New Roman" pitchFamily="18" charset="0"/>
                <a:cs typeface="Times New Roman" pitchFamily="18" charset="0"/>
              </a:rPr>
              <a:t> Razorpay</a:t>
            </a:r>
          </a:p>
          <a:p>
            <a:pPr lvl="0"/>
            <a:r>
              <a:rPr lang="en-US" sz="3100" dirty="0" smtClean="0">
                <a:latin typeface="Times New Roman" pitchFamily="18" charset="0"/>
                <a:cs typeface="Times New Roman" pitchFamily="18" charset="0"/>
              </a:rPr>
              <a:t>Notification Service</a:t>
            </a:r>
            <a:r>
              <a:rPr lang="en-US" sz="3100" b="1" dirty="0" smtClean="0">
                <a:latin typeface="Times New Roman" pitchFamily="18" charset="0"/>
                <a:cs typeface="Times New Roman" pitchFamily="18" charset="0"/>
              </a:rPr>
              <a:t>:</a:t>
            </a:r>
            <a:r>
              <a:rPr lang="en-US" sz="3100" dirty="0" smtClean="0">
                <a:latin typeface="Times New Roman" pitchFamily="18" charset="0"/>
                <a:cs typeface="Times New Roman" pitchFamily="18" charset="0"/>
              </a:rPr>
              <a:t> Firebase Cloud Messaging (FCM)</a:t>
            </a:r>
          </a:p>
          <a:p>
            <a:endParaRPr lang="en-US" dirty="0"/>
          </a:p>
        </p:txBody>
      </p:sp>
      <p:sp>
        <p:nvSpPr>
          <p:cNvPr id="3" name="Title 2"/>
          <p:cNvSpPr>
            <a:spLocks noGrp="1"/>
          </p:cNvSpPr>
          <p:nvPr>
            <p:ph type="title"/>
          </p:nvPr>
        </p:nvSpPr>
        <p:spPr>
          <a:xfrm>
            <a:off x="0" y="0"/>
            <a:ext cx="9144000" cy="692696"/>
          </a:xfrm>
        </p:spPr>
        <p:txBody>
          <a:bodyPr>
            <a:noAutofit/>
          </a:bodyPr>
          <a:lstStyle/>
          <a:p>
            <a:pPr algn="ctr"/>
            <a:r>
              <a:rPr lang="en-IN" sz="4000" dirty="0" smtClean="0">
                <a:latin typeface="Times New Roman" pitchFamily="18" charset="0"/>
                <a:cs typeface="Times New Roman" pitchFamily="18" charset="0"/>
              </a:rPr>
              <a:t>Hardware and Software Configuration</a:t>
            </a:r>
            <a:endParaRPr lang="en-US" sz="4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2800" dirty="0" smtClean="0">
                <a:latin typeface="Times New Roman" pitchFamily="18" charset="0"/>
                <a:cs typeface="Times New Roman" pitchFamily="18" charset="0"/>
              </a:rPr>
              <a:t>Role-based login (Admin, Organizer, Customer</a:t>
            </a:r>
            <a:r>
              <a:rPr lang="en-US" sz="2800" dirty="0" smtClean="0">
                <a:latin typeface="Times New Roman" pitchFamily="18" charset="0"/>
                <a:cs typeface="Times New Roman" pitchFamily="18" charset="0"/>
              </a:rPr>
              <a:t>).</a:t>
            </a:r>
          </a:p>
          <a:p>
            <a:r>
              <a:rPr lang="en-US" sz="2800"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City-wise event </a:t>
            </a:r>
            <a:r>
              <a:rPr lang="en-US" sz="2800" dirty="0" smtClean="0">
                <a:latin typeface="Times New Roman" pitchFamily="18" charset="0"/>
                <a:cs typeface="Times New Roman" pitchFamily="18" charset="0"/>
              </a:rPr>
              <a:t>filtering.</a:t>
            </a:r>
          </a:p>
          <a:p>
            <a:r>
              <a:rPr lang="en-US" sz="2800"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Event creation and approval </a:t>
            </a:r>
            <a:r>
              <a:rPr lang="en-US" sz="2800" dirty="0" smtClean="0">
                <a:latin typeface="Times New Roman" pitchFamily="18" charset="0"/>
                <a:cs typeface="Times New Roman" pitchFamily="18" charset="0"/>
              </a:rPr>
              <a:t>system.</a:t>
            </a:r>
          </a:p>
          <a:p>
            <a:r>
              <a:rPr lang="en-US" sz="2800"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Secure user </a:t>
            </a:r>
            <a:r>
              <a:rPr lang="en-US" sz="2800" dirty="0" smtClean="0">
                <a:latin typeface="Times New Roman" pitchFamily="18" charset="0"/>
                <a:cs typeface="Times New Roman" pitchFamily="18" charset="0"/>
              </a:rPr>
              <a:t>authentication.</a:t>
            </a:r>
          </a:p>
          <a:p>
            <a:r>
              <a:rPr lang="en-US" sz="2800"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Notification </a:t>
            </a:r>
            <a:r>
              <a:rPr lang="en-US" sz="2800" dirty="0" smtClean="0">
                <a:latin typeface="Times New Roman" pitchFamily="18" charset="0"/>
                <a:cs typeface="Times New Roman" pitchFamily="18" charset="0"/>
              </a:rPr>
              <a:t>system.</a:t>
            </a:r>
          </a:p>
          <a:p>
            <a:r>
              <a:rPr lang="en-US" sz="2800"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Payment and ticket </a:t>
            </a:r>
            <a:r>
              <a:rPr lang="en-US" sz="2800" dirty="0" smtClean="0">
                <a:latin typeface="Times New Roman" pitchFamily="18" charset="0"/>
                <a:cs typeface="Times New Roman" pitchFamily="18" charset="0"/>
              </a:rPr>
              <a:t>generation.</a:t>
            </a:r>
          </a:p>
          <a:p>
            <a:r>
              <a:rPr lang="en-US" sz="2800"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QR code ticket PDF ticket download </a:t>
            </a:r>
            <a:r>
              <a:rPr lang="en-US" sz="2800" dirty="0" smtClean="0">
                <a:latin typeface="Times New Roman" pitchFamily="18" charset="0"/>
                <a:cs typeface="Times New Roman" pitchFamily="18" charset="0"/>
              </a:rPr>
              <a:t>.</a:t>
            </a:r>
          </a:p>
          <a:p>
            <a:r>
              <a:rPr lang="en-US" sz="2800" dirty="0" smtClean="0">
                <a:latin typeface="Times New Roman" pitchFamily="18" charset="0"/>
                <a:cs typeface="Times New Roman" pitchFamily="18" charset="0"/>
              </a:rPr>
              <a:t>Dashboard </a:t>
            </a:r>
            <a:r>
              <a:rPr lang="en-US" sz="2800" dirty="0" smtClean="0">
                <a:latin typeface="Times New Roman" pitchFamily="18" charset="0"/>
                <a:cs typeface="Times New Roman" pitchFamily="18" charset="0"/>
              </a:rPr>
              <a:t>for each </a:t>
            </a:r>
            <a:r>
              <a:rPr lang="en-US" sz="2800" dirty="0" smtClean="0">
                <a:latin typeface="Times New Roman" pitchFamily="18" charset="0"/>
                <a:cs typeface="Times New Roman" pitchFamily="18" charset="0"/>
              </a:rPr>
              <a:t>role.</a:t>
            </a:r>
          </a:p>
          <a:p>
            <a:r>
              <a:rPr lang="en-US" sz="2800"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Contact and review system</a:t>
            </a:r>
            <a:endParaRPr lang="en-US" sz="2800" dirty="0">
              <a:latin typeface="Times New Roman" pitchFamily="18" charset="0"/>
              <a:cs typeface="Times New Roman" pitchFamily="18" charset="0"/>
            </a:endParaRPr>
          </a:p>
        </p:txBody>
      </p:sp>
      <p:sp>
        <p:nvSpPr>
          <p:cNvPr id="3" name="Title 2"/>
          <p:cNvSpPr>
            <a:spLocks noGrp="1"/>
          </p:cNvSpPr>
          <p:nvPr>
            <p:ph type="title"/>
          </p:nvPr>
        </p:nvSpPr>
        <p:spPr/>
        <p:txBody>
          <a:bodyPr>
            <a:normAutofit/>
          </a:bodyPr>
          <a:lstStyle/>
          <a:p>
            <a:pPr algn="ctr"/>
            <a:r>
              <a:rPr lang="en-IN" sz="4000" dirty="0" smtClean="0">
                <a:latin typeface="Times New Roman" pitchFamily="18" charset="0"/>
                <a:cs typeface="Times New Roman" pitchFamily="18" charset="0"/>
              </a:rPr>
              <a:t>Salient features</a:t>
            </a:r>
            <a:endParaRPr lang="en-US" sz="4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457200" y="908720"/>
            <a:ext cx="8229600" cy="4954555"/>
          </a:xfrm>
        </p:spPr>
        <p:txBody>
          <a:bodyPr>
            <a:noAutofit/>
          </a:bodyPr>
          <a:lstStyle/>
          <a:p>
            <a:r>
              <a:rPr lang="en-US" sz="2000" dirty="0" smtClean="0">
                <a:latin typeface="Times New Roman" pitchFamily="18" charset="0"/>
                <a:cs typeface="Times New Roman" pitchFamily="18" charset="0"/>
              </a:rPr>
              <a:t>Event Management System is a web-based application to manage events digitally. </a:t>
            </a:r>
          </a:p>
          <a:p>
            <a:r>
              <a:rPr lang="en-US" sz="2000" dirty="0" smtClean="0">
                <a:latin typeface="Times New Roman" pitchFamily="18" charset="0"/>
                <a:cs typeface="Times New Roman" pitchFamily="18" charset="0"/>
              </a:rPr>
              <a:t>It helps organize seminars, workshops, conferences, and cultural programs easily. </a:t>
            </a:r>
          </a:p>
          <a:p>
            <a:r>
              <a:rPr lang="en-US" sz="2000" dirty="0" smtClean="0">
                <a:latin typeface="Times New Roman" pitchFamily="18" charset="0"/>
                <a:cs typeface="Times New Roman" pitchFamily="18" charset="0"/>
              </a:rPr>
              <a:t>The system reduces manual work like paper registration and ticket management. </a:t>
            </a:r>
          </a:p>
          <a:p>
            <a:r>
              <a:rPr lang="en-US" sz="2000" dirty="0" smtClean="0">
                <a:latin typeface="Times New Roman" pitchFamily="18" charset="0"/>
                <a:cs typeface="Times New Roman" pitchFamily="18" charset="0"/>
              </a:rPr>
              <a:t>It provides role-based access for Admin, Organizer, and Customer. </a:t>
            </a:r>
          </a:p>
          <a:p>
            <a:r>
              <a:rPr lang="en-US" sz="2000" dirty="0" smtClean="0">
                <a:latin typeface="Times New Roman" pitchFamily="18" charset="0"/>
                <a:cs typeface="Times New Roman" pitchFamily="18" charset="0"/>
              </a:rPr>
              <a:t>Organizers can create events and admin approves them. </a:t>
            </a:r>
          </a:p>
          <a:p>
            <a:r>
              <a:rPr lang="en-US" sz="2000" dirty="0" smtClean="0">
                <a:latin typeface="Times New Roman" pitchFamily="18" charset="0"/>
                <a:cs typeface="Times New Roman" pitchFamily="18" charset="0"/>
              </a:rPr>
              <a:t>Customers can search, register, and pay for events online. </a:t>
            </a:r>
          </a:p>
          <a:p>
            <a:r>
              <a:rPr lang="en-US" sz="2000" dirty="0" smtClean="0">
                <a:latin typeface="Times New Roman" pitchFamily="18" charset="0"/>
                <a:cs typeface="Times New Roman" pitchFamily="18" charset="0"/>
              </a:rPr>
              <a:t>System generates tickets with QR code and PDF download. </a:t>
            </a:r>
          </a:p>
          <a:p>
            <a:r>
              <a:rPr lang="en-US" sz="2000" dirty="0" smtClean="0">
                <a:latin typeface="Times New Roman" pitchFamily="18" charset="0"/>
                <a:cs typeface="Times New Roman" pitchFamily="18" charset="0"/>
              </a:rPr>
              <a:t>Notifications and city-wise event filtering improve user experience. </a:t>
            </a:r>
          </a:p>
          <a:p>
            <a:r>
              <a:rPr lang="en-US" sz="2000" dirty="0" smtClean="0">
                <a:latin typeface="Times New Roman" pitchFamily="18" charset="0"/>
                <a:cs typeface="Times New Roman" pitchFamily="18" charset="0"/>
              </a:rPr>
              <a:t>Built using React, PHP, and MySQL for secure and efficient management. </a:t>
            </a:r>
          </a:p>
          <a:p>
            <a:r>
              <a:rPr lang="en-US" sz="2000" dirty="0" smtClean="0">
                <a:latin typeface="Times New Roman" pitchFamily="18" charset="0"/>
                <a:cs typeface="Times New Roman" pitchFamily="18" charset="0"/>
              </a:rPr>
              <a:t>Overall, the system makes event management simple, fast, and organized. </a:t>
            </a:r>
            <a:endParaRPr lang="en-US" sz="2000" dirty="0">
              <a:latin typeface="Times New Roman" pitchFamily="18" charset="0"/>
              <a:cs typeface="Times New Roman" pitchFamily="18" charset="0"/>
            </a:endParaRPr>
          </a:p>
        </p:txBody>
      </p:sp>
      <p:sp>
        <p:nvSpPr>
          <p:cNvPr id="4" name="Title 3"/>
          <p:cNvSpPr>
            <a:spLocks noGrp="1"/>
          </p:cNvSpPr>
          <p:nvPr>
            <p:ph type="title"/>
          </p:nvPr>
        </p:nvSpPr>
        <p:spPr>
          <a:xfrm>
            <a:off x="467544" y="0"/>
            <a:ext cx="8229600" cy="764704"/>
          </a:xfrm>
        </p:spPr>
        <p:txBody>
          <a:bodyPr>
            <a:normAutofit/>
          </a:bodyPr>
          <a:lstStyle/>
          <a:p>
            <a:pPr algn="ctr"/>
            <a:r>
              <a:rPr lang="en-IN" sz="4000" dirty="0" smtClean="0">
                <a:latin typeface="Times New Roman" pitchFamily="18" charset="0"/>
                <a:cs typeface="Times New Roman" pitchFamily="18" charset="0"/>
              </a:rPr>
              <a:t>Introduction</a:t>
            </a:r>
            <a:endParaRPr lang="en-US" sz="4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08720"/>
            <a:ext cx="8229600" cy="5098571"/>
          </a:xfrm>
        </p:spPr>
        <p:txBody>
          <a:bodyPr>
            <a:normAutofit/>
          </a:bodyPr>
          <a:lstStyle/>
          <a:p>
            <a:pPr>
              <a:buNone/>
            </a:pPr>
            <a:r>
              <a:rPr lang="en-US" sz="2800" b="1" dirty="0" smtClean="0">
                <a:latin typeface="Times New Roman" pitchFamily="18" charset="0"/>
                <a:cs typeface="Times New Roman" pitchFamily="18" charset="0"/>
              </a:rPr>
              <a:t>Aim of the Project :</a:t>
            </a:r>
          </a:p>
          <a:p>
            <a:r>
              <a:rPr lang="en-US" sz="2200" dirty="0" smtClean="0">
                <a:latin typeface="Times New Roman" pitchFamily="18" charset="0"/>
                <a:cs typeface="Times New Roman" pitchFamily="18" charset="0"/>
              </a:rPr>
              <a:t>Develop a web-based Event Management System. </a:t>
            </a:r>
          </a:p>
          <a:p>
            <a:r>
              <a:rPr lang="en-US" sz="2200" dirty="0" smtClean="0">
                <a:latin typeface="Times New Roman" pitchFamily="18" charset="0"/>
                <a:cs typeface="Times New Roman" pitchFamily="18" charset="0"/>
              </a:rPr>
              <a:t>Simplify and automate event creation and management. </a:t>
            </a:r>
          </a:p>
          <a:p>
            <a:r>
              <a:rPr lang="en-US" sz="2200" dirty="0" smtClean="0">
                <a:latin typeface="Times New Roman" pitchFamily="18" charset="0"/>
                <a:cs typeface="Times New Roman" pitchFamily="18" charset="0"/>
              </a:rPr>
              <a:t>Provide a centralized platform for Admin, Organizer, and Customer. </a:t>
            </a:r>
          </a:p>
          <a:p>
            <a:r>
              <a:rPr lang="en-US" sz="2200" dirty="0" smtClean="0">
                <a:latin typeface="Times New Roman" pitchFamily="18" charset="0"/>
                <a:cs typeface="Times New Roman" pitchFamily="18" charset="0"/>
              </a:rPr>
              <a:t>Allow organizers to create and manage events easily. </a:t>
            </a:r>
          </a:p>
          <a:p>
            <a:r>
              <a:rPr lang="en-US" sz="2200" dirty="0" smtClean="0">
                <a:latin typeface="Times New Roman" pitchFamily="18" charset="0"/>
                <a:cs typeface="Times New Roman" pitchFamily="18" charset="0"/>
              </a:rPr>
              <a:t>Allow customers to search and register for events. </a:t>
            </a:r>
          </a:p>
          <a:p>
            <a:r>
              <a:rPr lang="en-US" sz="2200" dirty="0" smtClean="0">
                <a:latin typeface="Times New Roman" pitchFamily="18" charset="0"/>
                <a:cs typeface="Times New Roman" pitchFamily="18" charset="0"/>
              </a:rPr>
              <a:t>Allow admin to monitor and control the system. </a:t>
            </a:r>
          </a:p>
          <a:p>
            <a:r>
              <a:rPr lang="en-US" sz="2200" dirty="0" smtClean="0">
                <a:latin typeface="Times New Roman" pitchFamily="18" charset="0"/>
                <a:cs typeface="Times New Roman" pitchFamily="18" charset="0"/>
              </a:rPr>
              <a:t>Reduce manual work and improve efficiency. </a:t>
            </a:r>
          </a:p>
          <a:p>
            <a:r>
              <a:rPr lang="en-US" sz="2200" dirty="0" smtClean="0">
                <a:latin typeface="Times New Roman" pitchFamily="18" charset="0"/>
                <a:cs typeface="Times New Roman" pitchFamily="18" charset="0"/>
              </a:rPr>
              <a:t>Provide a secure and organized event management solution. </a:t>
            </a:r>
          </a:p>
          <a:p>
            <a:r>
              <a:rPr lang="en-US" sz="2200" dirty="0" smtClean="0">
                <a:latin typeface="Times New Roman" pitchFamily="18" charset="0"/>
                <a:cs typeface="Times New Roman" pitchFamily="18" charset="0"/>
              </a:rPr>
              <a:t>Include role-based dashboards, notifications, and city-wise filtering. </a:t>
            </a:r>
          </a:p>
          <a:p>
            <a:r>
              <a:rPr lang="en-US" sz="2200" dirty="0" smtClean="0">
                <a:latin typeface="Times New Roman" pitchFamily="18" charset="0"/>
                <a:cs typeface="Times New Roman" pitchFamily="18" charset="0"/>
              </a:rPr>
              <a:t>Provide ticket generation with QR code and payment tracking.</a:t>
            </a:r>
          </a:p>
          <a:p>
            <a:endParaRPr lang="en-US" dirty="0"/>
          </a:p>
        </p:txBody>
      </p:sp>
      <p:sp>
        <p:nvSpPr>
          <p:cNvPr id="3" name="Title 2"/>
          <p:cNvSpPr>
            <a:spLocks noGrp="1"/>
          </p:cNvSpPr>
          <p:nvPr>
            <p:ph type="title"/>
          </p:nvPr>
        </p:nvSpPr>
        <p:spPr>
          <a:xfrm>
            <a:off x="467544" y="0"/>
            <a:ext cx="8229600" cy="764704"/>
          </a:xfrm>
        </p:spPr>
        <p:txBody>
          <a:bodyPr>
            <a:normAutofit/>
          </a:bodyPr>
          <a:lstStyle/>
          <a:p>
            <a:pPr algn="ctr"/>
            <a:r>
              <a:rPr lang="en-IN" sz="4000" dirty="0" smtClean="0">
                <a:latin typeface="Times New Roman" pitchFamily="18" charset="0"/>
                <a:cs typeface="Times New Roman" pitchFamily="18" charset="0"/>
              </a:rPr>
              <a:t>Aim and Objectives</a:t>
            </a:r>
            <a:endParaRPr lang="en-US" sz="4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836712"/>
            <a:ext cx="8229600" cy="5170579"/>
          </a:xfrm>
        </p:spPr>
        <p:txBody>
          <a:bodyPr>
            <a:normAutofit fontScale="62500" lnSpcReduction="20000"/>
          </a:bodyPr>
          <a:lstStyle/>
          <a:p>
            <a:pPr>
              <a:buNone/>
            </a:pPr>
            <a:r>
              <a:rPr lang="en-US" sz="4400" b="1" dirty="0" smtClean="0">
                <a:latin typeface="Times New Roman" pitchFamily="18" charset="0"/>
                <a:cs typeface="Times New Roman" pitchFamily="18" charset="0"/>
              </a:rPr>
              <a:t>Objectives of Project:</a:t>
            </a:r>
          </a:p>
          <a:p>
            <a:r>
              <a:rPr lang="en-US" sz="3200" dirty="0" smtClean="0">
                <a:latin typeface="Times New Roman" pitchFamily="18" charset="0"/>
                <a:cs typeface="Times New Roman" pitchFamily="18" charset="0"/>
              </a:rPr>
              <a:t>Develop a web-based application for event management. </a:t>
            </a:r>
          </a:p>
          <a:p>
            <a:r>
              <a:rPr lang="en-US" sz="3200" dirty="0" smtClean="0">
                <a:latin typeface="Times New Roman" pitchFamily="18" charset="0"/>
                <a:cs typeface="Times New Roman" pitchFamily="18" charset="0"/>
              </a:rPr>
              <a:t>Provide role-based access for Admin, Organizer, and Customer. </a:t>
            </a:r>
          </a:p>
          <a:p>
            <a:r>
              <a:rPr lang="en-US" sz="3200" dirty="0" smtClean="0">
                <a:latin typeface="Times New Roman" pitchFamily="18" charset="0"/>
                <a:cs typeface="Times New Roman" pitchFamily="18" charset="0"/>
              </a:rPr>
              <a:t>Implement secure user registration and login system. </a:t>
            </a:r>
          </a:p>
          <a:p>
            <a:r>
              <a:rPr lang="en-US" sz="3200" dirty="0" smtClean="0">
                <a:latin typeface="Times New Roman" pitchFamily="18" charset="0"/>
                <a:cs typeface="Times New Roman" pitchFamily="18" charset="0"/>
              </a:rPr>
              <a:t>Provide user-friendly home page with search and categories. </a:t>
            </a:r>
          </a:p>
          <a:p>
            <a:r>
              <a:rPr lang="en-US" sz="3200" dirty="0" smtClean="0">
                <a:latin typeface="Times New Roman" pitchFamily="18" charset="0"/>
                <a:cs typeface="Times New Roman" pitchFamily="18" charset="0"/>
              </a:rPr>
              <a:t>Allow city-wise event filtering. </a:t>
            </a:r>
          </a:p>
          <a:p>
            <a:r>
              <a:rPr lang="en-US" sz="3200" dirty="0" smtClean="0">
                <a:latin typeface="Times New Roman" pitchFamily="18" charset="0"/>
                <a:cs typeface="Times New Roman" pitchFamily="18" charset="0"/>
              </a:rPr>
              <a:t>Allow organizers to create, update, and delete events. </a:t>
            </a:r>
          </a:p>
          <a:p>
            <a:r>
              <a:rPr lang="en-US" sz="3200" dirty="0" smtClean="0">
                <a:latin typeface="Times New Roman" pitchFamily="18" charset="0"/>
                <a:cs typeface="Times New Roman" pitchFamily="18" charset="0"/>
              </a:rPr>
              <a:t>Allow admin to approve or reject events and registrations. </a:t>
            </a:r>
          </a:p>
          <a:p>
            <a:r>
              <a:rPr lang="en-US" sz="3200" dirty="0" smtClean="0">
                <a:latin typeface="Times New Roman" pitchFamily="18" charset="0"/>
                <a:cs typeface="Times New Roman" pitchFamily="18" charset="0"/>
              </a:rPr>
              <a:t>Allow customers to register and view tickets in dashboard. </a:t>
            </a:r>
          </a:p>
          <a:p>
            <a:r>
              <a:rPr lang="en-US" sz="3200" dirty="0" smtClean="0">
                <a:latin typeface="Times New Roman" pitchFamily="18" charset="0"/>
                <a:cs typeface="Times New Roman" pitchFamily="18" charset="0"/>
              </a:rPr>
              <a:t>Implement notification system for updates. </a:t>
            </a:r>
          </a:p>
          <a:p>
            <a:r>
              <a:rPr lang="en-US" sz="3200" dirty="0" smtClean="0">
                <a:latin typeface="Times New Roman" pitchFamily="18" charset="0"/>
                <a:cs typeface="Times New Roman" pitchFamily="18" charset="0"/>
              </a:rPr>
              <a:t>Generate tickets with random ticket ID and QR code. </a:t>
            </a:r>
          </a:p>
          <a:p>
            <a:r>
              <a:rPr lang="en-US" sz="3200" dirty="0" smtClean="0">
                <a:latin typeface="Times New Roman" pitchFamily="18" charset="0"/>
                <a:cs typeface="Times New Roman" pitchFamily="18" charset="0"/>
              </a:rPr>
              <a:t>Provide PDF ticket download feature. </a:t>
            </a:r>
          </a:p>
          <a:p>
            <a:r>
              <a:rPr lang="en-US" sz="3200" dirty="0" smtClean="0">
                <a:latin typeface="Times New Roman" pitchFamily="18" charset="0"/>
                <a:cs typeface="Times New Roman" pitchFamily="18" charset="0"/>
              </a:rPr>
              <a:t>Manage paid and free events with payment tracking. </a:t>
            </a:r>
          </a:p>
          <a:p>
            <a:r>
              <a:rPr lang="en-US" sz="3200" dirty="0" smtClean="0">
                <a:latin typeface="Times New Roman" pitchFamily="18" charset="0"/>
                <a:cs typeface="Times New Roman" pitchFamily="18" charset="0"/>
              </a:rPr>
              <a:t>Maintain event analytics and booking records. </a:t>
            </a:r>
          </a:p>
          <a:p>
            <a:r>
              <a:rPr lang="en-US" sz="3200" dirty="0" smtClean="0">
                <a:latin typeface="Times New Roman" pitchFamily="18" charset="0"/>
                <a:cs typeface="Times New Roman" pitchFamily="18" charset="0"/>
              </a:rPr>
              <a:t>Store data securely in MySQL database. </a:t>
            </a:r>
          </a:p>
          <a:p>
            <a:r>
              <a:rPr lang="en-US" sz="3200" dirty="0" smtClean="0">
                <a:latin typeface="Times New Roman" pitchFamily="18" charset="0"/>
                <a:cs typeface="Times New Roman" pitchFamily="18" charset="0"/>
              </a:rPr>
              <a:t>Provide scalable and efficient system for future use.</a:t>
            </a:r>
          </a:p>
          <a:p>
            <a:pPr>
              <a:buNone/>
            </a:pPr>
            <a:endParaRPr lang="en-US" dirty="0"/>
          </a:p>
        </p:txBody>
      </p:sp>
      <p:sp>
        <p:nvSpPr>
          <p:cNvPr id="3" name="Title 2"/>
          <p:cNvSpPr>
            <a:spLocks noGrp="1"/>
          </p:cNvSpPr>
          <p:nvPr>
            <p:ph type="title"/>
          </p:nvPr>
        </p:nvSpPr>
        <p:spPr>
          <a:xfrm>
            <a:off x="467544" y="0"/>
            <a:ext cx="8229600" cy="764704"/>
          </a:xfrm>
        </p:spPr>
        <p:txBody>
          <a:bodyPr/>
          <a:lstStyle/>
          <a:p>
            <a:pPr algn="ctr"/>
            <a:r>
              <a:rPr lang="en-IN" sz="4400" dirty="0" smtClean="0">
                <a:latin typeface="Times New Roman" pitchFamily="18" charset="0"/>
                <a:cs typeface="Times New Roman" pitchFamily="18" charset="0"/>
              </a:rPr>
              <a:t>Aim and Objectives</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08721"/>
            <a:ext cx="8229600" cy="5040559"/>
          </a:xfrm>
        </p:spPr>
        <p:txBody>
          <a:bodyPr>
            <a:normAutofit fontScale="85000" lnSpcReduction="20000"/>
          </a:bodyPr>
          <a:lstStyle/>
          <a:p>
            <a:r>
              <a:rPr lang="en-US" sz="2600" b="1" dirty="0" smtClean="0">
                <a:latin typeface="Times New Roman" pitchFamily="18" charset="0"/>
                <a:cs typeface="Times New Roman" pitchFamily="18" charset="0"/>
              </a:rPr>
              <a:t>Event Management System is divided into three main modules.</a:t>
            </a:r>
          </a:p>
          <a:p>
            <a:pPr lvl="1"/>
            <a:r>
              <a:rPr lang="en-US" sz="2600" dirty="0" smtClean="0">
                <a:latin typeface="Times New Roman" pitchFamily="18" charset="0"/>
                <a:cs typeface="Times New Roman" pitchFamily="18" charset="0"/>
              </a:rPr>
              <a:t> Admin Module manages and controls the entire system. </a:t>
            </a:r>
          </a:p>
          <a:p>
            <a:pPr lvl="1"/>
            <a:r>
              <a:rPr lang="en-US" sz="2600" dirty="0" smtClean="0">
                <a:latin typeface="Times New Roman" pitchFamily="18" charset="0"/>
                <a:cs typeface="Times New Roman" pitchFamily="18" charset="0"/>
              </a:rPr>
              <a:t>Organizer Module creates and manages events.</a:t>
            </a:r>
          </a:p>
          <a:p>
            <a:pPr lvl="1"/>
            <a:r>
              <a:rPr lang="en-US" sz="2600" dirty="0" smtClean="0">
                <a:latin typeface="Times New Roman" pitchFamily="18" charset="0"/>
                <a:cs typeface="Times New Roman" pitchFamily="18" charset="0"/>
              </a:rPr>
              <a:t> Customer Module allows users to browse and register for events.</a:t>
            </a:r>
          </a:p>
          <a:p>
            <a:pPr>
              <a:buNone/>
            </a:pPr>
            <a:r>
              <a:rPr lang="en-US" sz="3300" b="1" dirty="0" smtClean="0">
                <a:latin typeface="Times New Roman" pitchFamily="18" charset="0"/>
                <a:cs typeface="Times New Roman" pitchFamily="18" charset="0"/>
              </a:rPr>
              <a:t>Admin Module:</a:t>
            </a:r>
          </a:p>
          <a:p>
            <a:r>
              <a:rPr lang="en-US" sz="2600" dirty="0" smtClean="0">
                <a:latin typeface="Times New Roman" pitchFamily="18" charset="0"/>
                <a:cs typeface="Times New Roman" pitchFamily="18" charset="0"/>
              </a:rPr>
              <a:t>Admin manages categories like workshops, seminars, and conferences. </a:t>
            </a:r>
          </a:p>
          <a:p>
            <a:r>
              <a:rPr lang="en-US" sz="2600" dirty="0" smtClean="0">
                <a:latin typeface="Times New Roman" pitchFamily="18" charset="0"/>
                <a:cs typeface="Times New Roman" pitchFamily="18" charset="0"/>
              </a:rPr>
              <a:t>Approves or rejects events created by organizers. </a:t>
            </a:r>
          </a:p>
          <a:p>
            <a:r>
              <a:rPr lang="en-US" sz="2600" dirty="0" smtClean="0">
                <a:latin typeface="Times New Roman" pitchFamily="18" charset="0"/>
                <a:cs typeface="Times New Roman" pitchFamily="18" charset="0"/>
              </a:rPr>
              <a:t>Manages event registrations. </a:t>
            </a:r>
          </a:p>
          <a:p>
            <a:r>
              <a:rPr lang="en-US" sz="2600" dirty="0" smtClean="0">
                <a:latin typeface="Times New Roman" pitchFamily="18" charset="0"/>
                <a:cs typeface="Times New Roman" pitchFamily="18" charset="0"/>
              </a:rPr>
              <a:t>Views and manages all users. </a:t>
            </a:r>
          </a:p>
          <a:p>
            <a:r>
              <a:rPr lang="en-US" sz="2600" dirty="0" smtClean="0">
                <a:latin typeface="Times New Roman" pitchFamily="18" charset="0"/>
                <a:cs typeface="Times New Roman" pitchFamily="18" charset="0"/>
              </a:rPr>
              <a:t>Checks bookings and payment status. </a:t>
            </a:r>
          </a:p>
          <a:p>
            <a:r>
              <a:rPr lang="en-US" sz="2600" dirty="0" smtClean="0">
                <a:latin typeface="Times New Roman" pitchFamily="18" charset="0"/>
                <a:cs typeface="Times New Roman" pitchFamily="18" charset="0"/>
              </a:rPr>
              <a:t>Views user reviews and feedback. </a:t>
            </a:r>
          </a:p>
          <a:p>
            <a:r>
              <a:rPr lang="en-US" sz="2600" dirty="0" smtClean="0">
                <a:latin typeface="Times New Roman" pitchFamily="18" charset="0"/>
                <a:cs typeface="Times New Roman" pitchFamily="18" charset="0"/>
              </a:rPr>
              <a:t>Manages contact messages. </a:t>
            </a:r>
          </a:p>
          <a:p>
            <a:r>
              <a:rPr lang="en-US" sz="2600" dirty="0" smtClean="0">
                <a:latin typeface="Times New Roman" pitchFamily="18" charset="0"/>
                <a:cs typeface="Times New Roman" pitchFamily="18" charset="0"/>
              </a:rPr>
              <a:t>Receives notifications for events and registrations. </a:t>
            </a:r>
          </a:p>
          <a:p>
            <a:r>
              <a:rPr lang="en-US" sz="2600" dirty="0" smtClean="0">
                <a:latin typeface="Times New Roman" pitchFamily="18" charset="0"/>
                <a:cs typeface="Times New Roman" pitchFamily="18" charset="0"/>
              </a:rPr>
              <a:t>Ensures system security and smooth operation. </a:t>
            </a:r>
          </a:p>
          <a:p>
            <a:pPr lvl="1">
              <a:buNone/>
            </a:pPr>
            <a:endParaRPr lang="en-IN" sz="2000" dirty="0" smtClean="0">
              <a:latin typeface="Times New Roman" pitchFamily="18" charset="0"/>
              <a:cs typeface="Times New Roman" pitchFamily="18" charset="0"/>
            </a:endParaRPr>
          </a:p>
          <a:p>
            <a:pPr lvl="1"/>
            <a:endParaRPr lang="en-IN" sz="2000" dirty="0" smtClean="0">
              <a:latin typeface="Times New Roman" pitchFamily="18" charset="0"/>
              <a:cs typeface="Times New Roman" pitchFamily="18" charset="0"/>
            </a:endParaRPr>
          </a:p>
          <a:p>
            <a:pPr lvl="1"/>
            <a:endParaRPr lang="en-US" sz="2000" dirty="0">
              <a:latin typeface="Times New Roman" pitchFamily="18" charset="0"/>
              <a:cs typeface="Times New Roman" pitchFamily="18" charset="0"/>
            </a:endParaRPr>
          </a:p>
        </p:txBody>
      </p:sp>
      <p:sp>
        <p:nvSpPr>
          <p:cNvPr id="3" name="Title 2"/>
          <p:cNvSpPr>
            <a:spLocks noGrp="1"/>
          </p:cNvSpPr>
          <p:nvPr>
            <p:ph type="title"/>
          </p:nvPr>
        </p:nvSpPr>
        <p:spPr>
          <a:xfrm>
            <a:off x="539552" y="0"/>
            <a:ext cx="8229600" cy="850106"/>
          </a:xfrm>
        </p:spPr>
        <p:txBody>
          <a:bodyPr>
            <a:normAutofit/>
          </a:bodyPr>
          <a:lstStyle/>
          <a:p>
            <a:pPr algn="ctr"/>
            <a:r>
              <a:rPr lang="en-IN" sz="4000" dirty="0" smtClean="0">
                <a:latin typeface="Times New Roman" pitchFamily="18" charset="0"/>
                <a:cs typeface="Times New Roman" pitchFamily="18" charset="0"/>
              </a:rPr>
              <a:t>Modules</a:t>
            </a:r>
            <a:endParaRPr lang="en-US" sz="4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95536" y="775245"/>
            <a:ext cx="8229600" cy="3589859"/>
          </a:xfrm>
        </p:spPr>
        <p:txBody>
          <a:bodyPr>
            <a:normAutofit fontScale="32500" lnSpcReduction="20000"/>
          </a:bodyPr>
          <a:lstStyle/>
          <a:p>
            <a:pPr>
              <a:buNone/>
            </a:pPr>
            <a:r>
              <a:rPr lang="en-US" sz="8600" b="1" dirty="0" smtClean="0">
                <a:latin typeface="Times New Roman" pitchFamily="18" charset="0"/>
                <a:cs typeface="Times New Roman" pitchFamily="18" charset="0"/>
              </a:rPr>
              <a:t>Organizer Module:</a:t>
            </a:r>
          </a:p>
          <a:p>
            <a:r>
              <a:rPr lang="en-US" sz="6800" dirty="0" smtClean="0">
                <a:latin typeface="Times New Roman" pitchFamily="18" charset="0"/>
                <a:cs typeface="Times New Roman" pitchFamily="18" charset="0"/>
              </a:rPr>
              <a:t>Organizer can create new events. </a:t>
            </a:r>
          </a:p>
          <a:p>
            <a:r>
              <a:rPr lang="en-US" sz="6800" dirty="0" smtClean="0">
                <a:latin typeface="Times New Roman" pitchFamily="18" charset="0"/>
                <a:cs typeface="Times New Roman" pitchFamily="18" charset="0"/>
              </a:rPr>
              <a:t>Enters event details like title, date, venue, seats, and price. </a:t>
            </a:r>
          </a:p>
          <a:p>
            <a:r>
              <a:rPr lang="en-US" sz="6800" dirty="0" smtClean="0">
                <a:latin typeface="Times New Roman" pitchFamily="18" charset="0"/>
                <a:cs typeface="Times New Roman" pitchFamily="18" charset="0"/>
              </a:rPr>
              <a:t>Update events before admin approval. </a:t>
            </a:r>
          </a:p>
          <a:p>
            <a:r>
              <a:rPr lang="en-US" sz="6800" dirty="0" smtClean="0">
                <a:latin typeface="Times New Roman" pitchFamily="18" charset="0"/>
                <a:cs typeface="Times New Roman" pitchFamily="18" charset="0"/>
              </a:rPr>
              <a:t>Delete events before approval. </a:t>
            </a:r>
          </a:p>
          <a:p>
            <a:r>
              <a:rPr lang="en-US" sz="6800" dirty="0" smtClean="0">
                <a:latin typeface="Times New Roman" pitchFamily="18" charset="0"/>
                <a:cs typeface="Times New Roman" pitchFamily="18" charset="0"/>
              </a:rPr>
              <a:t>View all created events. </a:t>
            </a:r>
          </a:p>
          <a:p>
            <a:r>
              <a:rPr lang="en-US" sz="6800" dirty="0" smtClean="0">
                <a:latin typeface="Times New Roman" pitchFamily="18" charset="0"/>
                <a:cs typeface="Times New Roman" pitchFamily="18" charset="0"/>
              </a:rPr>
              <a:t>View event analytics. </a:t>
            </a:r>
          </a:p>
          <a:p>
            <a:r>
              <a:rPr lang="en-US" sz="6800" dirty="0" smtClean="0">
                <a:latin typeface="Times New Roman" pitchFamily="18" charset="0"/>
                <a:cs typeface="Times New Roman" pitchFamily="18" charset="0"/>
              </a:rPr>
              <a:t>View Total events and registered users. </a:t>
            </a:r>
          </a:p>
          <a:p>
            <a:r>
              <a:rPr lang="en-US" sz="6800" dirty="0" smtClean="0">
                <a:latin typeface="Times New Roman" pitchFamily="18" charset="0"/>
                <a:cs typeface="Times New Roman" pitchFamily="18" charset="0"/>
              </a:rPr>
              <a:t>Receives notifications for approval or rejection. </a:t>
            </a:r>
          </a:p>
          <a:p>
            <a:r>
              <a:rPr lang="en-US" sz="6800" dirty="0" smtClean="0">
                <a:latin typeface="Times New Roman" pitchFamily="18" charset="0"/>
                <a:cs typeface="Times New Roman" pitchFamily="18" charset="0"/>
              </a:rPr>
              <a:t>Organizer cannot modify event after admin approval. </a:t>
            </a:r>
          </a:p>
        </p:txBody>
      </p:sp>
      <p:sp>
        <p:nvSpPr>
          <p:cNvPr id="3" name="Title 2"/>
          <p:cNvSpPr>
            <a:spLocks noGrp="1"/>
          </p:cNvSpPr>
          <p:nvPr>
            <p:ph type="title"/>
          </p:nvPr>
        </p:nvSpPr>
        <p:spPr>
          <a:xfrm>
            <a:off x="467544" y="0"/>
            <a:ext cx="8229600" cy="778098"/>
          </a:xfrm>
        </p:spPr>
        <p:txBody>
          <a:bodyPr>
            <a:normAutofit/>
          </a:bodyPr>
          <a:lstStyle/>
          <a:p>
            <a:pPr algn="ctr"/>
            <a:r>
              <a:rPr lang="en-IN" sz="4000" dirty="0" smtClean="0">
                <a:latin typeface="Times New Roman" pitchFamily="18" charset="0"/>
                <a:cs typeface="Times New Roman" pitchFamily="18" charset="0"/>
              </a:rPr>
              <a:t>Modules</a:t>
            </a:r>
            <a:endParaRPr lang="en-US" sz="4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9552" y="1196752"/>
            <a:ext cx="8229600" cy="4525963"/>
          </a:xfrm>
        </p:spPr>
        <p:txBody>
          <a:bodyPr>
            <a:normAutofit/>
          </a:bodyPr>
          <a:lstStyle/>
          <a:p>
            <a:pPr>
              <a:buNone/>
            </a:pPr>
            <a:r>
              <a:rPr lang="en-US" sz="2800" b="1" dirty="0" smtClean="0">
                <a:latin typeface="Times New Roman" pitchFamily="18" charset="0"/>
                <a:cs typeface="Times New Roman" pitchFamily="18" charset="0"/>
              </a:rPr>
              <a:t>Customer Module:</a:t>
            </a:r>
          </a:p>
          <a:p>
            <a:r>
              <a:rPr lang="en-US" sz="2200" dirty="0" smtClean="0">
                <a:latin typeface="Times New Roman" pitchFamily="18" charset="0"/>
                <a:cs typeface="Times New Roman" pitchFamily="18" charset="0"/>
              </a:rPr>
              <a:t>Register and log in securely. </a:t>
            </a:r>
          </a:p>
          <a:p>
            <a:r>
              <a:rPr lang="en-US" sz="2200" dirty="0" smtClean="0">
                <a:latin typeface="Times New Roman" pitchFamily="18" charset="0"/>
                <a:cs typeface="Times New Roman" pitchFamily="18" charset="0"/>
              </a:rPr>
              <a:t>Browse upcoming and today’s events. </a:t>
            </a:r>
          </a:p>
          <a:p>
            <a:r>
              <a:rPr lang="en-US" sz="2200" dirty="0" smtClean="0">
                <a:latin typeface="Times New Roman" pitchFamily="18" charset="0"/>
                <a:cs typeface="Times New Roman" pitchFamily="18" charset="0"/>
              </a:rPr>
              <a:t>Filter events city-wise. </a:t>
            </a:r>
          </a:p>
          <a:p>
            <a:r>
              <a:rPr lang="en-US" sz="2200" dirty="0" smtClean="0">
                <a:latin typeface="Times New Roman" pitchFamily="18" charset="0"/>
                <a:cs typeface="Times New Roman" pitchFamily="18" charset="0"/>
              </a:rPr>
              <a:t>View full event details. </a:t>
            </a:r>
          </a:p>
          <a:p>
            <a:r>
              <a:rPr lang="en-US" sz="2200" dirty="0" smtClean="0">
                <a:latin typeface="Times New Roman" pitchFamily="18" charset="0"/>
                <a:cs typeface="Times New Roman" pitchFamily="18" charset="0"/>
              </a:rPr>
              <a:t>Register for events. </a:t>
            </a:r>
          </a:p>
          <a:p>
            <a:r>
              <a:rPr lang="en-US" sz="2200" dirty="0" smtClean="0">
                <a:latin typeface="Times New Roman" pitchFamily="18" charset="0"/>
                <a:cs typeface="Times New Roman" pitchFamily="18" charset="0"/>
              </a:rPr>
              <a:t>Users complete payment for paid events. </a:t>
            </a:r>
          </a:p>
          <a:p>
            <a:r>
              <a:rPr lang="en-US" sz="2200" dirty="0" smtClean="0">
                <a:latin typeface="Times New Roman" pitchFamily="18" charset="0"/>
                <a:cs typeface="Times New Roman" pitchFamily="18" charset="0"/>
              </a:rPr>
              <a:t>Ticket ID and QR code are generated. </a:t>
            </a:r>
          </a:p>
          <a:p>
            <a:r>
              <a:rPr lang="en-US" sz="2200" dirty="0" smtClean="0">
                <a:latin typeface="Times New Roman" pitchFamily="18" charset="0"/>
                <a:cs typeface="Times New Roman" pitchFamily="18" charset="0"/>
              </a:rPr>
              <a:t>Download PDF ticket. </a:t>
            </a:r>
          </a:p>
          <a:p>
            <a:r>
              <a:rPr lang="en-US" sz="2200" dirty="0" smtClean="0">
                <a:latin typeface="Times New Roman" pitchFamily="18" charset="0"/>
                <a:cs typeface="Times New Roman" pitchFamily="18" charset="0"/>
              </a:rPr>
              <a:t>View registered events in </a:t>
            </a:r>
            <a:r>
              <a:rPr lang="en-US" sz="2200" dirty="0" err="1" smtClean="0">
                <a:latin typeface="Times New Roman" pitchFamily="18" charset="0"/>
                <a:cs typeface="Times New Roman" pitchFamily="18" charset="0"/>
              </a:rPr>
              <a:t>dashbaord</a:t>
            </a:r>
            <a:r>
              <a:rPr lang="en-US" sz="2200" dirty="0" smtClean="0">
                <a:latin typeface="Times New Roman" pitchFamily="18" charset="0"/>
                <a:cs typeface="Times New Roman" pitchFamily="18" charset="0"/>
              </a:rPr>
              <a:t>. </a:t>
            </a:r>
          </a:p>
          <a:p>
            <a:r>
              <a:rPr lang="en-US" sz="2200" dirty="0" smtClean="0">
                <a:latin typeface="Times New Roman" pitchFamily="18" charset="0"/>
                <a:cs typeface="Times New Roman" pitchFamily="18" charset="0"/>
              </a:rPr>
              <a:t>Receive notifications for approvals and tickets. </a:t>
            </a:r>
          </a:p>
          <a:p>
            <a:endParaRPr lang="en-US" dirty="0"/>
          </a:p>
        </p:txBody>
      </p:sp>
      <p:sp>
        <p:nvSpPr>
          <p:cNvPr id="3" name="Title 2"/>
          <p:cNvSpPr>
            <a:spLocks noGrp="1"/>
          </p:cNvSpPr>
          <p:nvPr>
            <p:ph type="title"/>
          </p:nvPr>
        </p:nvSpPr>
        <p:spPr>
          <a:xfrm>
            <a:off x="457200" y="274638"/>
            <a:ext cx="8229600" cy="922114"/>
          </a:xfrm>
        </p:spPr>
        <p:txBody>
          <a:bodyPr/>
          <a:lstStyle/>
          <a:p>
            <a:pPr algn="ctr"/>
            <a:r>
              <a:rPr lang="en-IN" sz="4400" dirty="0" smtClean="0">
                <a:latin typeface="Times New Roman" pitchFamily="18" charset="0"/>
                <a:cs typeface="Times New Roman" pitchFamily="18" charset="0"/>
              </a:rPr>
              <a:t>Modules</a:t>
            </a: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08720"/>
            <a:ext cx="8229600" cy="5098571"/>
          </a:xfrm>
        </p:spPr>
        <p:txBody>
          <a:bodyPr>
            <a:noAutofit/>
          </a:bodyPr>
          <a:lstStyle/>
          <a:p>
            <a:r>
              <a:rPr lang="en-US" sz="2000" dirty="0" smtClean="0">
                <a:latin typeface="Times New Roman" pitchFamily="18" charset="0"/>
                <a:cs typeface="Times New Roman" pitchFamily="18" charset="0"/>
              </a:rPr>
              <a:t>Traditional event management uses manual processes and paperwork.</a:t>
            </a:r>
          </a:p>
          <a:p>
            <a:r>
              <a:rPr lang="en-US" sz="2000" dirty="0" smtClean="0">
                <a:latin typeface="Times New Roman" pitchFamily="18" charset="0"/>
                <a:cs typeface="Times New Roman" pitchFamily="18" charset="0"/>
              </a:rPr>
              <a:t> Managing multiple events and registrations is difficult.</a:t>
            </a:r>
          </a:p>
          <a:p>
            <a:r>
              <a:rPr lang="en-US" sz="2000" dirty="0" smtClean="0">
                <a:latin typeface="Times New Roman" pitchFamily="18" charset="0"/>
                <a:cs typeface="Times New Roman" pitchFamily="18" charset="0"/>
              </a:rPr>
              <a:t> Organizers face problems in tracking participants and records.</a:t>
            </a:r>
          </a:p>
          <a:p>
            <a:r>
              <a:rPr lang="en-US" sz="2000" dirty="0" smtClean="0">
                <a:latin typeface="Times New Roman" pitchFamily="18" charset="0"/>
                <a:cs typeface="Times New Roman" pitchFamily="18" charset="0"/>
              </a:rPr>
              <a:t> Customers face difficulty in searching and registering for events.</a:t>
            </a:r>
          </a:p>
          <a:p>
            <a:r>
              <a:rPr lang="en-US" sz="2000" dirty="0" smtClean="0">
                <a:latin typeface="Times New Roman" pitchFamily="18" charset="0"/>
                <a:cs typeface="Times New Roman" pitchFamily="18" charset="0"/>
              </a:rPr>
              <a:t> Admin cannot monitor all activities without a centralized system.</a:t>
            </a:r>
          </a:p>
          <a:p>
            <a:r>
              <a:rPr lang="en-US" sz="2000" dirty="0" smtClean="0">
                <a:latin typeface="Times New Roman" pitchFamily="18" charset="0"/>
                <a:cs typeface="Times New Roman" pitchFamily="18" charset="0"/>
              </a:rPr>
              <a:t> Lack of proper communication and notifications creates confusion. </a:t>
            </a:r>
          </a:p>
          <a:p>
            <a:r>
              <a:rPr lang="en-US" sz="2000" dirty="0" smtClean="0">
                <a:latin typeface="Times New Roman" pitchFamily="18" charset="0"/>
                <a:cs typeface="Times New Roman" pitchFamily="18" charset="0"/>
              </a:rPr>
              <a:t>Manual ticket generation and payment tracking increase workload. </a:t>
            </a:r>
          </a:p>
          <a:p>
            <a:r>
              <a:rPr lang="en-US" sz="2000" dirty="0" smtClean="0">
                <a:latin typeface="Times New Roman" pitchFamily="18" charset="0"/>
                <a:cs typeface="Times New Roman" pitchFamily="18" charset="0"/>
              </a:rPr>
              <a:t>Need for a web-based Event Management System to automate and simplify the process.</a:t>
            </a:r>
            <a:endParaRPr lang="en-US" sz="2000" dirty="0">
              <a:latin typeface="Times New Roman" pitchFamily="18" charset="0"/>
              <a:cs typeface="Times New Roman" pitchFamily="18" charset="0"/>
            </a:endParaRPr>
          </a:p>
        </p:txBody>
      </p:sp>
      <p:sp>
        <p:nvSpPr>
          <p:cNvPr id="3" name="Title 2"/>
          <p:cNvSpPr>
            <a:spLocks noGrp="1"/>
          </p:cNvSpPr>
          <p:nvPr>
            <p:ph type="title"/>
          </p:nvPr>
        </p:nvSpPr>
        <p:spPr>
          <a:xfrm>
            <a:off x="179512" y="0"/>
            <a:ext cx="8229600" cy="994122"/>
          </a:xfrm>
        </p:spPr>
        <p:txBody>
          <a:bodyPr>
            <a:normAutofit/>
          </a:bodyPr>
          <a:lstStyle/>
          <a:p>
            <a:pPr algn="ctr"/>
            <a:r>
              <a:rPr lang="en-IN" sz="4000" dirty="0" smtClean="0">
                <a:latin typeface="Times New Roman" pitchFamily="18" charset="0"/>
                <a:cs typeface="Times New Roman" pitchFamily="18" charset="0"/>
              </a:rPr>
              <a:t>Problem statement</a:t>
            </a:r>
            <a:endParaRPr lang="en-US" sz="4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475656" y="0"/>
            <a:ext cx="5328592" cy="720080"/>
          </a:xfrm>
        </p:spPr>
        <p:txBody>
          <a:bodyPr>
            <a:normAutofit/>
          </a:bodyPr>
          <a:lstStyle/>
          <a:p>
            <a:pPr algn="ctr"/>
            <a:r>
              <a:rPr lang="en-IN" sz="4000" dirty="0" smtClean="0">
                <a:latin typeface="Times New Roman" pitchFamily="18" charset="0"/>
                <a:cs typeface="Times New Roman" pitchFamily="18" charset="0"/>
              </a:rPr>
              <a:t>Data Flow Diagram</a:t>
            </a:r>
            <a:endParaRPr lang="en-US" sz="4000" dirty="0">
              <a:latin typeface="Times New Roman" pitchFamily="18" charset="0"/>
              <a:cs typeface="Times New Roman" pitchFamily="18" charset="0"/>
            </a:endParaRPr>
          </a:p>
        </p:txBody>
      </p:sp>
      <p:sp>
        <p:nvSpPr>
          <p:cNvPr id="7" name="Content Placeholder 6"/>
          <p:cNvSpPr>
            <a:spLocks noGrp="1"/>
          </p:cNvSpPr>
          <p:nvPr>
            <p:ph idx="1"/>
          </p:nvPr>
        </p:nvSpPr>
        <p:spPr>
          <a:xfrm>
            <a:off x="179512" y="836712"/>
            <a:ext cx="8964488" cy="4968551"/>
          </a:xfrm>
        </p:spPr>
        <p:txBody>
          <a:bodyPr/>
          <a:lstStyle/>
          <a:p>
            <a:r>
              <a:rPr lang="en-IN" sz="2800" b="1" dirty="0" smtClean="0">
                <a:latin typeface="Times New Roman" pitchFamily="18" charset="0"/>
                <a:cs typeface="Times New Roman" pitchFamily="18" charset="0"/>
              </a:rPr>
              <a:t>Context Level DFD</a:t>
            </a:r>
          </a:p>
          <a:p>
            <a:endParaRPr lang="en-IN" sz="2800" dirty="0" smtClean="0">
              <a:latin typeface="Times New Roman" pitchFamily="18" charset="0"/>
              <a:cs typeface="Times New Roman" pitchFamily="18" charset="0"/>
            </a:endParaRPr>
          </a:p>
          <a:p>
            <a:endParaRPr lang="en-US" dirty="0"/>
          </a:p>
        </p:txBody>
      </p:sp>
      <p:pic>
        <p:nvPicPr>
          <p:cNvPr id="9" name="Picture 8" descr="C:\Users\A\Pictures\Screenshots\context level (2).png"/>
          <p:cNvPicPr/>
          <p:nvPr/>
        </p:nvPicPr>
        <p:blipFill>
          <a:blip r:embed="rId2" cstate="print"/>
          <a:srcRect/>
          <a:stretch>
            <a:fillRect/>
          </a:stretch>
        </p:blipFill>
        <p:spPr bwMode="auto">
          <a:xfrm>
            <a:off x="395536" y="1373192"/>
            <a:ext cx="8496944" cy="443207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79512" y="0"/>
            <a:ext cx="8712968" cy="6858000"/>
          </a:xfrm>
        </p:spPr>
        <p:txBody>
          <a:bodyPr>
            <a:normAutofit/>
          </a:bodyPr>
          <a:lstStyle/>
          <a:p>
            <a:r>
              <a:rPr lang="en-IN" sz="2800" b="1" dirty="0" smtClean="0">
                <a:latin typeface="Times New Roman" pitchFamily="18" charset="0"/>
                <a:cs typeface="Times New Roman" pitchFamily="18" charset="0"/>
              </a:rPr>
              <a:t>First Level DFD of users</a:t>
            </a:r>
            <a:endParaRPr lang="en-US" sz="2800" b="1" dirty="0">
              <a:latin typeface="Times New Roman" pitchFamily="18" charset="0"/>
              <a:cs typeface="Times New Roman" pitchFamily="18" charset="0"/>
            </a:endParaRPr>
          </a:p>
        </p:txBody>
      </p:sp>
      <p:pic>
        <p:nvPicPr>
          <p:cNvPr id="5" name="Picture 4" descr="C:\Users\A\Pictures\Screenshots\level 1 dfd users.png"/>
          <p:cNvPicPr/>
          <p:nvPr/>
        </p:nvPicPr>
        <p:blipFill>
          <a:blip r:embed="rId2" cstate="print"/>
          <a:srcRect/>
          <a:stretch>
            <a:fillRect/>
          </a:stretch>
        </p:blipFill>
        <p:spPr bwMode="auto">
          <a:xfrm>
            <a:off x="0" y="476672"/>
            <a:ext cx="8892480" cy="638132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1"/>
          <p:cNvSpPr>
            <a:spLocks noGrp="1"/>
          </p:cNvSpPr>
          <p:nvPr>
            <p:ph idx="1"/>
          </p:nvPr>
        </p:nvSpPr>
        <p:spPr>
          <a:xfrm>
            <a:off x="0" y="0"/>
            <a:ext cx="9144000" cy="7101408"/>
          </a:xfrm>
        </p:spPr>
        <p:txBody>
          <a:bodyPr>
            <a:normAutofit/>
          </a:bodyPr>
          <a:lstStyle/>
          <a:p>
            <a:r>
              <a:rPr lang="en-IN" sz="2800" b="1" dirty="0" smtClean="0">
                <a:latin typeface="Times New Roman" pitchFamily="18" charset="0"/>
                <a:cs typeface="Times New Roman" pitchFamily="18" charset="0"/>
              </a:rPr>
              <a:t>First Level DFD of admin</a:t>
            </a:r>
          </a:p>
          <a:p>
            <a:endParaRPr lang="en-US" sz="2800" b="1" dirty="0">
              <a:latin typeface="Times New Roman" pitchFamily="18" charset="0"/>
              <a:cs typeface="Times New Roman" pitchFamily="18" charset="0"/>
            </a:endParaRPr>
          </a:p>
        </p:txBody>
      </p:sp>
      <p:pic>
        <p:nvPicPr>
          <p:cNvPr id="4" name="Picture 3" descr="C:\Users\A\Pictures\Screenshots\level 1 dfd admin (2).png"/>
          <p:cNvPicPr/>
          <p:nvPr/>
        </p:nvPicPr>
        <p:blipFill>
          <a:blip r:embed="rId2" cstate="print"/>
          <a:srcRect/>
          <a:stretch>
            <a:fillRect/>
          </a:stretch>
        </p:blipFill>
        <p:spPr bwMode="auto">
          <a:xfrm>
            <a:off x="0" y="476672"/>
            <a:ext cx="8964487" cy="638132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
          <p:cNvSpPr>
            <a:spLocks noGrp="1"/>
          </p:cNvSpPr>
          <p:nvPr>
            <p:ph idx="1"/>
          </p:nvPr>
        </p:nvSpPr>
        <p:spPr>
          <a:xfrm>
            <a:off x="0" y="0"/>
            <a:ext cx="9144000" cy="6858000"/>
          </a:xfrm>
        </p:spPr>
        <p:txBody>
          <a:bodyPr>
            <a:normAutofit/>
          </a:bodyPr>
          <a:lstStyle/>
          <a:p>
            <a:r>
              <a:rPr lang="en-IN" sz="2800" b="1" dirty="0" smtClean="0">
                <a:latin typeface="Times New Roman" pitchFamily="18" charset="0"/>
                <a:cs typeface="Times New Roman" pitchFamily="18" charset="0"/>
              </a:rPr>
              <a:t>First Level DFD of organizers</a:t>
            </a:r>
          </a:p>
          <a:p>
            <a:endParaRPr lang="en-IN" sz="2800" b="1" dirty="0" smtClean="0">
              <a:latin typeface="Times New Roman" pitchFamily="18" charset="0"/>
              <a:cs typeface="Times New Roman" pitchFamily="18" charset="0"/>
            </a:endParaRPr>
          </a:p>
          <a:p>
            <a:endParaRPr lang="en-US" sz="2800" b="1" dirty="0">
              <a:latin typeface="Times New Roman" pitchFamily="18" charset="0"/>
              <a:cs typeface="Times New Roman" pitchFamily="18" charset="0"/>
            </a:endParaRPr>
          </a:p>
        </p:txBody>
      </p:sp>
      <p:pic>
        <p:nvPicPr>
          <p:cNvPr id="5" name="Picture 4" descr="C:\Users\A\Pictures\Screenshots\level1 dfd organizer.png"/>
          <p:cNvPicPr/>
          <p:nvPr/>
        </p:nvPicPr>
        <p:blipFill>
          <a:blip r:embed="rId2" cstate="print"/>
          <a:srcRect/>
          <a:stretch>
            <a:fillRect/>
          </a:stretch>
        </p:blipFill>
        <p:spPr bwMode="auto">
          <a:xfrm>
            <a:off x="0" y="476672"/>
            <a:ext cx="9144000" cy="638132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lstStyle/>
          <a:p>
            <a:r>
              <a:rPr lang="en-IN" sz="2800" b="1" dirty="0" smtClean="0">
                <a:latin typeface="Times New Roman" pitchFamily="18" charset="0"/>
                <a:cs typeface="Times New Roman" pitchFamily="18" charset="0"/>
              </a:rPr>
              <a:t>Second Level DFD of Admin</a:t>
            </a:r>
          </a:p>
          <a:p>
            <a:endParaRPr lang="en-US" dirty="0"/>
          </a:p>
        </p:txBody>
      </p:sp>
      <p:pic>
        <p:nvPicPr>
          <p:cNvPr id="4" name="Picture 3" descr="C:\Users\A\Pictures\Screenshots\level 2 dfd manage users.png"/>
          <p:cNvPicPr/>
          <p:nvPr/>
        </p:nvPicPr>
        <p:blipFill>
          <a:blip r:embed="rId2" cstate="print"/>
          <a:srcRect/>
          <a:stretch>
            <a:fillRect/>
          </a:stretch>
        </p:blipFill>
        <p:spPr bwMode="auto">
          <a:xfrm>
            <a:off x="0" y="491852"/>
            <a:ext cx="9144000" cy="636614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lstStyle/>
          <a:p>
            <a:r>
              <a:rPr lang="en-IN" sz="2400" b="1" dirty="0" smtClean="0">
                <a:latin typeface="Times New Roman" pitchFamily="18" charset="0"/>
                <a:cs typeface="Times New Roman" pitchFamily="18" charset="0"/>
              </a:rPr>
              <a:t>Second Level DFD of Admin</a:t>
            </a:r>
          </a:p>
          <a:p>
            <a:endParaRPr lang="en-US" dirty="0"/>
          </a:p>
        </p:txBody>
      </p:sp>
      <p:pic>
        <p:nvPicPr>
          <p:cNvPr id="5" name="Picture 4" descr="H:\Internship_MCA_Report\screenshots\level 2 dfd manage events.png"/>
          <p:cNvPicPr/>
          <p:nvPr/>
        </p:nvPicPr>
        <p:blipFill>
          <a:blip r:embed="rId2" cstate="print"/>
          <a:srcRect/>
          <a:stretch>
            <a:fillRect/>
          </a:stretch>
        </p:blipFill>
        <p:spPr bwMode="auto">
          <a:xfrm>
            <a:off x="0" y="404664"/>
            <a:ext cx="9144000" cy="518457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620688"/>
            <a:ext cx="8892480" cy="6237312"/>
          </a:xfrm>
        </p:spPr>
        <p:txBody>
          <a:bodyPr/>
          <a:lstStyle/>
          <a:p>
            <a:r>
              <a:rPr lang="en-IN" sz="2800" b="1" dirty="0" smtClean="0">
                <a:latin typeface="Times New Roman" pitchFamily="18" charset="0"/>
                <a:cs typeface="Times New Roman" pitchFamily="18" charset="0"/>
              </a:rPr>
              <a:t>Use Case Diagram of User</a:t>
            </a:r>
          </a:p>
          <a:p>
            <a:endParaRPr lang="en-IN" dirty="0" smtClean="0"/>
          </a:p>
          <a:p>
            <a:endParaRPr lang="en-US" dirty="0"/>
          </a:p>
        </p:txBody>
      </p:sp>
      <p:sp>
        <p:nvSpPr>
          <p:cNvPr id="3" name="Title 2"/>
          <p:cNvSpPr>
            <a:spLocks noGrp="1"/>
          </p:cNvSpPr>
          <p:nvPr>
            <p:ph type="title"/>
          </p:nvPr>
        </p:nvSpPr>
        <p:spPr>
          <a:xfrm>
            <a:off x="323528" y="0"/>
            <a:ext cx="8229600" cy="576064"/>
          </a:xfrm>
        </p:spPr>
        <p:txBody>
          <a:bodyPr>
            <a:normAutofit fontScale="90000"/>
          </a:bodyPr>
          <a:lstStyle/>
          <a:p>
            <a:pPr algn="ctr"/>
            <a:r>
              <a:rPr lang="en-IN" dirty="0" smtClean="0">
                <a:latin typeface="Times New Roman" pitchFamily="18" charset="0"/>
                <a:cs typeface="Times New Roman" pitchFamily="18" charset="0"/>
              </a:rPr>
              <a:t>Use </a:t>
            </a:r>
            <a:r>
              <a:rPr lang="en-IN" sz="4000" dirty="0" smtClean="0">
                <a:latin typeface="Times New Roman" pitchFamily="18" charset="0"/>
                <a:cs typeface="Times New Roman" pitchFamily="18" charset="0"/>
              </a:rPr>
              <a:t>Case</a:t>
            </a:r>
            <a:r>
              <a:rPr lang="en-IN" dirty="0" smtClean="0">
                <a:latin typeface="Times New Roman" pitchFamily="18" charset="0"/>
                <a:cs typeface="Times New Roman" pitchFamily="18" charset="0"/>
              </a:rPr>
              <a:t> Diagram</a:t>
            </a:r>
            <a:endParaRPr lang="en-US" dirty="0">
              <a:latin typeface="Times New Roman" pitchFamily="18" charset="0"/>
              <a:cs typeface="Times New Roman" pitchFamily="18" charset="0"/>
            </a:endParaRPr>
          </a:p>
        </p:txBody>
      </p:sp>
      <p:pic>
        <p:nvPicPr>
          <p:cNvPr id="1028" name="Picture 4" descr="C:\Users\A\Pictures\Screenshots\UseCase of users.png"/>
          <p:cNvPicPr>
            <a:picLocks noChangeAspect="1" noChangeArrowheads="1"/>
          </p:cNvPicPr>
          <p:nvPr/>
        </p:nvPicPr>
        <p:blipFill>
          <a:blip r:embed="rId2" cstate="print"/>
          <a:srcRect/>
          <a:stretch>
            <a:fillRect/>
          </a:stretch>
        </p:blipFill>
        <p:spPr bwMode="auto">
          <a:xfrm>
            <a:off x="0" y="1196752"/>
            <a:ext cx="8820472" cy="5661248"/>
          </a:xfrm>
          <a:prstGeom prst="rect">
            <a:avLst/>
          </a:prstGeom>
          <a:noFill/>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23528" y="0"/>
            <a:ext cx="8229600" cy="706090"/>
          </a:xfrm>
        </p:spPr>
        <p:txBody>
          <a:bodyPr>
            <a:normAutofit/>
          </a:bodyPr>
          <a:lstStyle/>
          <a:p>
            <a:pPr algn="ctr"/>
            <a:r>
              <a:rPr lang="en-IN" sz="3100" dirty="0" smtClean="0">
                <a:latin typeface="Times New Roman" pitchFamily="18" charset="0"/>
                <a:cs typeface="Times New Roman" pitchFamily="18" charset="0"/>
              </a:rPr>
              <a:t>Use Case Diagram of </a:t>
            </a:r>
            <a:r>
              <a:rPr lang="en-IN" sz="3100" dirty="0" smtClean="0">
                <a:latin typeface="Times New Roman" pitchFamily="18" charset="0"/>
                <a:cs typeface="Times New Roman" pitchFamily="18" charset="0"/>
              </a:rPr>
              <a:t>Organizer</a:t>
            </a:r>
            <a:endParaRPr lang="en-US" dirty="0"/>
          </a:p>
        </p:txBody>
      </p:sp>
      <p:pic>
        <p:nvPicPr>
          <p:cNvPr id="2051" name="Picture 3" descr="C:\Users\A\Pictures\Screenshots\UseCase of Organizer.png"/>
          <p:cNvPicPr>
            <a:picLocks noGrp="1" noChangeAspect="1" noChangeArrowheads="1"/>
          </p:cNvPicPr>
          <p:nvPr>
            <p:ph idx="1"/>
          </p:nvPr>
        </p:nvPicPr>
        <p:blipFill>
          <a:blip r:embed="rId2" cstate="print"/>
          <a:srcRect/>
          <a:stretch>
            <a:fillRect/>
          </a:stretch>
        </p:blipFill>
        <p:spPr bwMode="auto">
          <a:xfrm>
            <a:off x="0" y="548680"/>
            <a:ext cx="9144000" cy="6309320"/>
          </a:xfrm>
          <a:prstGeom prst="rect">
            <a:avLst/>
          </a:prstGeom>
          <a:noFill/>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23528" y="0"/>
            <a:ext cx="8229600" cy="648072"/>
          </a:xfrm>
        </p:spPr>
        <p:txBody>
          <a:bodyPr>
            <a:normAutofit/>
          </a:bodyPr>
          <a:lstStyle/>
          <a:p>
            <a:pPr algn="ctr"/>
            <a:r>
              <a:rPr lang="en-IN" sz="2800" dirty="0" smtClean="0">
                <a:latin typeface="Times New Roman" pitchFamily="18" charset="0"/>
                <a:cs typeface="Times New Roman" pitchFamily="18" charset="0"/>
              </a:rPr>
              <a:t>Use Case Diagram of </a:t>
            </a:r>
            <a:r>
              <a:rPr lang="en-IN" sz="2800" dirty="0" smtClean="0">
                <a:latin typeface="Times New Roman" pitchFamily="18" charset="0"/>
                <a:cs typeface="Times New Roman" pitchFamily="18" charset="0"/>
              </a:rPr>
              <a:t>Admin</a:t>
            </a:r>
            <a:endParaRPr lang="en-US" sz="2800" dirty="0"/>
          </a:p>
        </p:txBody>
      </p:sp>
      <p:pic>
        <p:nvPicPr>
          <p:cNvPr id="3074" name="Picture 2" descr="C:\Users\A\Pictures\Screenshots\UseCase of Admin.png"/>
          <p:cNvPicPr>
            <a:picLocks noGrp="1" noChangeAspect="1" noChangeArrowheads="1"/>
          </p:cNvPicPr>
          <p:nvPr>
            <p:ph idx="1"/>
          </p:nvPr>
        </p:nvPicPr>
        <p:blipFill>
          <a:blip r:embed="rId2" cstate="print"/>
          <a:srcRect/>
          <a:stretch>
            <a:fillRect/>
          </a:stretch>
        </p:blipFill>
        <p:spPr bwMode="auto">
          <a:xfrm>
            <a:off x="0" y="548680"/>
            <a:ext cx="9144000" cy="6309319"/>
          </a:xfrm>
          <a:prstGeom prst="rect">
            <a:avLst/>
          </a:prstGeom>
          <a:noFill/>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23528" y="1"/>
            <a:ext cx="7772400" cy="1124744"/>
          </a:xfrm>
        </p:spPr>
        <p:txBody>
          <a:bodyPr>
            <a:normAutofit/>
          </a:bodyPr>
          <a:lstStyle/>
          <a:p>
            <a:r>
              <a:rPr lang="en-IN" sz="4000" b="1" dirty="0" smtClean="0">
                <a:latin typeface="Times New Roman" pitchFamily="18" charset="0"/>
                <a:cs typeface="Times New Roman" pitchFamily="18" charset="0"/>
              </a:rPr>
              <a:t>Data Dictionary</a:t>
            </a:r>
            <a:endParaRPr lang="en-US" sz="4000" b="1" dirty="0">
              <a:latin typeface="Times New Roman" pitchFamily="18" charset="0"/>
              <a:cs typeface="Times New Roman" pitchFamily="18" charset="0"/>
            </a:endParaRPr>
          </a:p>
        </p:txBody>
      </p:sp>
      <p:sp>
        <p:nvSpPr>
          <p:cNvPr id="3" name="Subtitle 2"/>
          <p:cNvSpPr>
            <a:spLocks noGrp="1"/>
          </p:cNvSpPr>
          <p:nvPr>
            <p:ph type="subTitle" idx="1"/>
          </p:nvPr>
        </p:nvSpPr>
        <p:spPr>
          <a:xfrm>
            <a:off x="323528" y="1196752"/>
            <a:ext cx="8496944" cy="3312368"/>
          </a:xfrm>
        </p:spPr>
        <p:txBody>
          <a:bodyPr>
            <a:normAutofit/>
          </a:bodyPr>
          <a:lstStyle/>
          <a:p>
            <a:r>
              <a:rPr lang="en-IN" sz="2400" dirty="0">
                <a:latin typeface="Times New Roman" pitchFamily="18" charset="0"/>
                <a:cs typeface="Times New Roman" pitchFamily="18" charset="0"/>
              </a:rPr>
              <a:t>Data dictionary includes information such as the number of record in file, the frequency of a process to run, security factor like password which user must enter to get access to the information. The major elements are data flows, data stores and processes. The data dictionary stores details and description.</a:t>
            </a:r>
            <a:endParaRPr lang="en-US" sz="2400" dirty="0">
              <a:latin typeface="Times New Roman" pitchFamily="18" charset="0"/>
              <a:cs typeface="Times New Roman" pitchFamily="18" charset="0"/>
            </a:endParaRPr>
          </a:p>
          <a:p>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251520" y="908720"/>
          <a:ext cx="8229600" cy="4912868"/>
        </p:xfrm>
        <a:graphic>
          <a:graphicData uri="http://schemas.openxmlformats.org/drawingml/2006/table">
            <a:tbl>
              <a:tblPr firstRow="1" bandRow="1">
                <a:tableStyleId>{C083E6E3-FA7D-4D7B-A595-EF9225AFEA82}</a:tableStyleId>
              </a:tblPr>
              <a:tblGrid>
                <a:gridCol w="1371600"/>
                <a:gridCol w="1371600"/>
                <a:gridCol w="1371600"/>
                <a:gridCol w="1371600"/>
                <a:gridCol w="1371600"/>
                <a:gridCol w="1371600"/>
              </a:tblGrid>
              <a:tr h="370840">
                <a:tc>
                  <a:txBody>
                    <a:bodyPr/>
                    <a:lstStyle/>
                    <a:p>
                      <a:pPr algn="ctr">
                        <a:lnSpc>
                          <a:spcPct val="115000"/>
                        </a:lnSpc>
                        <a:spcAft>
                          <a:spcPts val="0"/>
                        </a:spcAft>
                      </a:pPr>
                      <a:r>
                        <a:rPr lang="en-IN" sz="1400" dirty="0">
                          <a:latin typeface="Times New Roman" pitchFamily="18" charset="0"/>
                          <a:cs typeface="Times New Roman" pitchFamily="18" charset="0"/>
                        </a:rPr>
                        <a:t>Sr .no</a:t>
                      </a:r>
                      <a:endParaRPr lang="en-US" sz="1400" dirty="0">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en-IN" sz="1400" dirty="0">
                          <a:latin typeface="Times New Roman" pitchFamily="18" charset="0"/>
                          <a:cs typeface="Times New Roman" pitchFamily="18" charset="0"/>
                        </a:rPr>
                        <a:t>Field Name</a:t>
                      </a:r>
                      <a:endParaRPr lang="en-US" sz="1400" dirty="0">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en-IN" sz="1400" dirty="0">
                          <a:latin typeface="Times New Roman" pitchFamily="18" charset="0"/>
                          <a:cs typeface="Times New Roman" pitchFamily="18" charset="0"/>
                        </a:rPr>
                        <a:t>Data Type</a:t>
                      </a:r>
                      <a:endParaRPr lang="en-US" sz="1400" dirty="0">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en-IN" sz="1400" dirty="0">
                          <a:latin typeface="Times New Roman" pitchFamily="18" charset="0"/>
                          <a:cs typeface="Times New Roman" pitchFamily="18" charset="0"/>
                        </a:rPr>
                        <a:t>Size</a:t>
                      </a:r>
                      <a:endParaRPr lang="en-US" sz="1400" dirty="0">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en-IN" sz="1400" dirty="0">
                          <a:latin typeface="Times New Roman" pitchFamily="18" charset="0"/>
                          <a:cs typeface="Times New Roman" pitchFamily="18" charset="0"/>
                        </a:rPr>
                        <a:t>Constraints</a:t>
                      </a:r>
                      <a:endParaRPr lang="en-US" sz="1400" dirty="0">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en-IN" sz="1400" dirty="0">
                          <a:latin typeface="Times New Roman" pitchFamily="18" charset="0"/>
                          <a:cs typeface="Times New Roman" pitchFamily="18" charset="0"/>
                        </a:rPr>
                        <a:t>Description</a:t>
                      </a:r>
                      <a:endParaRPr lang="en-US" sz="1400" dirty="0">
                        <a:latin typeface="Times New Roman" pitchFamily="18" charset="0"/>
                        <a:ea typeface="Calibri"/>
                        <a:cs typeface="Times New Roman" pitchFamily="18" charset="0"/>
                      </a:endParaRPr>
                    </a:p>
                  </a:txBody>
                  <a:tcPr marL="68580" marR="68580" marT="0" marB="0"/>
                </a:tc>
              </a:tr>
              <a:tr h="370840">
                <a:tc>
                  <a:txBody>
                    <a:bodyPr/>
                    <a:lstStyle/>
                    <a:p>
                      <a:pPr>
                        <a:lnSpc>
                          <a:spcPct val="115000"/>
                        </a:lnSpc>
                        <a:spcAft>
                          <a:spcPts val="0"/>
                        </a:spcAft>
                      </a:pPr>
                      <a:r>
                        <a:rPr lang="en-IN" sz="1400" dirty="0">
                          <a:latin typeface="Times New Roman" pitchFamily="18" charset="0"/>
                          <a:cs typeface="Times New Roman" pitchFamily="18" charset="0"/>
                        </a:rPr>
                        <a:t>1</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Id</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Int</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11</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PK,Auto_Increment,Not null </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Unique User identifier</a:t>
                      </a:r>
                      <a:endParaRPr lang="en-US" sz="1400" dirty="0">
                        <a:latin typeface="Times New Roman" pitchFamily="18" charset="0"/>
                        <a:ea typeface="Calibri"/>
                        <a:cs typeface="Times New Roman" pitchFamily="18" charset="0"/>
                      </a:endParaRPr>
                    </a:p>
                  </a:txBody>
                  <a:tcPr marL="68580" marR="68580" marT="0" marB="0"/>
                </a:tc>
              </a:tr>
              <a:tr h="370840">
                <a:tc>
                  <a:txBody>
                    <a:bodyPr/>
                    <a:lstStyle/>
                    <a:p>
                      <a:pPr>
                        <a:lnSpc>
                          <a:spcPct val="115000"/>
                        </a:lnSpc>
                        <a:spcAft>
                          <a:spcPts val="0"/>
                        </a:spcAft>
                      </a:pPr>
                      <a:r>
                        <a:rPr lang="en-IN" sz="1400" dirty="0">
                          <a:latin typeface="Times New Roman" pitchFamily="18" charset="0"/>
                          <a:cs typeface="Times New Roman" pitchFamily="18" charset="0"/>
                        </a:rPr>
                        <a:t>2</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Name</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Varchar</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100</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Not null</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Full name of user</a:t>
                      </a:r>
                      <a:endParaRPr lang="en-US" sz="1400" dirty="0">
                        <a:latin typeface="Times New Roman" pitchFamily="18" charset="0"/>
                        <a:ea typeface="Calibri"/>
                        <a:cs typeface="Times New Roman" pitchFamily="18" charset="0"/>
                      </a:endParaRPr>
                    </a:p>
                  </a:txBody>
                  <a:tcPr marL="68580" marR="68580" marT="0" marB="0"/>
                </a:tc>
              </a:tr>
              <a:tr h="370840">
                <a:tc>
                  <a:txBody>
                    <a:bodyPr/>
                    <a:lstStyle/>
                    <a:p>
                      <a:pPr>
                        <a:lnSpc>
                          <a:spcPct val="115000"/>
                        </a:lnSpc>
                        <a:spcAft>
                          <a:spcPts val="0"/>
                        </a:spcAft>
                      </a:pPr>
                      <a:r>
                        <a:rPr lang="en-IN" sz="1400" dirty="0">
                          <a:latin typeface="Times New Roman" pitchFamily="18" charset="0"/>
                          <a:cs typeface="Times New Roman" pitchFamily="18" charset="0"/>
                        </a:rPr>
                        <a:t>3</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Email</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Varchar</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100</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Not null</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Email of user</a:t>
                      </a:r>
                      <a:endParaRPr lang="en-US" sz="1400" dirty="0">
                        <a:latin typeface="Times New Roman" pitchFamily="18" charset="0"/>
                        <a:ea typeface="Calibri"/>
                        <a:cs typeface="Times New Roman" pitchFamily="18" charset="0"/>
                      </a:endParaRPr>
                    </a:p>
                  </a:txBody>
                  <a:tcPr marL="68580" marR="68580" marT="0" marB="0"/>
                </a:tc>
              </a:tr>
              <a:tr h="370840">
                <a:tc>
                  <a:txBody>
                    <a:bodyPr/>
                    <a:lstStyle/>
                    <a:p>
                      <a:pPr>
                        <a:lnSpc>
                          <a:spcPct val="115000"/>
                        </a:lnSpc>
                        <a:spcAft>
                          <a:spcPts val="0"/>
                        </a:spcAft>
                      </a:pPr>
                      <a:r>
                        <a:rPr lang="en-IN" sz="1400" dirty="0">
                          <a:latin typeface="Times New Roman" pitchFamily="18" charset="0"/>
                          <a:cs typeface="Times New Roman" pitchFamily="18" charset="0"/>
                        </a:rPr>
                        <a:t>4</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Phone</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Number</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20</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Not null</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Phone  number of user</a:t>
                      </a:r>
                      <a:endParaRPr lang="en-US" sz="1400" dirty="0">
                        <a:latin typeface="Times New Roman" pitchFamily="18" charset="0"/>
                        <a:ea typeface="Calibri"/>
                        <a:cs typeface="Times New Roman" pitchFamily="18" charset="0"/>
                      </a:endParaRPr>
                    </a:p>
                  </a:txBody>
                  <a:tcPr marL="68580" marR="68580" marT="0" marB="0"/>
                </a:tc>
              </a:tr>
              <a:tr h="370840">
                <a:tc>
                  <a:txBody>
                    <a:bodyPr/>
                    <a:lstStyle/>
                    <a:p>
                      <a:pPr>
                        <a:lnSpc>
                          <a:spcPct val="115000"/>
                        </a:lnSpc>
                        <a:spcAft>
                          <a:spcPts val="0"/>
                        </a:spcAft>
                      </a:pPr>
                      <a:r>
                        <a:rPr lang="en-IN" sz="1400" dirty="0">
                          <a:latin typeface="Times New Roman" pitchFamily="18" charset="0"/>
                          <a:cs typeface="Times New Roman" pitchFamily="18" charset="0"/>
                        </a:rPr>
                        <a:t>5</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Password</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Varchar</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255</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Not null</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Encrypted user password</a:t>
                      </a:r>
                      <a:endParaRPr lang="en-US" sz="1400" dirty="0">
                        <a:latin typeface="Times New Roman" pitchFamily="18" charset="0"/>
                        <a:ea typeface="Calibri"/>
                        <a:cs typeface="Times New Roman" pitchFamily="18" charset="0"/>
                      </a:endParaRPr>
                    </a:p>
                  </a:txBody>
                  <a:tcPr marL="68580" marR="68580" marT="0" marB="0"/>
                </a:tc>
              </a:tr>
              <a:tr h="370840">
                <a:tc>
                  <a:txBody>
                    <a:bodyPr/>
                    <a:lstStyle/>
                    <a:p>
                      <a:pPr>
                        <a:lnSpc>
                          <a:spcPct val="115000"/>
                        </a:lnSpc>
                        <a:spcAft>
                          <a:spcPts val="0"/>
                        </a:spcAft>
                      </a:pPr>
                      <a:r>
                        <a:rPr lang="en-IN" sz="1400" dirty="0">
                          <a:latin typeface="Times New Roman" pitchFamily="18" charset="0"/>
                          <a:cs typeface="Times New Roman" pitchFamily="18" charset="0"/>
                        </a:rPr>
                        <a:t>6</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Role</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Enum</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customer, organizer</a:t>
                      </a:r>
                      <a:endParaRPr lang="en-US" sz="1400" dirty="0">
                        <a:latin typeface="Times New Roman" pitchFamily="18" charset="0"/>
                        <a:cs typeface="Times New Roman" pitchFamily="18" charset="0"/>
                      </a:endParaRPr>
                    </a:p>
                    <a:p>
                      <a:pPr>
                        <a:lnSpc>
                          <a:spcPct val="115000"/>
                        </a:lnSpc>
                        <a:spcAft>
                          <a:spcPts val="0"/>
                        </a:spcAft>
                      </a:pPr>
                      <a:r>
                        <a:rPr lang="en-IN" sz="1400" dirty="0">
                          <a:latin typeface="Times New Roman" pitchFamily="18" charset="0"/>
                          <a:cs typeface="Times New Roman" pitchFamily="18" charset="0"/>
                        </a:rPr>
                        <a:t>,admin</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Not null, Default ‘customer’</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Role of user</a:t>
                      </a:r>
                      <a:endParaRPr lang="en-US" sz="1400" dirty="0">
                        <a:latin typeface="Times New Roman" pitchFamily="18" charset="0"/>
                        <a:ea typeface="Calibri"/>
                        <a:cs typeface="Times New Roman" pitchFamily="18" charset="0"/>
                      </a:endParaRPr>
                    </a:p>
                  </a:txBody>
                  <a:tcPr marL="68580" marR="68580" marT="0" marB="0"/>
                </a:tc>
              </a:tr>
              <a:tr h="370840">
                <a:tc>
                  <a:txBody>
                    <a:bodyPr/>
                    <a:lstStyle/>
                    <a:p>
                      <a:pPr>
                        <a:lnSpc>
                          <a:spcPct val="115000"/>
                        </a:lnSpc>
                        <a:spcAft>
                          <a:spcPts val="0"/>
                        </a:spcAft>
                      </a:pPr>
                      <a:r>
                        <a:rPr lang="en-IN" sz="1400" dirty="0">
                          <a:latin typeface="Times New Roman" pitchFamily="18" charset="0"/>
                          <a:cs typeface="Times New Roman" pitchFamily="18" charset="0"/>
                        </a:rPr>
                        <a:t>7</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Status</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Enum</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Active, blocked</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Not null, Default ‘active’</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Account status</a:t>
                      </a:r>
                      <a:endParaRPr lang="en-US" sz="1400" dirty="0">
                        <a:latin typeface="Times New Roman" pitchFamily="18" charset="0"/>
                        <a:ea typeface="Calibri"/>
                        <a:cs typeface="Times New Roman" pitchFamily="18" charset="0"/>
                      </a:endParaRPr>
                    </a:p>
                  </a:txBody>
                  <a:tcPr marL="68580" marR="68580" marT="0" marB="0"/>
                </a:tc>
              </a:tr>
              <a:tr h="370840">
                <a:tc>
                  <a:txBody>
                    <a:bodyPr/>
                    <a:lstStyle/>
                    <a:p>
                      <a:pPr>
                        <a:lnSpc>
                          <a:spcPct val="115000"/>
                        </a:lnSpc>
                        <a:spcAft>
                          <a:spcPts val="0"/>
                        </a:spcAft>
                      </a:pPr>
                      <a:r>
                        <a:rPr lang="en-IN" sz="1400" dirty="0">
                          <a:latin typeface="Times New Roman" pitchFamily="18" charset="0"/>
                          <a:cs typeface="Times New Roman" pitchFamily="18" charset="0"/>
                        </a:rPr>
                        <a:t>8</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created_at</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Timestamp</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endParaRPr lang="en-IN"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Not null , Default Current_timestamp</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Account creation date</a:t>
                      </a:r>
                      <a:endParaRPr lang="en-US" sz="1400" dirty="0">
                        <a:latin typeface="Times New Roman" pitchFamily="18" charset="0"/>
                        <a:ea typeface="Calibri"/>
                        <a:cs typeface="Times New Roman" pitchFamily="18" charset="0"/>
                      </a:endParaRPr>
                    </a:p>
                  </a:txBody>
                  <a:tcPr marL="68580" marR="68580" marT="0" marB="0"/>
                </a:tc>
              </a:tr>
            </a:tbl>
          </a:graphicData>
        </a:graphic>
      </p:graphicFrame>
      <p:sp>
        <p:nvSpPr>
          <p:cNvPr id="2" name="Title 1"/>
          <p:cNvSpPr>
            <a:spLocks noGrp="1"/>
          </p:cNvSpPr>
          <p:nvPr>
            <p:ph type="title"/>
          </p:nvPr>
        </p:nvSpPr>
        <p:spPr>
          <a:xfrm>
            <a:off x="0" y="0"/>
            <a:ext cx="8625136" cy="764704"/>
          </a:xfrm>
        </p:spPr>
        <p:txBody>
          <a:bodyPr>
            <a:normAutofit/>
          </a:bodyPr>
          <a:lstStyle/>
          <a:p>
            <a:pPr algn="l"/>
            <a:r>
              <a:rPr lang="en-IN" sz="2000" b="1" dirty="0" smtClean="0">
                <a:latin typeface="Times New Roman" pitchFamily="18" charset="0"/>
                <a:cs typeface="Times New Roman" pitchFamily="18" charset="0"/>
              </a:rPr>
              <a:t>Table 1: users</a:t>
            </a:r>
            <a:br>
              <a:rPr lang="en-IN" sz="2000" b="1" dirty="0" smtClean="0">
                <a:latin typeface="Times New Roman" pitchFamily="18" charset="0"/>
                <a:cs typeface="Times New Roman" pitchFamily="18" charset="0"/>
              </a:rPr>
            </a:br>
            <a:r>
              <a:rPr lang="en-IN" sz="2000" b="1" dirty="0" smtClean="0">
                <a:latin typeface="Times New Roman" pitchFamily="18" charset="0"/>
                <a:cs typeface="Times New Roman" pitchFamily="18" charset="0"/>
              </a:rPr>
              <a:t>Purpose: To store information about users</a:t>
            </a:r>
            <a:endParaRPr lang="en-US" sz="2000"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179514" y="692695"/>
          <a:ext cx="8784972" cy="1728193"/>
        </p:xfrm>
        <a:graphic>
          <a:graphicData uri="http://schemas.openxmlformats.org/drawingml/2006/table">
            <a:tbl>
              <a:tblPr firstRow="1" bandRow="1">
                <a:tableStyleId>{C083E6E3-FA7D-4D7B-A595-EF9225AFEA82}</a:tableStyleId>
              </a:tblPr>
              <a:tblGrid>
                <a:gridCol w="1464162"/>
                <a:gridCol w="1464162"/>
                <a:gridCol w="1464162"/>
                <a:gridCol w="1464162"/>
                <a:gridCol w="1464162"/>
                <a:gridCol w="1464162"/>
              </a:tblGrid>
              <a:tr h="432049">
                <a:tc>
                  <a:txBody>
                    <a:bodyPr/>
                    <a:lstStyle/>
                    <a:p>
                      <a:pPr algn="ctr">
                        <a:lnSpc>
                          <a:spcPct val="115000"/>
                        </a:lnSpc>
                        <a:spcAft>
                          <a:spcPts val="0"/>
                        </a:spcAft>
                      </a:pPr>
                      <a:r>
                        <a:rPr lang="en-IN" sz="1400" dirty="0">
                          <a:latin typeface="Times New Roman" pitchFamily="18" charset="0"/>
                          <a:cs typeface="Times New Roman" pitchFamily="18" charset="0"/>
                        </a:rPr>
                        <a:t>Sr .no</a:t>
                      </a:r>
                      <a:endParaRPr lang="en-US" sz="1400" dirty="0">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en-IN" sz="1400" dirty="0">
                          <a:latin typeface="Times New Roman" pitchFamily="18" charset="0"/>
                          <a:cs typeface="Times New Roman" pitchFamily="18" charset="0"/>
                        </a:rPr>
                        <a:t>Field Name</a:t>
                      </a:r>
                      <a:endParaRPr lang="en-US" sz="1400" dirty="0">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en-IN" sz="1400" dirty="0">
                          <a:latin typeface="Times New Roman" pitchFamily="18" charset="0"/>
                          <a:cs typeface="Times New Roman" pitchFamily="18" charset="0"/>
                        </a:rPr>
                        <a:t>Data Type</a:t>
                      </a:r>
                      <a:endParaRPr lang="en-US" sz="1400" dirty="0">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en-IN" sz="1400" dirty="0">
                          <a:latin typeface="Times New Roman" pitchFamily="18" charset="0"/>
                          <a:cs typeface="Times New Roman" pitchFamily="18" charset="0"/>
                        </a:rPr>
                        <a:t>Size</a:t>
                      </a:r>
                      <a:endParaRPr lang="en-US" sz="1400" dirty="0">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en-IN" sz="1400" dirty="0">
                          <a:latin typeface="Times New Roman" pitchFamily="18" charset="0"/>
                          <a:cs typeface="Times New Roman" pitchFamily="18" charset="0"/>
                        </a:rPr>
                        <a:t>Constraints</a:t>
                      </a:r>
                      <a:endParaRPr lang="en-US" sz="1400" dirty="0">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en-IN" sz="1400" dirty="0">
                          <a:latin typeface="Times New Roman" pitchFamily="18" charset="0"/>
                          <a:cs typeface="Times New Roman" pitchFamily="18" charset="0"/>
                        </a:rPr>
                        <a:t>Description</a:t>
                      </a:r>
                      <a:endParaRPr lang="en-US" sz="1400" dirty="0">
                        <a:latin typeface="Times New Roman" pitchFamily="18" charset="0"/>
                        <a:ea typeface="Calibri"/>
                        <a:cs typeface="Times New Roman" pitchFamily="18" charset="0"/>
                      </a:endParaRPr>
                    </a:p>
                  </a:txBody>
                  <a:tcPr marL="68580" marR="68580" marT="0" marB="0"/>
                </a:tc>
              </a:tr>
              <a:tr h="648072">
                <a:tc>
                  <a:txBody>
                    <a:bodyPr/>
                    <a:lstStyle/>
                    <a:p>
                      <a:pPr>
                        <a:lnSpc>
                          <a:spcPct val="115000"/>
                        </a:lnSpc>
                        <a:spcAft>
                          <a:spcPts val="0"/>
                        </a:spcAft>
                      </a:pPr>
                      <a:r>
                        <a:rPr lang="en-IN" sz="1400" dirty="0">
                          <a:latin typeface="Times New Roman" pitchFamily="18" charset="0"/>
                          <a:cs typeface="Times New Roman" pitchFamily="18" charset="0"/>
                        </a:rPr>
                        <a:t>1</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Id</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Int</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11</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PK,Auto_Increment,Not null </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Unique category identifier</a:t>
                      </a:r>
                      <a:endParaRPr lang="en-US" sz="1400" dirty="0">
                        <a:latin typeface="Times New Roman" pitchFamily="18" charset="0"/>
                        <a:ea typeface="Calibri"/>
                        <a:cs typeface="Times New Roman" pitchFamily="18" charset="0"/>
                      </a:endParaRPr>
                    </a:p>
                  </a:txBody>
                  <a:tcPr marL="68580" marR="68580" marT="0" marB="0"/>
                </a:tc>
              </a:tr>
              <a:tr h="648072">
                <a:tc>
                  <a:txBody>
                    <a:bodyPr/>
                    <a:lstStyle/>
                    <a:p>
                      <a:pPr>
                        <a:lnSpc>
                          <a:spcPct val="115000"/>
                        </a:lnSpc>
                        <a:spcAft>
                          <a:spcPts val="0"/>
                        </a:spcAft>
                      </a:pPr>
                      <a:r>
                        <a:rPr lang="en-IN" sz="1400" dirty="0">
                          <a:latin typeface="Times New Roman" pitchFamily="18" charset="0"/>
                          <a:cs typeface="Times New Roman" pitchFamily="18" charset="0"/>
                        </a:rPr>
                        <a:t>2</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category_name</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Varchar</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100</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Not null</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cs typeface="Times New Roman" pitchFamily="18" charset="0"/>
                        </a:rPr>
                        <a:t>Name of event category</a:t>
                      </a:r>
                      <a:endParaRPr lang="en-US" sz="1400" dirty="0">
                        <a:latin typeface="Times New Roman" pitchFamily="18" charset="0"/>
                        <a:ea typeface="Calibri"/>
                        <a:cs typeface="Times New Roman" pitchFamily="18" charset="0"/>
                      </a:endParaRPr>
                    </a:p>
                  </a:txBody>
                  <a:tcPr marL="68580" marR="68580" marT="0" marB="0"/>
                </a:tc>
              </a:tr>
            </a:tbl>
          </a:graphicData>
        </a:graphic>
      </p:graphicFrame>
      <p:sp>
        <p:nvSpPr>
          <p:cNvPr id="2" name="Title 1"/>
          <p:cNvSpPr>
            <a:spLocks noGrp="1"/>
          </p:cNvSpPr>
          <p:nvPr>
            <p:ph type="title"/>
          </p:nvPr>
        </p:nvSpPr>
        <p:spPr>
          <a:xfrm>
            <a:off x="0" y="0"/>
            <a:ext cx="8229600" cy="606698"/>
          </a:xfrm>
        </p:spPr>
        <p:txBody>
          <a:bodyPr>
            <a:noAutofit/>
          </a:bodyPr>
          <a:lstStyle/>
          <a:p>
            <a:pPr algn="l"/>
            <a:r>
              <a:rPr lang="en-IN" sz="2000" b="1" dirty="0" smtClean="0">
                <a:latin typeface="Times New Roman" pitchFamily="18" charset="0"/>
                <a:cs typeface="Times New Roman" pitchFamily="18" charset="0"/>
              </a:rPr>
              <a:t>Table 2: categories</a:t>
            </a:r>
            <a:br>
              <a:rPr lang="en-IN" sz="2000" b="1" dirty="0" smtClean="0">
                <a:latin typeface="Times New Roman" pitchFamily="18" charset="0"/>
                <a:cs typeface="Times New Roman" pitchFamily="18" charset="0"/>
              </a:rPr>
            </a:br>
            <a:r>
              <a:rPr lang="en-IN" sz="2000" b="1" dirty="0" smtClean="0">
                <a:latin typeface="Times New Roman" pitchFamily="18" charset="0"/>
                <a:cs typeface="Times New Roman" pitchFamily="18" charset="0"/>
              </a:rPr>
              <a:t>Purpose: To store event categories</a:t>
            </a:r>
            <a:endParaRPr lang="en-US" sz="2000"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72008" y="620688"/>
          <a:ext cx="8892480" cy="6256368"/>
        </p:xfrm>
        <a:graphic>
          <a:graphicData uri="http://schemas.openxmlformats.org/drawingml/2006/table">
            <a:tbl>
              <a:tblPr firstRow="1" bandRow="1">
                <a:tableStyleId>{C083E6E3-FA7D-4D7B-A595-EF9225AFEA82}</a:tableStyleId>
              </a:tblPr>
              <a:tblGrid>
                <a:gridCol w="1482080"/>
                <a:gridCol w="1482080"/>
                <a:gridCol w="1482080"/>
                <a:gridCol w="1482080"/>
                <a:gridCol w="1482080"/>
                <a:gridCol w="1482080"/>
              </a:tblGrid>
              <a:tr h="288000">
                <a:tc>
                  <a:txBody>
                    <a:bodyPr/>
                    <a:lstStyle/>
                    <a:p>
                      <a:pPr algn="ctr">
                        <a:lnSpc>
                          <a:spcPct val="115000"/>
                        </a:lnSpc>
                        <a:spcAft>
                          <a:spcPts val="0"/>
                        </a:spcAft>
                      </a:pPr>
                      <a:r>
                        <a:rPr lang="en-IN" sz="1200" dirty="0">
                          <a:latin typeface="Times New Roman" pitchFamily="18" charset="0"/>
                          <a:cs typeface="Times New Roman" pitchFamily="18" charset="0"/>
                        </a:rPr>
                        <a:t>Sr .no</a:t>
                      </a:r>
                      <a:endParaRPr lang="en-US" sz="1200" dirty="0">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en-IN" sz="1200" dirty="0">
                          <a:latin typeface="Times New Roman" pitchFamily="18" charset="0"/>
                          <a:cs typeface="Times New Roman" pitchFamily="18" charset="0"/>
                        </a:rPr>
                        <a:t>Field Name</a:t>
                      </a:r>
                      <a:endParaRPr lang="en-US" sz="1200" dirty="0">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en-IN" sz="1200" dirty="0">
                          <a:latin typeface="Times New Roman" pitchFamily="18" charset="0"/>
                          <a:cs typeface="Times New Roman" pitchFamily="18" charset="0"/>
                        </a:rPr>
                        <a:t>Data Type</a:t>
                      </a:r>
                      <a:endParaRPr lang="en-US" sz="1200" dirty="0">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en-IN" sz="1200" dirty="0">
                          <a:latin typeface="Times New Roman" pitchFamily="18" charset="0"/>
                          <a:cs typeface="Times New Roman" pitchFamily="18" charset="0"/>
                        </a:rPr>
                        <a:t>Size</a:t>
                      </a:r>
                      <a:endParaRPr lang="en-US" sz="1200" dirty="0">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en-IN" sz="1200" dirty="0">
                          <a:latin typeface="Times New Roman" pitchFamily="18" charset="0"/>
                          <a:cs typeface="Times New Roman" pitchFamily="18" charset="0"/>
                        </a:rPr>
                        <a:t>Constraints</a:t>
                      </a:r>
                      <a:endParaRPr lang="en-US" sz="1200" dirty="0">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en-IN" sz="1200" dirty="0">
                          <a:latin typeface="Times New Roman" pitchFamily="18" charset="0"/>
                          <a:cs typeface="Times New Roman" pitchFamily="18" charset="0"/>
                        </a:rPr>
                        <a:t>Description</a:t>
                      </a:r>
                      <a:endParaRPr lang="en-US" sz="1200" dirty="0">
                        <a:latin typeface="Times New Roman" pitchFamily="18" charset="0"/>
                        <a:ea typeface="Calibri"/>
                        <a:cs typeface="Times New Roman" pitchFamily="18" charset="0"/>
                      </a:endParaRPr>
                    </a:p>
                  </a:txBody>
                  <a:tcPr marL="68580" marR="68580" marT="0" marB="0"/>
                </a:tc>
              </a:tr>
              <a:tr h="288000">
                <a:tc>
                  <a:txBody>
                    <a:bodyPr/>
                    <a:lstStyle/>
                    <a:p>
                      <a:pPr>
                        <a:lnSpc>
                          <a:spcPct val="115000"/>
                        </a:lnSpc>
                        <a:spcAft>
                          <a:spcPts val="0"/>
                        </a:spcAft>
                      </a:pPr>
                      <a:r>
                        <a:rPr lang="en-IN" sz="1200" dirty="0">
                          <a:latin typeface="Times New Roman" pitchFamily="18" charset="0"/>
                          <a:cs typeface="Times New Roman" pitchFamily="18" charset="0"/>
                        </a:rPr>
                        <a:t>1</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smtClean="0">
                          <a:latin typeface="Times New Roman" pitchFamily="18" charset="0"/>
                          <a:cs typeface="Times New Roman" pitchFamily="18" charset="0"/>
                        </a:rPr>
                        <a:t>id</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Int</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11</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PK,Auto_Increment,Not null </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Unique event identifier</a:t>
                      </a:r>
                      <a:endParaRPr lang="en-US" sz="1200" dirty="0">
                        <a:latin typeface="Times New Roman" pitchFamily="18" charset="0"/>
                        <a:ea typeface="Calibri"/>
                        <a:cs typeface="Times New Roman" pitchFamily="18" charset="0"/>
                      </a:endParaRPr>
                    </a:p>
                  </a:txBody>
                  <a:tcPr marL="68580" marR="68580" marT="0" marB="0"/>
                </a:tc>
              </a:tr>
              <a:tr h="288000">
                <a:tc>
                  <a:txBody>
                    <a:bodyPr/>
                    <a:lstStyle/>
                    <a:p>
                      <a:pPr>
                        <a:lnSpc>
                          <a:spcPct val="115000"/>
                        </a:lnSpc>
                        <a:spcAft>
                          <a:spcPts val="0"/>
                        </a:spcAft>
                      </a:pPr>
                      <a:r>
                        <a:rPr lang="en-IN" sz="1200" dirty="0">
                          <a:latin typeface="Times New Roman" pitchFamily="18" charset="0"/>
                          <a:cs typeface="Times New Roman" pitchFamily="18" charset="0"/>
                        </a:rPr>
                        <a:t>2</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organizer_id</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Int</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11</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FK(users</a:t>
                      </a:r>
                      <a:r>
                        <a:rPr lang="en-IN" sz="1200" dirty="0" smtClean="0">
                          <a:latin typeface="Times New Roman" pitchFamily="18" charset="0"/>
                          <a:cs typeface="Times New Roman" pitchFamily="18" charset="0"/>
                        </a:rPr>
                        <a:t>),</a:t>
                      </a:r>
                    </a:p>
                    <a:p>
                      <a:pPr>
                        <a:lnSpc>
                          <a:spcPct val="115000"/>
                        </a:lnSpc>
                        <a:spcAft>
                          <a:spcPts val="0"/>
                        </a:spcAft>
                      </a:pPr>
                      <a:r>
                        <a:rPr lang="en-IN" sz="1200" dirty="0" smtClean="0">
                          <a:latin typeface="Times New Roman" pitchFamily="18" charset="0"/>
                          <a:cs typeface="Times New Roman" pitchFamily="18" charset="0"/>
                        </a:rPr>
                        <a:t>Not </a:t>
                      </a:r>
                      <a:r>
                        <a:rPr lang="en-IN" sz="1200" dirty="0">
                          <a:latin typeface="Times New Roman" pitchFamily="18" charset="0"/>
                          <a:cs typeface="Times New Roman" pitchFamily="18" charset="0"/>
                        </a:rPr>
                        <a:t>null</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Organizer user id</a:t>
                      </a:r>
                      <a:endParaRPr lang="en-US" sz="1200" dirty="0">
                        <a:latin typeface="Times New Roman" pitchFamily="18" charset="0"/>
                        <a:ea typeface="Calibri"/>
                        <a:cs typeface="Times New Roman" pitchFamily="18" charset="0"/>
                      </a:endParaRPr>
                    </a:p>
                  </a:txBody>
                  <a:tcPr marL="68580" marR="68580" marT="0" marB="0"/>
                </a:tc>
              </a:tr>
              <a:tr h="288000">
                <a:tc>
                  <a:txBody>
                    <a:bodyPr/>
                    <a:lstStyle/>
                    <a:p>
                      <a:pPr>
                        <a:lnSpc>
                          <a:spcPct val="115000"/>
                        </a:lnSpc>
                        <a:spcAft>
                          <a:spcPts val="0"/>
                        </a:spcAft>
                      </a:pPr>
                      <a:r>
                        <a:rPr lang="en-IN" sz="1200" dirty="0">
                          <a:latin typeface="Times New Roman" pitchFamily="18" charset="0"/>
                          <a:cs typeface="Times New Roman" pitchFamily="18" charset="0"/>
                        </a:rPr>
                        <a:t>3</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category_id</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Int</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11</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smtClean="0">
                          <a:latin typeface="Times New Roman" pitchFamily="18" charset="0"/>
                          <a:cs typeface="Times New Roman" pitchFamily="18" charset="0"/>
                        </a:rPr>
                        <a:t>FK(categories</a:t>
                      </a:r>
                      <a:r>
                        <a:rPr lang="en-IN" sz="1200" dirty="0">
                          <a:latin typeface="Times New Roman" pitchFamily="18" charset="0"/>
                          <a:cs typeface="Times New Roman" pitchFamily="18" charset="0"/>
                        </a:rPr>
                        <a:t>),Not null </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Event category id </a:t>
                      </a:r>
                      <a:endParaRPr lang="en-US" sz="1200" dirty="0">
                        <a:latin typeface="Times New Roman" pitchFamily="18" charset="0"/>
                        <a:ea typeface="Calibri"/>
                        <a:cs typeface="Times New Roman" pitchFamily="18" charset="0"/>
                      </a:endParaRPr>
                    </a:p>
                  </a:txBody>
                  <a:tcPr marL="68580" marR="68580" marT="0" marB="0"/>
                </a:tc>
              </a:tr>
              <a:tr h="288000">
                <a:tc>
                  <a:txBody>
                    <a:bodyPr/>
                    <a:lstStyle/>
                    <a:p>
                      <a:pPr>
                        <a:lnSpc>
                          <a:spcPct val="115000"/>
                        </a:lnSpc>
                        <a:spcAft>
                          <a:spcPts val="0"/>
                        </a:spcAft>
                      </a:pPr>
                      <a:r>
                        <a:rPr lang="en-IN" sz="1200" dirty="0">
                          <a:latin typeface="Times New Roman" pitchFamily="18" charset="0"/>
                          <a:cs typeface="Times New Roman" pitchFamily="18" charset="0"/>
                        </a:rPr>
                        <a:t>4</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smtClean="0">
                          <a:latin typeface="Times New Roman" pitchFamily="18" charset="0"/>
                          <a:cs typeface="Times New Roman" pitchFamily="18" charset="0"/>
                        </a:rPr>
                        <a:t>title</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Varchar</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255</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Not null</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Event title</a:t>
                      </a:r>
                      <a:endParaRPr lang="en-US" sz="1200" dirty="0">
                        <a:latin typeface="Times New Roman" pitchFamily="18" charset="0"/>
                        <a:ea typeface="Calibri"/>
                        <a:cs typeface="Times New Roman" pitchFamily="18" charset="0"/>
                      </a:endParaRPr>
                    </a:p>
                  </a:txBody>
                  <a:tcPr marL="68580" marR="68580" marT="0" marB="0"/>
                </a:tc>
              </a:tr>
              <a:tr h="288000">
                <a:tc>
                  <a:txBody>
                    <a:bodyPr/>
                    <a:lstStyle/>
                    <a:p>
                      <a:pPr>
                        <a:lnSpc>
                          <a:spcPct val="115000"/>
                        </a:lnSpc>
                        <a:spcAft>
                          <a:spcPts val="0"/>
                        </a:spcAft>
                      </a:pPr>
                      <a:r>
                        <a:rPr lang="en-IN" sz="1200" dirty="0">
                          <a:latin typeface="Times New Roman" pitchFamily="18" charset="0"/>
                          <a:cs typeface="Times New Roman" pitchFamily="18" charset="0"/>
                        </a:rPr>
                        <a:t>5</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date_time</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Datetime</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endParaRPr lang="en-IN"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Not null</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Event date &amp; time</a:t>
                      </a:r>
                      <a:endParaRPr lang="en-US" sz="1200" dirty="0">
                        <a:latin typeface="Times New Roman" pitchFamily="18" charset="0"/>
                        <a:ea typeface="Calibri"/>
                        <a:cs typeface="Times New Roman" pitchFamily="18" charset="0"/>
                      </a:endParaRPr>
                    </a:p>
                  </a:txBody>
                  <a:tcPr marL="68580" marR="68580" marT="0" marB="0"/>
                </a:tc>
              </a:tr>
              <a:tr h="288000">
                <a:tc>
                  <a:txBody>
                    <a:bodyPr/>
                    <a:lstStyle/>
                    <a:p>
                      <a:pPr>
                        <a:lnSpc>
                          <a:spcPct val="115000"/>
                        </a:lnSpc>
                        <a:spcAft>
                          <a:spcPts val="0"/>
                        </a:spcAft>
                      </a:pPr>
                      <a:r>
                        <a:rPr lang="en-IN" sz="1200" dirty="0">
                          <a:latin typeface="Times New Roman" pitchFamily="18" charset="0"/>
                          <a:cs typeface="Times New Roman" pitchFamily="18" charset="0"/>
                        </a:rPr>
                        <a:t>6</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smtClean="0">
                          <a:latin typeface="Times New Roman" pitchFamily="18" charset="0"/>
                          <a:cs typeface="Times New Roman" pitchFamily="18" charset="0"/>
                        </a:rPr>
                        <a:t>location</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Varchar</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255</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Not null</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Event location</a:t>
                      </a:r>
                      <a:endParaRPr lang="en-US" sz="1200" dirty="0">
                        <a:latin typeface="Times New Roman" pitchFamily="18" charset="0"/>
                        <a:ea typeface="Calibri"/>
                        <a:cs typeface="Times New Roman" pitchFamily="18" charset="0"/>
                      </a:endParaRPr>
                    </a:p>
                  </a:txBody>
                  <a:tcPr marL="68580" marR="68580" marT="0" marB="0"/>
                </a:tc>
              </a:tr>
              <a:tr h="288000">
                <a:tc>
                  <a:txBody>
                    <a:bodyPr/>
                    <a:lstStyle/>
                    <a:p>
                      <a:pPr>
                        <a:lnSpc>
                          <a:spcPct val="115000"/>
                        </a:lnSpc>
                        <a:spcAft>
                          <a:spcPts val="0"/>
                        </a:spcAft>
                      </a:pPr>
                      <a:r>
                        <a:rPr lang="en-IN" sz="1200" dirty="0">
                          <a:latin typeface="Times New Roman" pitchFamily="18" charset="0"/>
                          <a:cs typeface="Times New Roman" pitchFamily="18" charset="0"/>
                        </a:rPr>
                        <a:t>7</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smtClean="0">
                          <a:latin typeface="Times New Roman" pitchFamily="18" charset="0"/>
                          <a:cs typeface="Times New Roman" pitchFamily="18" charset="0"/>
                        </a:rPr>
                        <a:t>city</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Varchar</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100</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Not null</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City of event</a:t>
                      </a:r>
                      <a:endParaRPr lang="en-US" sz="1200" dirty="0">
                        <a:latin typeface="Times New Roman" pitchFamily="18" charset="0"/>
                        <a:ea typeface="Calibri"/>
                        <a:cs typeface="Times New Roman" pitchFamily="18" charset="0"/>
                      </a:endParaRPr>
                    </a:p>
                  </a:txBody>
                  <a:tcPr marL="68580" marR="68580" marT="0" marB="0"/>
                </a:tc>
              </a:tr>
              <a:tr h="288000">
                <a:tc>
                  <a:txBody>
                    <a:bodyPr/>
                    <a:lstStyle/>
                    <a:p>
                      <a:pPr>
                        <a:lnSpc>
                          <a:spcPct val="115000"/>
                        </a:lnSpc>
                        <a:spcAft>
                          <a:spcPts val="0"/>
                        </a:spcAft>
                      </a:pPr>
                      <a:r>
                        <a:rPr lang="en-IN" sz="1200" dirty="0">
                          <a:latin typeface="Times New Roman" pitchFamily="18" charset="0"/>
                          <a:cs typeface="Times New Roman" pitchFamily="18" charset="0"/>
                        </a:rPr>
                        <a:t>8</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smtClean="0">
                          <a:latin typeface="Times New Roman" pitchFamily="18" charset="0"/>
                          <a:cs typeface="Times New Roman" pitchFamily="18" charset="0"/>
                        </a:rPr>
                        <a:t>description</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Text</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endParaRPr lang="en-IN"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Not null</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Event Description</a:t>
                      </a:r>
                      <a:endParaRPr lang="en-US" sz="1200" dirty="0">
                        <a:latin typeface="Times New Roman" pitchFamily="18" charset="0"/>
                        <a:ea typeface="Calibri"/>
                        <a:cs typeface="Times New Roman" pitchFamily="18" charset="0"/>
                      </a:endParaRPr>
                    </a:p>
                  </a:txBody>
                  <a:tcPr marL="68580" marR="68580" marT="0" marB="0"/>
                </a:tc>
              </a:tr>
              <a:tr h="396000">
                <a:tc>
                  <a:txBody>
                    <a:bodyPr/>
                    <a:lstStyle/>
                    <a:p>
                      <a:pPr>
                        <a:lnSpc>
                          <a:spcPct val="115000"/>
                        </a:lnSpc>
                        <a:spcAft>
                          <a:spcPts val="0"/>
                        </a:spcAft>
                      </a:pPr>
                      <a:r>
                        <a:rPr lang="en-IN" sz="1200" dirty="0">
                          <a:latin typeface="Times New Roman" pitchFamily="18" charset="0"/>
                          <a:cs typeface="Times New Roman" pitchFamily="18" charset="0"/>
                        </a:rPr>
                        <a:t>9</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smtClean="0">
                          <a:latin typeface="Times New Roman" pitchFamily="18" charset="0"/>
                          <a:cs typeface="Times New Roman" pitchFamily="18" charset="0"/>
                        </a:rPr>
                        <a:t>poster</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Varchar</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255</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Not null</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Event poster</a:t>
                      </a:r>
                      <a:endParaRPr lang="en-US" sz="1200" dirty="0">
                        <a:latin typeface="Times New Roman" pitchFamily="18" charset="0"/>
                        <a:ea typeface="Calibri"/>
                        <a:cs typeface="Times New Roman" pitchFamily="18" charset="0"/>
                      </a:endParaRPr>
                    </a:p>
                  </a:txBody>
                  <a:tcPr marL="68580" marR="68580" marT="0" marB="0"/>
                </a:tc>
              </a:tr>
              <a:tr h="396000">
                <a:tc>
                  <a:txBody>
                    <a:bodyPr/>
                    <a:lstStyle/>
                    <a:p>
                      <a:pPr>
                        <a:lnSpc>
                          <a:spcPct val="115000"/>
                        </a:lnSpc>
                        <a:spcAft>
                          <a:spcPts val="0"/>
                        </a:spcAft>
                      </a:pPr>
                      <a:r>
                        <a:rPr lang="en-IN" sz="1200" dirty="0">
                          <a:latin typeface="Times New Roman" pitchFamily="18" charset="0"/>
                          <a:cs typeface="Times New Roman" pitchFamily="18" charset="0"/>
                        </a:rPr>
                        <a:t>10</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smtClean="0">
                          <a:latin typeface="Times New Roman" pitchFamily="18" charset="0"/>
                          <a:cs typeface="Times New Roman" pitchFamily="18" charset="0"/>
                        </a:rPr>
                        <a:t>Status</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Enum</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pending, approved,</a:t>
                      </a:r>
                      <a:endParaRPr lang="en-US" sz="1200" dirty="0">
                        <a:latin typeface="Times New Roman" pitchFamily="18" charset="0"/>
                        <a:cs typeface="Times New Roman" pitchFamily="18" charset="0"/>
                      </a:endParaRPr>
                    </a:p>
                    <a:p>
                      <a:pPr>
                        <a:lnSpc>
                          <a:spcPct val="115000"/>
                        </a:lnSpc>
                        <a:spcAft>
                          <a:spcPts val="0"/>
                        </a:spcAft>
                      </a:pPr>
                      <a:r>
                        <a:rPr lang="en-IN" sz="1200" dirty="0">
                          <a:latin typeface="Times New Roman" pitchFamily="18" charset="0"/>
                          <a:cs typeface="Times New Roman" pitchFamily="18" charset="0"/>
                        </a:rPr>
                        <a:t>rejected, cancelled</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Not null, Default ‘pending’</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Event status</a:t>
                      </a:r>
                      <a:endParaRPr lang="en-US" sz="1200" dirty="0">
                        <a:latin typeface="Times New Roman" pitchFamily="18" charset="0"/>
                        <a:ea typeface="Calibri"/>
                        <a:cs typeface="Times New Roman" pitchFamily="18" charset="0"/>
                      </a:endParaRPr>
                    </a:p>
                  </a:txBody>
                  <a:tcPr marL="68580" marR="68580" marT="0" marB="0"/>
                </a:tc>
              </a:tr>
              <a:tr h="396000">
                <a:tc>
                  <a:txBody>
                    <a:bodyPr/>
                    <a:lstStyle/>
                    <a:p>
                      <a:pPr>
                        <a:lnSpc>
                          <a:spcPct val="115000"/>
                        </a:lnSpc>
                        <a:spcAft>
                          <a:spcPts val="0"/>
                        </a:spcAft>
                      </a:pPr>
                      <a:r>
                        <a:rPr lang="en-IN" sz="1200" dirty="0">
                          <a:latin typeface="Times New Roman" pitchFamily="18" charset="0"/>
                          <a:cs typeface="Times New Roman" pitchFamily="18" charset="0"/>
                        </a:rPr>
                        <a:t>11</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event_type</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Enum</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Free, paid</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Not null, Default ‘free’</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Event payment type</a:t>
                      </a:r>
                      <a:endParaRPr lang="en-US" sz="1200" dirty="0">
                        <a:latin typeface="Times New Roman" pitchFamily="18" charset="0"/>
                        <a:ea typeface="Calibri"/>
                        <a:cs typeface="Times New Roman" pitchFamily="18" charset="0"/>
                      </a:endParaRPr>
                    </a:p>
                  </a:txBody>
                  <a:tcPr marL="68580" marR="68580" marT="0" marB="0"/>
                </a:tc>
              </a:tr>
              <a:tr h="396000">
                <a:tc>
                  <a:txBody>
                    <a:bodyPr/>
                    <a:lstStyle/>
                    <a:p>
                      <a:pPr>
                        <a:lnSpc>
                          <a:spcPct val="115000"/>
                        </a:lnSpc>
                        <a:spcAft>
                          <a:spcPts val="0"/>
                        </a:spcAft>
                      </a:pPr>
                      <a:r>
                        <a:rPr lang="en-IN" sz="1200" dirty="0">
                          <a:latin typeface="Times New Roman" pitchFamily="18" charset="0"/>
                          <a:cs typeface="Times New Roman" pitchFamily="18" charset="0"/>
                        </a:rPr>
                        <a:t>12</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smtClean="0">
                          <a:latin typeface="Times New Roman" pitchFamily="18" charset="0"/>
                          <a:cs typeface="Times New Roman" pitchFamily="18" charset="0"/>
                        </a:rPr>
                        <a:t>price</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Decimal</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10,2</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Not null, Default 0.00</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Price of ticket</a:t>
                      </a:r>
                      <a:endParaRPr lang="en-US" sz="1200" dirty="0">
                        <a:latin typeface="Times New Roman" pitchFamily="18" charset="0"/>
                        <a:ea typeface="Calibri"/>
                        <a:cs typeface="Times New Roman" pitchFamily="18" charset="0"/>
                      </a:endParaRPr>
                    </a:p>
                  </a:txBody>
                  <a:tcPr marL="68580" marR="68580" marT="0" marB="0"/>
                </a:tc>
              </a:tr>
              <a:tr h="396000">
                <a:tc>
                  <a:txBody>
                    <a:bodyPr/>
                    <a:lstStyle/>
                    <a:p>
                      <a:pPr>
                        <a:lnSpc>
                          <a:spcPct val="115000"/>
                        </a:lnSpc>
                        <a:spcAft>
                          <a:spcPts val="0"/>
                        </a:spcAft>
                      </a:pPr>
                      <a:r>
                        <a:rPr lang="en-IN" sz="1200" dirty="0">
                          <a:latin typeface="Times New Roman" pitchFamily="18" charset="0"/>
                          <a:cs typeface="Times New Roman" pitchFamily="18" charset="0"/>
                        </a:rPr>
                        <a:t>13</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total_seats</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Int</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11</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Not null</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Total available seats</a:t>
                      </a:r>
                      <a:endParaRPr lang="en-US" sz="1200" dirty="0">
                        <a:latin typeface="Times New Roman" pitchFamily="18" charset="0"/>
                        <a:ea typeface="Calibri"/>
                        <a:cs typeface="Times New Roman" pitchFamily="18" charset="0"/>
                      </a:endParaRPr>
                    </a:p>
                  </a:txBody>
                  <a:tcPr marL="68580" marR="68580" marT="0" marB="0"/>
                </a:tc>
              </a:tr>
              <a:tr h="396000">
                <a:tc>
                  <a:txBody>
                    <a:bodyPr/>
                    <a:lstStyle/>
                    <a:p>
                      <a:pPr>
                        <a:lnSpc>
                          <a:spcPct val="115000"/>
                        </a:lnSpc>
                        <a:spcAft>
                          <a:spcPts val="0"/>
                        </a:spcAft>
                      </a:pPr>
                      <a:r>
                        <a:rPr lang="en-IN" sz="1200" dirty="0">
                          <a:latin typeface="Times New Roman" pitchFamily="18" charset="0"/>
                          <a:cs typeface="Times New Roman" pitchFamily="18" charset="0"/>
                        </a:rPr>
                        <a:t>14</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available_seats</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Int</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11</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Not null</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Remaining available seats</a:t>
                      </a:r>
                      <a:endParaRPr lang="en-US" sz="1200" dirty="0">
                        <a:latin typeface="Times New Roman" pitchFamily="18" charset="0"/>
                        <a:ea typeface="Calibri"/>
                        <a:cs typeface="Times New Roman" pitchFamily="18" charset="0"/>
                      </a:endParaRPr>
                    </a:p>
                  </a:txBody>
                  <a:tcPr marL="68580" marR="68580" marT="0" marB="0"/>
                </a:tc>
              </a:tr>
              <a:tr h="396000">
                <a:tc>
                  <a:txBody>
                    <a:bodyPr/>
                    <a:lstStyle/>
                    <a:p>
                      <a:pPr>
                        <a:lnSpc>
                          <a:spcPct val="115000"/>
                        </a:lnSpc>
                        <a:spcAft>
                          <a:spcPts val="0"/>
                        </a:spcAft>
                      </a:pPr>
                      <a:r>
                        <a:rPr lang="en-IN" sz="1200" dirty="0">
                          <a:latin typeface="Times New Roman" pitchFamily="18" charset="0"/>
                          <a:cs typeface="Times New Roman" pitchFamily="18" charset="0"/>
                        </a:rPr>
                        <a:t>15</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reminder_sent</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Tinyint</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1</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Not null, Default 0 </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Notification reminder  </a:t>
                      </a:r>
                      <a:endParaRPr lang="en-US" sz="1200" dirty="0">
                        <a:latin typeface="Times New Roman" pitchFamily="18" charset="0"/>
                        <a:ea typeface="Calibri"/>
                        <a:cs typeface="Times New Roman" pitchFamily="18" charset="0"/>
                      </a:endParaRPr>
                    </a:p>
                  </a:txBody>
                  <a:tcPr marL="68580" marR="68580" marT="0" marB="0"/>
                </a:tc>
              </a:tr>
              <a:tr h="396000">
                <a:tc>
                  <a:txBody>
                    <a:bodyPr/>
                    <a:lstStyle/>
                    <a:p>
                      <a:pPr>
                        <a:lnSpc>
                          <a:spcPct val="115000"/>
                        </a:lnSpc>
                        <a:spcAft>
                          <a:spcPts val="0"/>
                        </a:spcAft>
                      </a:pPr>
                      <a:r>
                        <a:rPr lang="en-IN" sz="1200" dirty="0">
                          <a:latin typeface="Times New Roman" pitchFamily="18" charset="0"/>
                          <a:cs typeface="Times New Roman" pitchFamily="18" charset="0"/>
                        </a:rPr>
                        <a:t>16</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created_at</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timestamp</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endParaRPr lang="en-IN"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Not null, Default Current_timestamp</a:t>
                      </a:r>
                      <a:endParaRPr lang="en-US" sz="12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200" dirty="0">
                          <a:latin typeface="Times New Roman" pitchFamily="18" charset="0"/>
                          <a:cs typeface="Times New Roman" pitchFamily="18" charset="0"/>
                        </a:rPr>
                        <a:t>Event creation date</a:t>
                      </a:r>
                      <a:endParaRPr lang="en-US" sz="1200" dirty="0">
                        <a:latin typeface="Times New Roman" pitchFamily="18" charset="0"/>
                        <a:ea typeface="Calibri"/>
                        <a:cs typeface="Times New Roman" pitchFamily="18" charset="0"/>
                      </a:endParaRPr>
                    </a:p>
                  </a:txBody>
                  <a:tcPr marL="68580" marR="68580" marT="0" marB="0"/>
                </a:tc>
              </a:tr>
            </a:tbl>
          </a:graphicData>
        </a:graphic>
      </p:graphicFrame>
      <p:sp>
        <p:nvSpPr>
          <p:cNvPr id="2" name="Title 1"/>
          <p:cNvSpPr>
            <a:spLocks noGrp="1"/>
          </p:cNvSpPr>
          <p:nvPr>
            <p:ph type="title"/>
          </p:nvPr>
        </p:nvSpPr>
        <p:spPr>
          <a:xfrm>
            <a:off x="0" y="58614"/>
            <a:ext cx="8229600" cy="490066"/>
          </a:xfrm>
        </p:spPr>
        <p:txBody>
          <a:bodyPr>
            <a:noAutofit/>
          </a:bodyPr>
          <a:lstStyle/>
          <a:p>
            <a:pPr algn="l"/>
            <a:r>
              <a:rPr lang="en-IN" sz="2000" b="1" dirty="0" smtClean="0">
                <a:latin typeface="Times New Roman" pitchFamily="18" charset="0"/>
                <a:cs typeface="Times New Roman" pitchFamily="18" charset="0"/>
              </a:rPr>
              <a:t>Table 3: events</a:t>
            </a:r>
            <a:br>
              <a:rPr lang="en-IN" sz="2000" b="1" dirty="0" smtClean="0">
                <a:latin typeface="Times New Roman" pitchFamily="18" charset="0"/>
                <a:cs typeface="Times New Roman" pitchFamily="18" charset="0"/>
              </a:rPr>
            </a:br>
            <a:r>
              <a:rPr lang="en-IN" sz="2000" b="1" dirty="0" smtClean="0">
                <a:latin typeface="Times New Roman" pitchFamily="18" charset="0"/>
                <a:cs typeface="Times New Roman" pitchFamily="18" charset="0"/>
              </a:rPr>
              <a:t>Purpose: To store event details</a:t>
            </a:r>
            <a:endParaRPr lang="en-US" sz="2000"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179512" y="692697"/>
          <a:ext cx="8784981" cy="4643433"/>
        </p:xfrm>
        <a:graphic>
          <a:graphicData uri="http://schemas.openxmlformats.org/drawingml/2006/table">
            <a:tbl>
              <a:tblPr firstRow="1" bandRow="1">
                <a:tableStyleId>{C083E6E3-FA7D-4D7B-A595-EF9225AFEA82}</a:tableStyleId>
              </a:tblPr>
              <a:tblGrid>
                <a:gridCol w="1080120"/>
                <a:gridCol w="1440160"/>
                <a:gridCol w="1080120"/>
                <a:gridCol w="2088233"/>
                <a:gridCol w="1632185"/>
                <a:gridCol w="1464163"/>
              </a:tblGrid>
              <a:tr h="469133">
                <a:tc>
                  <a:txBody>
                    <a:bodyPr/>
                    <a:lstStyle/>
                    <a:p>
                      <a:pPr algn="ctr">
                        <a:lnSpc>
                          <a:spcPct val="115000"/>
                        </a:lnSpc>
                        <a:spcAft>
                          <a:spcPts val="0"/>
                        </a:spcAft>
                      </a:pPr>
                      <a:r>
                        <a:rPr lang="en-IN" sz="1400" b="1" dirty="0">
                          <a:latin typeface="Times New Roman" pitchFamily="18" charset="0"/>
                          <a:ea typeface="Calibri"/>
                          <a:cs typeface="Times New Roman" pitchFamily="18" charset="0"/>
                        </a:rPr>
                        <a:t>Sr .no</a:t>
                      </a:r>
                      <a:endParaRPr lang="en-US" sz="1400" dirty="0">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en-IN" sz="1400" b="1" dirty="0">
                          <a:latin typeface="Times New Roman" pitchFamily="18" charset="0"/>
                          <a:ea typeface="Calibri"/>
                          <a:cs typeface="Times New Roman" pitchFamily="18" charset="0"/>
                        </a:rPr>
                        <a:t>Field Name</a:t>
                      </a:r>
                      <a:endParaRPr lang="en-US" sz="1400" dirty="0">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en-IN" sz="1400" b="1" dirty="0">
                          <a:latin typeface="Times New Roman" pitchFamily="18" charset="0"/>
                          <a:ea typeface="Calibri"/>
                          <a:cs typeface="Times New Roman" pitchFamily="18" charset="0"/>
                        </a:rPr>
                        <a:t>Data Type</a:t>
                      </a:r>
                      <a:endParaRPr lang="en-US" sz="1400" dirty="0">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en-IN" sz="1400" b="1" dirty="0">
                          <a:latin typeface="Times New Roman" pitchFamily="18" charset="0"/>
                          <a:ea typeface="Calibri"/>
                          <a:cs typeface="Times New Roman" pitchFamily="18" charset="0"/>
                        </a:rPr>
                        <a:t>Size</a:t>
                      </a:r>
                      <a:endParaRPr lang="en-US" sz="1400" dirty="0">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en-IN" sz="1400" b="1" dirty="0">
                          <a:latin typeface="Times New Roman" pitchFamily="18" charset="0"/>
                          <a:ea typeface="Calibri"/>
                          <a:cs typeface="Times New Roman" pitchFamily="18" charset="0"/>
                        </a:rPr>
                        <a:t>Constraints</a:t>
                      </a:r>
                      <a:endParaRPr lang="en-US" sz="1400" dirty="0">
                        <a:latin typeface="Times New Roman" pitchFamily="18" charset="0"/>
                        <a:ea typeface="Calibri"/>
                        <a:cs typeface="Times New Roman" pitchFamily="18" charset="0"/>
                      </a:endParaRPr>
                    </a:p>
                  </a:txBody>
                  <a:tcPr marL="68580" marR="68580" marT="0" marB="0"/>
                </a:tc>
                <a:tc>
                  <a:txBody>
                    <a:bodyPr/>
                    <a:lstStyle/>
                    <a:p>
                      <a:pPr algn="ctr">
                        <a:lnSpc>
                          <a:spcPct val="115000"/>
                        </a:lnSpc>
                        <a:spcAft>
                          <a:spcPts val="0"/>
                        </a:spcAft>
                      </a:pPr>
                      <a:r>
                        <a:rPr lang="en-IN" sz="1400" b="1" dirty="0">
                          <a:latin typeface="Times New Roman" pitchFamily="18" charset="0"/>
                          <a:ea typeface="Calibri"/>
                          <a:cs typeface="Times New Roman" pitchFamily="18" charset="0"/>
                        </a:rPr>
                        <a:t>Description</a:t>
                      </a:r>
                      <a:endParaRPr lang="en-US" sz="1400" dirty="0">
                        <a:latin typeface="Times New Roman" pitchFamily="18" charset="0"/>
                        <a:ea typeface="Calibri"/>
                        <a:cs typeface="Times New Roman" pitchFamily="18" charset="0"/>
                      </a:endParaRPr>
                    </a:p>
                  </a:txBody>
                  <a:tcPr marL="68580" marR="68580" marT="0" marB="0"/>
                </a:tc>
              </a:tr>
              <a:tr h="610986">
                <a:tc>
                  <a:txBody>
                    <a:bodyPr/>
                    <a:lstStyle/>
                    <a:p>
                      <a:pPr>
                        <a:lnSpc>
                          <a:spcPct val="115000"/>
                        </a:lnSpc>
                        <a:spcAft>
                          <a:spcPts val="0"/>
                        </a:spcAft>
                      </a:pPr>
                      <a:r>
                        <a:rPr lang="en-IN" sz="1400" dirty="0">
                          <a:latin typeface="Times New Roman" pitchFamily="18" charset="0"/>
                          <a:ea typeface="Calibri"/>
                          <a:cs typeface="Times New Roman" pitchFamily="18" charset="0"/>
                        </a:rPr>
                        <a:t>1</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smtClean="0">
                          <a:latin typeface="Times New Roman" pitchFamily="18" charset="0"/>
                          <a:ea typeface="Calibri"/>
                          <a:cs typeface="Times New Roman" pitchFamily="18" charset="0"/>
                        </a:rPr>
                        <a:t>id</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Int</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11</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PK, Auto_Increment</a:t>
                      </a:r>
                      <a:endParaRPr lang="en-US" sz="1400" dirty="0">
                        <a:latin typeface="Times New Roman" pitchFamily="18" charset="0"/>
                        <a:ea typeface="Calibri"/>
                        <a:cs typeface="Times New Roman" pitchFamily="18" charset="0"/>
                      </a:endParaRPr>
                    </a:p>
                    <a:p>
                      <a:pPr>
                        <a:lnSpc>
                          <a:spcPct val="115000"/>
                        </a:lnSpc>
                        <a:spcAft>
                          <a:spcPts val="0"/>
                        </a:spcAft>
                      </a:pPr>
                      <a:r>
                        <a:rPr lang="en-IN" sz="1400" dirty="0">
                          <a:latin typeface="Times New Roman" pitchFamily="18" charset="0"/>
                          <a:ea typeface="Calibri"/>
                          <a:cs typeface="Times New Roman" pitchFamily="18" charset="0"/>
                        </a:rPr>
                        <a:t>,Not null </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Unique Registration id</a:t>
                      </a:r>
                      <a:endParaRPr lang="en-US" sz="1400" dirty="0">
                        <a:latin typeface="Times New Roman" pitchFamily="18" charset="0"/>
                        <a:ea typeface="Calibri"/>
                        <a:cs typeface="Times New Roman" pitchFamily="18" charset="0"/>
                      </a:endParaRPr>
                    </a:p>
                  </a:txBody>
                  <a:tcPr marL="68580" marR="68580" marT="0" marB="0"/>
                </a:tc>
              </a:tr>
              <a:tr h="620799">
                <a:tc>
                  <a:txBody>
                    <a:bodyPr/>
                    <a:lstStyle/>
                    <a:p>
                      <a:pPr>
                        <a:lnSpc>
                          <a:spcPct val="115000"/>
                        </a:lnSpc>
                        <a:spcAft>
                          <a:spcPts val="0"/>
                        </a:spcAft>
                      </a:pPr>
                      <a:r>
                        <a:rPr lang="en-IN" sz="1400" dirty="0">
                          <a:latin typeface="Times New Roman" pitchFamily="18" charset="0"/>
                          <a:ea typeface="Calibri"/>
                          <a:cs typeface="Times New Roman" pitchFamily="18" charset="0"/>
                        </a:rPr>
                        <a:t>2</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user_id</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Int</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11</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FK(users),Not null</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User id for identify user</a:t>
                      </a:r>
                      <a:endParaRPr lang="en-US" sz="1400" dirty="0">
                        <a:latin typeface="Times New Roman" pitchFamily="18" charset="0"/>
                        <a:ea typeface="Calibri"/>
                        <a:cs typeface="Times New Roman" pitchFamily="18" charset="0"/>
                      </a:endParaRPr>
                    </a:p>
                  </a:txBody>
                  <a:tcPr marL="68580" marR="68580" marT="0" marB="0"/>
                </a:tc>
              </a:tr>
              <a:tr h="620799">
                <a:tc>
                  <a:txBody>
                    <a:bodyPr/>
                    <a:lstStyle/>
                    <a:p>
                      <a:pPr>
                        <a:lnSpc>
                          <a:spcPct val="115000"/>
                        </a:lnSpc>
                        <a:spcAft>
                          <a:spcPts val="0"/>
                        </a:spcAft>
                      </a:pPr>
                      <a:r>
                        <a:rPr lang="en-IN" sz="1400" dirty="0">
                          <a:latin typeface="Times New Roman" pitchFamily="18" charset="0"/>
                          <a:ea typeface="Calibri"/>
                          <a:cs typeface="Times New Roman" pitchFamily="18" charset="0"/>
                        </a:rPr>
                        <a:t>3</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event_id</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Int</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11</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FK(events),Not null </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Event id for identify event</a:t>
                      </a:r>
                      <a:endParaRPr lang="en-US" sz="1400" dirty="0">
                        <a:latin typeface="Times New Roman" pitchFamily="18" charset="0"/>
                        <a:ea typeface="Calibri"/>
                        <a:cs typeface="Times New Roman" pitchFamily="18" charset="0"/>
                      </a:endParaRPr>
                    </a:p>
                  </a:txBody>
                  <a:tcPr marL="68580" marR="68580" marT="0" marB="0"/>
                </a:tc>
              </a:tr>
              <a:tr h="469133">
                <a:tc>
                  <a:txBody>
                    <a:bodyPr/>
                    <a:lstStyle/>
                    <a:p>
                      <a:pPr>
                        <a:lnSpc>
                          <a:spcPct val="115000"/>
                        </a:lnSpc>
                        <a:spcAft>
                          <a:spcPts val="0"/>
                        </a:spcAft>
                      </a:pPr>
                      <a:r>
                        <a:rPr lang="en-IN" sz="1400" dirty="0">
                          <a:latin typeface="Times New Roman" pitchFamily="18" charset="0"/>
                          <a:ea typeface="Calibri"/>
                          <a:cs typeface="Times New Roman" pitchFamily="18" charset="0"/>
                        </a:rPr>
                        <a:t>4</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ticket_id</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Varchar</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255</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Not null</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Ticket id for users</a:t>
                      </a:r>
                      <a:endParaRPr lang="en-US" sz="1400" dirty="0">
                        <a:latin typeface="Times New Roman" pitchFamily="18" charset="0"/>
                        <a:ea typeface="Calibri"/>
                        <a:cs typeface="Times New Roman" pitchFamily="18" charset="0"/>
                      </a:endParaRPr>
                    </a:p>
                  </a:txBody>
                  <a:tcPr marL="68580" marR="68580" marT="0" marB="0"/>
                </a:tc>
              </a:tr>
              <a:tr h="921385">
                <a:tc>
                  <a:txBody>
                    <a:bodyPr/>
                    <a:lstStyle/>
                    <a:p>
                      <a:pPr>
                        <a:lnSpc>
                          <a:spcPct val="115000"/>
                        </a:lnSpc>
                        <a:spcAft>
                          <a:spcPts val="0"/>
                        </a:spcAft>
                      </a:pPr>
                      <a:r>
                        <a:rPr lang="en-IN" sz="1400" dirty="0">
                          <a:latin typeface="Times New Roman" pitchFamily="18" charset="0"/>
                          <a:ea typeface="Calibri"/>
                          <a:cs typeface="Times New Roman" pitchFamily="18" charset="0"/>
                        </a:rPr>
                        <a:t>5</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smtClean="0">
                          <a:latin typeface="Times New Roman" pitchFamily="18" charset="0"/>
                          <a:ea typeface="Calibri"/>
                          <a:cs typeface="Times New Roman" pitchFamily="18" charset="0"/>
                        </a:rPr>
                        <a:t>status</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Enum</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Pending, confirmed,</a:t>
                      </a:r>
                      <a:endParaRPr lang="en-US" sz="1400" dirty="0">
                        <a:latin typeface="Times New Roman" pitchFamily="18" charset="0"/>
                        <a:ea typeface="Calibri"/>
                        <a:cs typeface="Times New Roman" pitchFamily="18" charset="0"/>
                      </a:endParaRPr>
                    </a:p>
                    <a:p>
                      <a:pPr>
                        <a:lnSpc>
                          <a:spcPct val="115000"/>
                        </a:lnSpc>
                        <a:spcAft>
                          <a:spcPts val="0"/>
                        </a:spcAft>
                      </a:pPr>
                      <a:r>
                        <a:rPr lang="en-IN" sz="1400" dirty="0">
                          <a:latin typeface="Times New Roman" pitchFamily="18" charset="0"/>
                          <a:ea typeface="Calibri"/>
                          <a:cs typeface="Times New Roman" pitchFamily="18" charset="0"/>
                        </a:rPr>
                        <a:t>rejected,pending_payment</a:t>
                      </a:r>
                      <a:endParaRPr lang="en-US" sz="1400" dirty="0">
                        <a:latin typeface="Times New Roman" pitchFamily="18" charset="0"/>
                        <a:ea typeface="Calibri"/>
                        <a:cs typeface="Times New Roman" pitchFamily="18" charset="0"/>
                      </a:endParaRPr>
                    </a:p>
                    <a:p>
                      <a:pPr>
                        <a:lnSpc>
                          <a:spcPct val="115000"/>
                        </a:lnSpc>
                        <a:spcAft>
                          <a:spcPts val="0"/>
                        </a:spcAft>
                      </a:pPr>
                      <a:r>
                        <a:rPr lang="en-IN" sz="1400" dirty="0">
                          <a:latin typeface="Times New Roman" pitchFamily="18" charset="0"/>
                          <a:ea typeface="Calibri"/>
                          <a:cs typeface="Times New Roman" pitchFamily="18" charset="0"/>
                        </a:rPr>
                        <a:t>,cancelled_by_admin</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Not null, Default pending</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Event Registration status</a:t>
                      </a:r>
                      <a:endParaRPr lang="en-US" sz="1400" dirty="0">
                        <a:latin typeface="Times New Roman" pitchFamily="18" charset="0"/>
                        <a:ea typeface="Calibri"/>
                        <a:cs typeface="Times New Roman" pitchFamily="18" charset="0"/>
                      </a:endParaRPr>
                    </a:p>
                  </a:txBody>
                  <a:tcPr marL="68580" marR="68580" marT="0" marB="0"/>
                </a:tc>
              </a:tr>
              <a:tr h="931198">
                <a:tc>
                  <a:txBody>
                    <a:bodyPr/>
                    <a:lstStyle/>
                    <a:p>
                      <a:pPr>
                        <a:lnSpc>
                          <a:spcPct val="115000"/>
                        </a:lnSpc>
                        <a:spcAft>
                          <a:spcPts val="0"/>
                        </a:spcAft>
                      </a:pPr>
                      <a:r>
                        <a:rPr lang="en-IN" sz="1400" dirty="0">
                          <a:latin typeface="Times New Roman" pitchFamily="18" charset="0"/>
                          <a:ea typeface="Calibri"/>
                          <a:cs typeface="Times New Roman" pitchFamily="18" charset="0"/>
                        </a:rPr>
                        <a:t>6</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registered_at</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timestamp</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endParaRPr lang="en-IN"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Not null, Default Current_timestamp</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Registration date and time</a:t>
                      </a:r>
                      <a:endParaRPr lang="en-US" sz="1400" dirty="0">
                        <a:latin typeface="Times New Roman" pitchFamily="18" charset="0"/>
                        <a:ea typeface="Calibri"/>
                        <a:cs typeface="Times New Roman" pitchFamily="18" charset="0"/>
                      </a:endParaRPr>
                    </a:p>
                  </a:txBody>
                  <a:tcPr marL="68580" marR="68580" marT="0" marB="0"/>
                </a:tc>
              </a:tr>
            </a:tbl>
          </a:graphicData>
        </a:graphic>
      </p:graphicFrame>
      <p:sp>
        <p:nvSpPr>
          <p:cNvPr id="2" name="Title 1"/>
          <p:cNvSpPr>
            <a:spLocks noGrp="1"/>
          </p:cNvSpPr>
          <p:nvPr>
            <p:ph type="title"/>
          </p:nvPr>
        </p:nvSpPr>
        <p:spPr>
          <a:xfrm>
            <a:off x="0" y="0"/>
            <a:ext cx="8229600" cy="634082"/>
          </a:xfrm>
        </p:spPr>
        <p:txBody>
          <a:bodyPr>
            <a:noAutofit/>
          </a:bodyPr>
          <a:lstStyle/>
          <a:p>
            <a:pPr algn="l"/>
            <a:r>
              <a:rPr lang="en-IN" sz="2000" b="1" dirty="0" smtClean="0">
                <a:latin typeface="Times New Roman" pitchFamily="18" charset="0"/>
                <a:cs typeface="Times New Roman" pitchFamily="18" charset="0"/>
              </a:rPr>
              <a:t>Table 4: event_registrations</a:t>
            </a:r>
            <a:br>
              <a:rPr lang="en-IN" sz="2000" b="1" dirty="0" smtClean="0">
                <a:latin typeface="Times New Roman" pitchFamily="18" charset="0"/>
                <a:cs typeface="Times New Roman" pitchFamily="18" charset="0"/>
              </a:rPr>
            </a:br>
            <a:r>
              <a:rPr lang="en-IN" sz="2000" b="1" dirty="0" smtClean="0">
                <a:latin typeface="Times New Roman" pitchFamily="18" charset="0"/>
                <a:cs typeface="Times New Roman" pitchFamily="18" charset="0"/>
              </a:rPr>
              <a:t>Purpose: To store registrations details</a:t>
            </a:r>
            <a:endParaRPr lang="en-US" sz="2000"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179512" y="692696"/>
          <a:ext cx="8712967" cy="4032448"/>
        </p:xfrm>
        <a:graphic>
          <a:graphicData uri="http://schemas.openxmlformats.org/drawingml/2006/table">
            <a:tbl>
              <a:tblPr firstRow="1" bandRow="1">
                <a:tableStyleId>{C083E6E3-FA7D-4D7B-A595-EF9225AFEA82}</a:tableStyleId>
              </a:tblPr>
              <a:tblGrid>
                <a:gridCol w="1452161"/>
                <a:gridCol w="1452161"/>
                <a:gridCol w="1452161"/>
                <a:gridCol w="900101"/>
                <a:gridCol w="2004222"/>
                <a:gridCol w="1452161"/>
              </a:tblGrid>
              <a:tr h="572732">
                <a:tc>
                  <a:txBody>
                    <a:bodyPr/>
                    <a:lstStyle/>
                    <a:p>
                      <a:pPr>
                        <a:lnSpc>
                          <a:spcPct val="115000"/>
                        </a:lnSpc>
                        <a:spcAft>
                          <a:spcPts val="0"/>
                        </a:spcAft>
                      </a:pPr>
                      <a:r>
                        <a:rPr lang="en-IN" sz="1400" b="1" dirty="0">
                          <a:latin typeface="Times New Roman" pitchFamily="18" charset="0"/>
                          <a:ea typeface="Calibri"/>
                          <a:cs typeface="Times New Roman" pitchFamily="18" charset="0"/>
                        </a:rPr>
                        <a:t>Sr .no</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1" dirty="0">
                          <a:latin typeface="Times New Roman" pitchFamily="18" charset="0"/>
                          <a:ea typeface="Calibri"/>
                          <a:cs typeface="Times New Roman" pitchFamily="18" charset="0"/>
                        </a:rPr>
                        <a:t>Field Name</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1" dirty="0">
                          <a:latin typeface="Times New Roman" pitchFamily="18" charset="0"/>
                          <a:ea typeface="Calibri"/>
                          <a:cs typeface="Times New Roman" pitchFamily="18" charset="0"/>
                        </a:rPr>
                        <a:t>Data Type</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1" dirty="0">
                          <a:latin typeface="Times New Roman" pitchFamily="18" charset="0"/>
                          <a:ea typeface="Calibri"/>
                          <a:cs typeface="Times New Roman" pitchFamily="18" charset="0"/>
                        </a:rPr>
                        <a:t>Size</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1" dirty="0">
                          <a:latin typeface="Times New Roman" pitchFamily="18" charset="0"/>
                          <a:ea typeface="Calibri"/>
                          <a:cs typeface="Times New Roman" pitchFamily="18" charset="0"/>
                        </a:rPr>
                        <a:t>Constraints</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1" dirty="0">
                          <a:latin typeface="Times New Roman" pitchFamily="18" charset="0"/>
                          <a:ea typeface="Calibri"/>
                          <a:cs typeface="Times New Roman" pitchFamily="18" charset="0"/>
                        </a:rPr>
                        <a:t>Description</a:t>
                      </a:r>
                      <a:endParaRPr lang="en-US" sz="1400" dirty="0">
                        <a:latin typeface="Times New Roman" pitchFamily="18" charset="0"/>
                        <a:ea typeface="Calibri"/>
                        <a:cs typeface="Times New Roman" pitchFamily="18" charset="0"/>
                      </a:endParaRPr>
                    </a:p>
                  </a:txBody>
                  <a:tcPr marL="68580" marR="68580" marT="0" marB="0"/>
                </a:tc>
              </a:tr>
              <a:tr h="867428">
                <a:tc>
                  <a:txBody>
                    <a:bodyPr/>
                    <a:lstStyle/>
                    <a:p>
                      <a:pPr>
                        <a:lnSpc>
                          <a:spcPct val="115000"/>
                        </a:lnSpc>
                        <a:spcAft>
                          <a:spcPts val="0"/>
                        </a:spcAft>
                      </a:pPr>
                      <a:r>
                        <a:rPr lang="en-IN" sz="1400" dirty="0">
                          <a:latin typeface="Times New Roman" pitchFamily="18" charset="0"/>
                          <a:ea typeface="Calibri"/>
                          <a:cs typeface="Times New Roman" pitchFamily="18" charset="0"/>
                        </a:rPr>
                        <a:t>1</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smtClean="0">
                          <a:latin typeface="Times New Roman" pitchFamily="18" charset="0"/>
                          <a:ea typeface="Calibri"/>
                          <a:cs typeface="Times New Roman" pitchFamily="18" charset="0"/>
                        </a:rPr>
                        <a:t>id</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Int</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11</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PK, Auto_Increment</a:t>
                      </a:r>
                      <a:endParaRPr lang="en-US" sz="1400" dirty="0">
                        <a:latin typeface="Times New Roman" pitchFamily="18" charset="0"/>
                        <a:ea typeface="Calibri"/>
                        <a:cs typeface="Times New Roman" pitchFamily="18" charset="0"/>
                      </a:endParaRPr>
                    </a:p>
                    <a:p>
                      <a:pPr>
                        <a:lnSpc>
                          <a:spcPct val="115000"/>
                        </a:lnSpc>
                        <a:spcAft>
                          <a:spcPts val="0"/>
                        </a:spcAft>
                      </a:pPr>
                      <a:r>
                        <a:rPr lang="en-IN" sz="1400" dirty="0">
                          <a:latin typeface="Times New Roman" pitchFamily="18" charset="0"/>
                          <a:ea typeface="Calibri"/>
                          <a:cs typeface="Times New Roman" pitchFamily="18" charset="0"/>
                        </a:rPr>
                        <a:t>,Not null </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Unique notification id</a:t>
                      </a:r>
                      <a:endParaRPr lang="en-US" sz="1400" dirty="0">
                        <a:latin typeface="Times New Roman" pitchFamily="18" charset="0"/>
                        <a:ea typeface="Calibri"/>
                        <a:cs typeface="Times New Roman" pitchFamily="18" charset="0"/>
                      </a:endParaRPr>
                    </a:p>
                  </a:txBody>
                  <a:tcPr marL="68580" marR="68580" marT="0" marB="0"/>
                </a:tc>
              </a:tr>
              <a:tr h="727586">
                <a:tc>
                  <a:txBody>
                    <a:bodyPr/>
                    <a:lstStyle/>
                    <a:p>
                      <a:pPr>
                        <a:lnSpc>
                          <a:spcPct val="115000"/>
                        </a:lnSpc>
                        <a:spcAft>
                          <a:spcPts val="0"/>
                        </a:spcAft>
                      </a:pPr>
                      <a:r>
                        <a:rPr lang="en-IN" sz="1400" dirty="0">
                          <a:latin typeface="Times New Roman" pitchFamily="18" charset="0"/>
                          <a:ea typeface="Calibri"/>
                          <a:cs typeface="Times New Roman" pitchFamily="18" charset="0"/>
                        </a:rPr>
                        <a:t>2</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user_id</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Int</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11</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FK(users),Not null</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User id for identify user</a:t>
                      </a:r>
                      <a:endParaRPr lang="en-US" sz="1400" dirty="0">
                        <a:latin typeface="Times New Roman" pitchFamily="18" charset="0"/>
                        <a:ea typeface="Calibri"/>
                        <a:cs typeface="Times New Roman" pitchFamily="18" charset="0"/>
                      </a:endParaRPr>
                    </a:p>
                  </a:txBody>
                  <a:tcPr marL="68580" marR="68580" marT="0" marB="0"/>
                </a:tc>
              </a:tr>
              <a:tr h="496550">
                <a:tc>
                  <a:txBody>
                    <a:bodyPr/>
                    <a:lstStyle/>
                    <a:p>
                      <a:pPr>
                        <a:lnSpc>
                          <a:spcPct val="115000"/>
                        </a:lnSpc>
                        <a:spcAft>
                          <a:spcPts val="0"/>
                        </a:spcAft>
                      </a:pPr>
                      <a:r>
                        <a:rPr lang="en-IN" sz="1400" dirty="0">
                          <a:latin typeface="Times New Roman" pitchFamily="18" charset="0"/>
                          <a:ea typeface="Calibri"/>
                          <a:cs typeface="Times New Roman" pitchFamily="18" charset="0"/>
                        </a:rPr>
                        <a:t>3</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smtClean="0">
                          <a:latin typeface="Times New Roman" pitchFamily="18" charset="0"/>
                          <a:ea typeface="Calibri"/>
                          <a:cs typeface="Times New Roman" pitchFamily="18" charset="0"/>
                        </a:rPr>
                        <a:t>message</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Text</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endParaRPr lang="en-IN"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Not null</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Notification messages</a:t>
                      </a:r>
                      <a:endParaRPr lang="en-US" sz="1400" dirty="0">
                        <a:latin typeface="Times New Roman" pitchFamily="18" charset="0"/>
                        <a:ea typeface="Calibri"/>
                        <a:cs typeface="Times New Roman" pitchFamily="18" charset="0"/>
                      </a:endParaRPr>
                    </a:p>
                  </a:txBody>
                  <a:tcPr marL="68580" marR="68580" marT="0" marB="0"/>
                </a:tc>
              </a:tr>
              <a:tr h="576064">
                <a:tc>
                  <a:txBody>
                    <a:bodyPr/>
                    <a:lstStyle/>
                    <a:p>
                      <a:pPr>
                        <a:lnSpc>
                          <a:spcPct val="115000"/>
                        </a:lnSpc>
                        <a:spcAft>
                          <a:spcPts val="0"/>
                        </a:spcAft>
                      </a:pPr>
                      <a:r>
                        <a:rPr lang="en-IN" sz="1400" dirty="0">
                          <a:latin typeface="Times New Roman" pitchFamily="18" charset="0"/>
                          <a:ea typeface="Calibri"/>
                          <a:cs typeface="Times New Roman" pitchFamily="18" charset="0"/>
                        </a:rPr>
                        <a:t>4</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is_read</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Tinyint</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1</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Not null</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Notification readable or not</a:t>
                      </a:r>
                      <a:endParaRPr lang="en-US" sz="1400" dirty="0">
                        <a:latin typeface="Times New Roman" pitchFamily="18" charset="0"/>
                        <a:ea typeface="Calibri"/>
                        <a:cs typeface="Times New Roman" pitchFamily="18" charset="0"/>
                      </a:endParaRPr>
                    </a:p>
                  </a:txBody>
                  <a:tcPr marL="68580" marR="68580" marT="0" marB="0"/>
                </a:tc>
              </a:tr>
              <a:tr h="792088">
                <a:tc>
                  <a:txBody>
                    <a:bodyPr/>
                    <a:lstStyle/>
                    <a:p>
                      <a:pPr>
                        <a:lnSpc>
                          <a:spcPct val="115000"/>
                        </a:lnSpc>
                        <a:spcAft>
                          <a:spcPts val="0"/>
                        </a:spcAft>
                      </a:pPr>
                      <a:r>
                        <a:rPr lang="en-IN" sz="1400" dirty="0">
                          <a:latin typeface="Times New Roman" pitchFamily="18" charset="0"/>
                          <a:ea typeface="Calibri"/>
                          <a:cs typeface="Times New Roman" pitchFamily="18" charset="0"/>
                        </a:rPr>
                        <a:t>5</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created_at</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timestamp</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endParaRPr lang="en-IN"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Not null, Default Current_timestamp</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Notification creation date and time</a:t>
                      </a:r>
                      <a:endParaRPr lang="en-US" sz="1400" dirty="0">
                        <a:latin typeface="Times New Roman" pitchFamily="18" charset="0"/>
                        <a:ea typeface="Calibri"/>
                        <a:cs typeface="Times New Roman" pitchFamily="18" charset="0"/>
                      </a:endParaRPr>
                    </a:p>
                  </a:txBody>
                  <a:tcPr marL="68580" marR="68580" marT="0" marB="0"/>
                </a:tc>
              </a:tr>
            </a:tbl>
          </a:graphicData>
        </a:graphic>
      </p:graphicFrame>
      <p:sp>
        <p:nvSpPr>
          <p:cNvPr id="2" name="Title 1"/>
          <p:cNvSpPr>
            <a:spLocks noGrp="1"/>
          </p:cNvSpPr>
          <p:nvPr>
            <p:ph type="title"/>
          </p:nvPr>
        </p:nvSpPr>
        <p:spPr>
          <a:xfrm>
            <a:off x="0" y="0"/>
            <a:ext cx="8229600" cy="634082"/>
          </a:xfrm>
        </p:spPr>
        <p:txBody>
          <a:bodyPr>
            <a:noAutofit/>
          </a:bodyPr>
          <a:lstStyle/>
          <a:p>
            <a:pPr algn="l"/>
            <a:r>
              <a:rPr lang="en-IN" sz="2000" b="1" dirty="0" smtClean="0">
                <a:latin typeface="Times New Roman" pitchFamily="18" charset="0"/>
                <a:cs typeface="Times New Roman" pitchFamily="18" charset="0"/>
              </a:rPr>
              <a:t>Table 5: notification</a:t>
            </a:r>
            <a:br>
              <a:rPr lang="en-IN" sz="2000" b="1" dirty="0" smtClean="0">
                <a:latin typeface="Times New Roman" pitchFamily="18" charset="0"/>
                <a:cs typeface="Times New Roman" pitchFamily="18" charset="0"/>
              </a:rPr>
            </a:br>
            <a:r>
              <a:rPr lang="en-IN" sz="2000" b="1" dirty="0" smtClean="0">
                <a:latin typeface="Times New Roman" pitchFamily="18" charset="0"/>
                <a:cs typeface="Times New Roman" pitchFamily="18" charset="0"/>
              </a:rPr>
              <a:t>Purpose: To store notification details</a:t>
            </a:r>
            <a:endParaRPr lang="en-US" sz="2000"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179512" y="694353"/>
          <a:ext cx="8712966" cy="5182991"/>
        </p:xfrm>
        <a:graphic>
          <a:graphicData uri="http://schemas.openxmlformats.org/drawingml/2006/table">
            <a:tbl>
              <a:tblPr firstRow="1" bandRow="1">
                <a:tableStyleId>{C083E6E3-FA7D-4D7B-A595-EF9225AFEA82}</a:tableStyleId>
              </a:tblPr>
              <a:tblGrid>
                <a:gridCol w="1452161"/>
                <a:gridCol w="1452161"/>
                <a:gridCol w="1200134"/>
                <a:gridCol w="1368152"/>
                <a:gridCol w="1788197"/>
                <a:gridCol w="1452161"/>
              </a:tblGrid>
              <a:tr h="525983">
                <a:tc>
                  <a:txBody>
                    <a:bodyPr/>
                    <a:lstStyle/>
                    <a:p>
                      <a:pPr>
                        <a:lnSpc>
                          <a:spcPct val="115000"/>
                        </a:lnSpc>
                        <a:spcAft>
                          <a:spcPts val="0"/>
                        </a:spcAft>
                      </a:pPr>
                      <a:r>
                        <a:rPr lang="en-IN" sz="1400" b="0" dirty="0">
                          <a:latin typeface="Times New Roman" pitchFamily="18" charset="0"/>
                          <a:ea typeface="Calibri"/>
                          <a:cs typeface="Times New Roman" pitchFamily="18" charset="0"/>
                        </a:rPr>
                        <a:t>Sr .no</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Field Name</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Data Type</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Size</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Constraints</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Description</a:t>
                      </a:r>
                      <a:endParaRPr lang="en-US" sz="1400" b="0" dirty="0">
                        <a:latin typeface="Times New Roman" pitchFamily="18" charset="0"/>
                        <a:ea typeface="Calibri"/>
                        <a:cs typeface="Times New Roman" pitchFamily="18" charset="0"/>
                      </a:endParaRPr>
                    </a:p>
                  </a:txBody>
                  <a:tcPr marL="68580" marR="68580" marT="0" marB="0"/>
                </a:tc>
              </a:tr>
              <a:tr h="768504">
                <a:tc>
                  <a:txBody>
                    <a:bodyPr/>
                    <a:lstStyle/>
                    <a:p>
                      <a:pPr>
                        <a:lnSpc>
                          <a:spcPct val="115000"/>
                        </a:lnSpc>
                        <a:spcAft>
                          <a:spcPts val="0"/>
                        </a:spcAft>
                      </a:pPr>
                      <a:r>
                        <a:rPr lang="en-IN" sz="1400" b="0" dirty="0">
                          <a:latin typeface="Times New Roman" pitchFamily="18" charset="0"/>
                          <a:ea typeface="Calibri"/>
                          <a:cs typeface="Times New Roman" pitchFamily="18" charset="0"/>
                        </a:rPr>
                        <a:t>1</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id</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Int</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11</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PK, Auto_Increment</a:t>
                      </a:r>
                      <a:endParaRPr lang="en-US" sz="1400" b="0" dirty="0">
                        <a:latin typeface="Times New Roman" pitchFamily="18" charset="0"/>
                        <a:ea typeface="Calibri"/>
                        <a:cs typeface="Times New Roman" pitchFamily="18" charset="0"/>
                      </a:endParaRPr>
                    </a:p>
                    <a:p>
                      <a:pPr>
                        <a:lnSpc>
                          <a:spcPct val="115000"/>
                        </a:lnSpc>
                        <a:spcAft>
                          <a:spcPts val="0"/>
                        </a:spcAft>
                      </a:pPr>
                      <a:r>
                        <a:rPr lang="en-IN" sz="1400" b="0" dirty="0">
                          <a:latin typeface="Times New Roman" pitchFamily="18" charset="0"/>
                          <a:ea typeface="Calibri"/>
                          <a:cs typeface="Times New Roman" pitchFamily="18" charset="0"/>
                        </a:rPr>
                        <a:t>,Not null</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Unique contact id</a:t>
                      </a:r>
                      <a:endParaRPr lang="en-US" sz="1400" b="0" dirty="0">
                        <a:latin typeface="Times New Roman" pitchFamily="18" charset="0"/>
                        <a:ea typeface="Calibri"/>
                        <a:cs typeface="Times New Roman" pitchFamily="18" charset="0"/>
                      </a:endParaRPr>
                    </a:p>
                  </a:txBody>
                  <a:tcPr marL="68580" marR="68580" marT="0" marB="0"/>
                </a:tc>
              </a:tr>
              <a:tr h="576064">
                <a:tc>
                  <a:txBody>
                    <a:bodyPr/>
                    <a:lstStyle/>
                    <a:p>
                      <a:pPr>
                        <a:lnSpc>
                          <a:spcPct val="115000"/>
                        </a:lnSpc>
                        <a:spcAft>
                          <a:spcPts val="0"/>
                        </a:spcAft>
                      </a:pPr>
                      <a:r>
                        <a:rPr lang="en-IN" sz="1400" b="0" dirty="0">
                          <a:latin typeface="Times New Roman" pitchFamily="18" charset="0"/>
                          <a:ea typeface="Calibri"/>
                          <a:cs typeface="Times New Roman" pitchFamily="18" charset="0"/>
                        </a:rPr>
                        <a:t>2</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name</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Varchar</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100</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Not null</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Name of the user(sender)</a:t>
                      </a:r>
                      <a:endParaRPr lang="en-US" sz="1400" b="0" dirty="0">
                        <a:latin typeface="Times New Roman" pitchFamily="18" charset="0"/>
                        <a:ea typeface="Calibri"/>
                        <a:cs typeface="Times New Roman" pitchFamily="18" charset="0"/>
                      </a:endParaRPr>
                    </a:p>
                  </a:txBody>
                  <a:tcPr marL="68580" marR="68580" marT="0" marB="0"/>
                </a:tc>
              </a:tr>
              <a:tr h="576064">
                <a:tc>
                  <a:txBody>
                    <a:bodyPr/>
                    <a:lstStyle/>
                    <a:p>
                      <a:pPr>
                        <a:lnSpc>
                          <a:spcPct val="115000"/>
                        </a:lnSpc>
                        <a:spcAft>
                          <a:spcPts val="0"/>
                        </a:spcAft>
                      </a:pPr>
                      <a:r>
                        <a:rPr lang="en-IN" sz="1400" b="0" dirty="0">
                          <a:latin typeface="Times New Roman" pitchFamily="18" charset="0"/>
                          <a:ea typeface="Calibri"/>
                          <a:cs typeface="Times New Roman" pitchFamily="18" charset="0"/>
                        </a:rPr>
                        <a:t>3</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email</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Varchar</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100</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Not null</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Email of the user(sender)</a:t>
                      </a:r>
                      <a:endParaRPr lang="en-US" sz="1400" b="0" dirty="0">
                        <a:latin typeface="Times New Roman" pitchFamily="18" charset="0"/>
                        <a:ea typeface="Calibri"/>
                        <a:cs typeface="Times New Roman" pitchFamily="18" charset="0"/>
                      </a:endParaRPr>
                    </a:p>
                  </a:txBody>
                  <a:tcPr marL="68580" marR="68580" marT="0" marB="0"/>
                </a:tc>
              </a:tr>
              <a:tr h="525983">
                <a:tc>
                  <a:txBody>
                    <a:bodyPr/>
                    <a:lstStyle/>
                    <a:p>
                      <a:pPr>
                        <a:lnSpc>
                          <a:spcPct val="115000"/>
                        </a:lnSpc>
                        <a:spcAft>
                          <a:spcPts val="0"/>
                        </a:spcAft>
                      </a:pPr>
                      <a:r>
                        <a:rPr lang="en-IN" sz="1400" b="0" dirty="0">
                          <a:latin typeface="Times New Roman" pitchFamily="18" charset="0"/>
                          <a:ea typeface="Calibri"/>
                          <a:cs typeface="Times New Roman" pitchFamily="18" charset="0"/>
                        </a:rPr>
                        <a:t>4</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message</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Text</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endParaRPr lang="en-IN"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Not null</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Message content</a:t>
                      </a:r>
                      <a:endParaRPr lang="en-US" sz="1400" b="0" dirty="0">
                        <a:latin typeface="Times New Roman" pitchFamily="18" charset="0"/>
                        <a:ea typeface="Calibri"/>
                        <a:cs typeface="Times New Roman" pitchFamily="18" charset="0"/>
                      </a:endParaRPr>
                    </a:p>
                  </a:txBody>
                  <a:tcPr marL="68580" marR="68580" marT="0" marB="0"/>
                </a:tc>
              </a:tr>
              <a:tr h="525983">
                <a:tc>
                  <a:txBody>
                    <a:bodyPr/>
                    <a:lstStyle/>
                    <a:p>
                      <a:pPr>
                        <a:lnSpc>
                          <a:spcPct val="115000"/>
                        </a:lnSpc>
                        <a:spcAft>
                          <a:spcPts val="0"/>
                        </a:spcAft>
                      </a:pPr>
                      <a:r>
                        <a:rPr lang="en-IN" sz="1400" b="0" dirty="0">
                          <a:latin typeface="Times New Roman" pitchFamily="18" charset="0"/>
                          <a:ea typeface="Calibri"/>
                          <a:cs typeface="Times New Roman" pitchFamily="18" charset="0"/>
                        </a:rPr>
                        <a:t>5</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reply</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Text</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endParaRPr lang="en-IN"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Not null</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Admin reply</a:t>
                      </a:r>
                      <a:endParaRPr lang="en-US" sz="1400" b="0" dirty="0">
                        <a:latin typeface="Times New Roman" pitchFamily="18" charset="0"/>
                        <a:ea typeface="Calibri"/>
                        <a:cs typeface="Times New Roman" pitchFamily="18" charset="0"/>
                      </a:endParaRPr>
                    </a:p>
                  </a:txBody>
                  <a:tcPr marL="68580" marR="68580" marT="0" marB="0"/>
                </a:tc>
              </a:tr>
              <a:tr h="668198">
                <a:tc>
                  <a:txBody>
                    <a:bodyPr/>
                    <a:lstStyle/>
                    <a:p>
                      <a:pPr>
                        <a:lnSpc>
                          <a:spcPct val="115000"/>
                        </a:lnSpc>
                        <a:spcAft>
                          <a:spcPts val="0"/>
                        </a:spcAft>
                      </a:pPr>
                      <a:r>
                        <a:rPr lang="en-IN" sz="1400" b="0" dirty="0">
                          <a:latin typeface="Times New Roman" pitchFamily="18" charset="0"/>
                          <a:ea typeface="Calibri"/>
                          <a:cs typeface="Times New Roman" pitchFamily="18" charset="0"/>
                        </a:rPr>
                        <a:t>6</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status</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Enum</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New,read,replied</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Not null, Default new</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Message status</a:t>
                      </a:r>
                      <a:endParaRPr lang="en-US" sz="1400" b="0" dirty="0">
                        <a:latin typeface="Times New Roman" pitchFamily="18" charset="0"/>
                        <a:ea typeface="Calibri"/>
                        <a:cs typeface="Times New Roman" pitchFamily="18" charset="0"/>
                      </a:endParaRPr>
                    </a:p>
                  </a:txBody>
                  <a:tcPr marL="68580" marR="68580" marT="0" marB="0"/>
                </a:tc>
              </a:tr>
              <a:tr h="1016212">
                <a:tc>
                  <a:txBody>
                    <a:bodyPr/>
                    <a:lstStyle/>
                    <a:p>
                      <a:pPr>
                        <a:lnSpc>
                          <a:spcPct val="115000"/>
                        </a:lnSpc>
                        <a:spcAft>
                          <a:spcPts val="0"/>
                        </a:spcAft>
                      </a:pPr>
                      <a:r>
                        <a:rPr lang="en-IN" sz="1400" b="0" dirty="0">
                          <a:latin typeface="Times New Roman" pitchFamily="18" charset="0"/>
                          <a:ea typeface="Calibri"/>
                          <a:cs typeface="Times New Roman" pitchFamily="18" charset="0"/>
                        </a:rPr>
                        <a:t>7</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created_at</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timestamp</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endParaRPr lang="en-IN"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Not null, Default Current_timestamp</a:t>
                      </a:r>
                      <a:endParaRPr lang="en-US" sz="1400" b="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0" dirty="0">
                          <a:latin typeface="Times New Roman" pitchFamily="18" charset="0"/>
                          <a:ea typeface="Calibri"/>
                          <a:cs typeface="Times New Roman" pitchFamily="18" charset="0"/>
                        </a:rPr>
                        <a:t>Message creation date</a:t>
                      </a:r>
                      <a:endParaRPr lang="en-US" sz="1400" b="0" dirty="0">
                        <a:latin typeface="Times New Roman" pitchFamily="18" charset="0"/>
                        <a:ea typeface="Calibri"/>
                        <a:cs typeface="Times New Roman" pitchFamily="18" charset="0"/>
                      </a:endParaRPr>
                    </a:p>
                  </a:txBody>
                  <a:tcPr marL="68580" marR="68580" marT="0" marB="0"/>
                </a:tc>
              </a:tr>
            </a:tbl>
          </a:graphicData>
        </a:graphic>
      </p:graphicFrame>
      <p:sp>
        <p:nvSpPr>
          <p:cNvPr id="2" name="Title 1"/>
          <p:cNvSpPr>
            <a:spLocks noGrp="1"/>
          </p:cNvSpPr>
          <p:nvPr>
            <p:ph type="title"/>
          </p:nvPr>
        </p:nvSpPr>
        <p:spPr>
          <a:xfrm>
            <a:off x="0" y="0"/>
            <a:ext cx="8229600" cy="634082"/>
          </a:xfrm>
        </p:spPr>
        <p:txBody>
          <a:bodyPr>
            <a:noAutofit/>
          </a:bodyPr>
          <a:lstStyle/>
          <a:p>
            <a:pPr algn="l"/>
            <a:r>
              <a:rPr lang="en-IN" sz="2000" b="1" dirty="0" smtClean="0">
                <a:latin typeface="Times New Roman" pitchFamily="18" charset="0"/>
                <a:cs typeface="Times New Roman" pitchFamily="18" charset="0"/>
              </a:rPr>
              <a:t>Table 6: contact_messages</a:t>
            </a:r>
            <a:br>
              <a:rPr lang="en-IN" sz="2000" b="1" dirty="0" smtClean="0">
                <a:latin typeface="Times New Roman" pitchFamily="18" charset="0"/>
                <a:cs typeface="Times New Roman" pitchFamily="18" charset="0"/>
              </a:rPr>
            </a:br>
            <a:r>
              <a:rPr lang="en-IN" sz="2000" b="1" dirty="0" smtClean="0">
                <a:latin typeface="Times New Roman" pitchFamily="18" charset="0"/>
                <a:cs typeface="Times New Roman" pitchFamily="18" charset="0"/>
              </a:rPr>
              <a:t>Purpose: To store details about messages</a:t>
            </a:r>
            <a:endParaRPr lang="en-US" sz="2000"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179512" y="692696"/>
          <a:ext cx="8784978" cy="5487607"/>
        </p:xfrm>
        <a:graphic>
          <a:graphicData uri="http://schemas.openxmlformats.org/drawingml/2006/table">
            <a:tbl>
              <a:tblPr firstRow="1" bandRow="1">
                <a:tableStyleId>{C083E6E3-FA7D-4D7B-A595-EF9225AFEA82}</a:tableStyleId>
              </a:tblPr>
              <a:tblGrid>
                <a:gridCol w="1464163"/>
                <a:gridCol w="1464163"/>
                <a:gridCol w="1464163"/>
                <a:gridCol w="1008111"/>
                <a:gridCol w="1920215"/>
                <a:gridCol w="1464163"/>
              </a:tblGrid>
              <a:tr h="496299">
                <a:tc>
                  <a:txBody>
                    <a:bodyPr/>
                    <a:lstStyle/>
                    <a:p>
                      <a:pPr>
                        <a:lnSpc>
                          <a:spcPct val="115000"/>
                        </a:lnSpc>
                        <a:spcAft>
                          <a:spcPts val="0"/>
                        </a:spcAft>
                      </a:pPr>
                      <a:r>
                        <a:rPr lang="en-IN" sz="1400" b="1" dirty="0">
                          <a:latin typeface="Times New Roman" pitchFamily="18" charset="0"/>
                          <a:ea typeface="Calibri"/>
                          <a:cs typeface="Times New Roman" pitchFamily="18" charset="0"/>
                        </a:rPr>
                        <a:t>Sr .no</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1" dirty="0">
                          <a:latin typeface="Times New Roman" pitchFamily="18" charset="0"/>
                          <a:ea typeface="Calibri"/>
                          <a:cs typeface="Times New Roman" pitchFamily="18" charset="0"/>
                        </a:rPr>
                        <a:t>Field Name</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1" dirty="0">
                          <a:latin typeface="Times New Roman" pitchFamily="18" charset="0"/>
                          <a:ea typeface="Calibri"/>
                          <a:cs typeface="Times New Roman" pitchFamily="18" charset="0"/>
                        </a:rPr>
                        <a:t>Data Type</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1" dirty="0">
                          <a:latin typeface="Times New Roman" pitchFamily="18" charset="0"/>
                          <a:ea typeface="Calibri"/>
                          <a:cs typeface="Times New Roman" pitchFamily="18" charset="0"/>
                        </a:rPr>
                        <a:t>Size</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1" dirty="0">
                          <a:latin typeface="Times New Roman" pitchFamily="18" charset="0"/>
                          <a:ea typeface="Calibri"/>
                          <a:cs typeface="Times New Roman" pitchFamily="18" charset="0"/>
                        </a:rPr>
                        <a:t>Constraints</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1" dirty="0">
                          <a:latin typeface="Times New Roman" pitchFamily="18" charset="0"/>
                          <a:ea typeface="Calibri"/>
                          <a:cs typeface="Times New Roman" pitchFamily="18" charset="0"/>
                        </a:rPr>
                        <a:t>Description</a:t>
                      </a:r>
                      <a:endParaRPr lang="en-US" sz="1400" dirty="0">
                        <a:latin typeface="Times New Roman" pitchFamily="18" charset="0"/>
                        <a:ea typeface="Calibri"/>
                        <a:cs typeface="Times New Roman" pitchFamily="18" charset="0"/>
                      </a:endParaRPr>
                    </a:p>
                  </a:txBody>
                  <a:tcPr marL="68580" marR="68580" marT="0" marB="0"/>
                </a:tc>
              </a:tr>
              <a:tr h="958860">
                <a:tc>
                  <a:txBody>
                    <a:bodyPr/>
                    <a:lstStyle/>
                    <a:p>
                      <a:pPr>
                        <a:lnSpc>
                          <a:spcPct val="115000"/>
                        </a:lnSpc>
                        <a:spcAft>
                          <a:spcPts val="0"/>
                        </a:spcAft>
                      </a:pPr>
                      <a:r>
                        <a:rPr lang="en-IN" sz="1400" dirty="0">
                          <a:latin typeface="Times New Roman" pitchFamily="18" charset="0"/>
                          <a:ea typeface="Calibri"/>
                          <a:cs typeface="Times New Roman" pitchFamily="18" charset="0"/>
                        </a:rPr>
                        <a:t>1</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id</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Int</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11</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PK, Auto_Increment</a:t>
                      </a:r>
                      <a:endParaRPr lang="en-US" sz="1400" dirty="0">
                        <a:latin typeface="Times New Roman" pitchFamily="18" charset="0"/>
                        <a:ea typeface="Calibri"/>
                        <a:cs typeface="Times New Roman" pitchFamily="18" charset="0"/>
                      </a:endParaRPr>
                    </a:p>
                    <a:p>
                      <a:pPr>
                        <a:lnSpc>
                          <a:spcPct val="115000"/>
                        </a:lnSpc>
                        <a:spcAft>
                          <a:spcPts val="0"/>
                        </a:spcAft>
                      </a:pPr>
                      <a:r>
                        <a:rPr lang="en-IN" sz="1400" dirty="0">
                          <a:latin typeface="Times New Roman" pitchFamily="18" charset="0"/>
                          <a:ea typeface="Calibri"/>
                          <a:cs typeface="Times New Roman" pitchFamily="18" charset="0"/>
                        </a:rPr>
                        <a:t>,Not null</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Unique review id</a:t>
                      </a:r>
                      <a:endParaRPr lang="en-US" sz="1400" dirty="0">
                        <a:latin typeface="Times New Roman" pitchFamily="18" charset="0"/>
                        <a:ea typeface="Calibri"/>
                        <a:cs typeface="Times New Roman" pitchFamily="18" charset="0"/>
                      </a:endParaRPr>
                    </a:p>
                  </a:txBody>
                  <a:tcPr marL="68580" marR="68580" marT="0" marB="0"/>
                </a:tc>
              </a:tr>
              <a:tr h="630487">
                <a:tc>
                  <a:txBody>
                    <a:bodyPr/>
                    <a:lstStyle/>
                    <a:p>
                      <a:pPr>
                        <a:lnSpc>
                          <a:spcPct val="115000"/>
                        </a:lnSpc>
                        <a:spcAft>
                          <a:spcPts val="0"/>
                        </a:spcAft>
                      </a:pPr>
                      <a:r>
                        <a:rPr lang="en-IN" sz="1400" dirty="0">
                          <a:latin typeface="Times New Roman" pitchFamily="18" charset="0"/>
                          <a:ea typeface="Calibri"/>
                          <a:cs typeface="Times New Roman" pitchFamily="18" charset="0"/>
                        </a:rPr>
                        <a:t>2</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user_id</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Int</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11</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FK(users),Not null</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User id for identify user</a:t>
                      </a:r>
                      <a:endParaRPr lang="en-US" sz="1400" dirty="0">
                        <a:latin typeface="Times New Roman" pitchFamily="18" charset="0"/>
                        <a:ea typeface="Calibri"/>
                        <a:cs typeface="Times New Roman" pitchFamily="18" charset="0"/>
                      </a:endParaRPr>
                    </a:p>
                  </a:txBody>
                  <a:tcPr marL="68580" marR="68580" marT="0" marB="0"/>
                </a:tc>
              </a:tr>
              <a:tr h="630487">
                <a:tc>
                  <a:txBody>
                    <a:bodyPr/>
                    <a:lstStyle/>
                    <a:p>
                      <a:pPr>
                        <a:lnSpc>
                          <a:spcPct val="115000"/>
                        </a:lnSpc>
                        <a:spcAft>
                          <a:spcPts val="0"/>
                        </a:spcAft>
                      </a:pPr>
                      <a:r>
                        <a:rPr lang="en-IN" sz="1400" dirty="0">
                          <a:latin typeface="Times New Roman" pitchFamily="18" charset="0"/>
                          <a:ea typeface="Calibri"/>
                          <a:cs typeface="Times New Roman" pitchFamily="18" charset="0"/>
                        </a:rPr>
                        <a:t>3</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event_id</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Int</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11</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FK(events),Not null </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Event id for identify event</a:t>
                      </a:r>
                      <a:endParaRPr lang="en-US" sz="1400" dirty="0">
                        <a:latin typeface="Times New Roman" pitchFamily="18" charset="0"/>
                        <a:ea typeface="Calibri"/>
                        <a:cs typeface="Times New Roman" pitchFamily="18" charset="0"/>
                      </a:endParaRPr>
                    </a:p>
                  </a:txBody>
                  <a:tcPr marL="68580" marR="68580" marT="0" marB="0"/>
                </a:tc>
              </a:tr>
              <a:tr h="958860">
                <a:tc>
                  <a:txBody>
                    <a:bodyPr/>
                    <a:lstStyle/>
                    <a:p>
                      <a:pPr>
                        <a:lnSpc>
                          <a:spcPct val="115000"/>
                        </a:lnSpc>
                        <a:spcAft>
                          <a:spcPts val="0"/>
                        </a:spcAft>
                      </a:pPr>
                      <a:r>
                        <a:rPr lang="en-IN" sz="1400" dirty="0">
                          <a:latin typeface="Times New Roman" pitchFamily="18" charset="0"/>
                          <a:ea typeface="Calibri"/>
                          <a:cs typeface="Times New Roman" pitchFamily="18" charset="0"/>
                        </a:rPr>
                        <a:t>4</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rating</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Int</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11</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Not null, check(between 1 to 5)</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Rating given between 1 to 5</a:t>
                      </a:r>
                      <a:endParaRPr lang="en-US" sz="1400" dirty="0">
                        <a:latin typeface="Times New Roman" pitchFamily="18" charset="0"/>
                        <a:ea typeface="Calibri"/>
                        <a:cs typeface="Times New Roman" pitchFamily="18" charset="0"/>
                      </a:endParaRPr>
                    </a:p>
                  </a:txBody>
                  <a:tcPr marL="68580" marR="68580" marT="0" marB="0"/>
                </a:tc>
              </a:tr>
              <a:tr h="357455">
                <a:tc>
                  <a:txBody>
                    <a:bodyPr/>
                    <a:lstStyle/>
                    <a:p>
                      <a:pPr>
                        <a:lnSpc>
                          <a:spcPct val="115000"/>
                        </a:lnSpc>
                        <a:spcAft>
                          <a:spcPts val="0"/>
                        </a:spcAft>
                      </a:pPr>
                      <a:r>
                        <a:rPr lang="en-IN" sz="1400" dirty="0">
                          <a:latin typeface="Times New Roman" pitchFamily="18" charset="0"/>
                          <a:ea typeface="Calibri"/>
                          <a:cs typeface="Times New Roman" pitchFamily="18" charset="0"/>
                        </a:rPr>
                        <a:t>5</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review</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Text</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endParaRPr lang="en-IN"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Not null</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Review comment</a:t>
                      </a:r>
                      <a:endParaRPr lang="en-US" sz="1400" dirty="0">
                        <a:latin typeface="Times New Roman" pitchFamily="18" charset="0"/>
                        <a:ea typeface="Calibri"/>
                        <a:cs typeface="Times New Roman" pitchFamily="18" charset="0"/>
                      </a:endParaRPr>
                    </a:p>
                  </a:txBody>
                  <a:tcPr marL="68580" marR="68580" marT="0" marB="0"/>
                </a:tc>
              </a:tr>
              <a:tr h="958860">
                <a:tc>
                  <a:txBody>
                    <a:bodyPr/>
                    <a:lstStyle/>
                    <a:p>
                      <a:pPr>
                        <a:lnSpc>
                          <a:spcPct val="115000"/>
                        </a:lnSpc>
                        <a:spcAft>
                          <a:spcPts val="0"/>
                        </a:spcAft>
                      </a:pPr>
                      <a:r>
                        <a:rPr lang="en-IN" sz="1400" dirty="0">
                          <a:latin typeface="Times New Roman" pitchFamily="18" charset="0"/>
                          <a:ea typeface="Calibri"/>
                          <a:cs typeface="Times New Roman" pitchFamily="18" charset="0"/>
                        </a:rPr>
                        <a:t>6</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created_at</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timestamp</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endParaRPr lang="en-IN"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Not null, Default Current_timestamp</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Review date</a:t>
                      </a:r>
                      <a:endParaRPr lang="en-US" sz="1400" dirty="0">
                        <a:latin typeface="Times New Roman" pitchFamily="18" charset="0"/>
                        <a:ea typeface="Calibri"/>
                        <a:cs typeface="Times New Roman" pitchFamily="18" charset="0"/>
                      </a:endParaRPr>
                    </a:p>
                  </a:txBody>
                  <a:tcPr marL="68580" marR="68580" marT="0" marB="0"/>
                </a:tc>
              </a:tr>
              <a:tr h="496299">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bl>
          </a:graphicData>
        </a:graphic>
      </p:graphicFrame>
      <p:sp>
        <p:nvSpPr>
          <p:cNvPr id="5" name="Title 1"/>
          <p:cNvSpPr>
            <a:spLocks noGrp="1"/>
          </p:cNvSpPr>
          <p:nvPr>
            <p:ph type="title"/>
          </p:nvPr>
        </p:nvSpPr>
        <p:spPr>
          <a:xfrm>
            <a:off x="0" y="0"/>
            <a:ext cx="8229600" cy="634082"/>
          </a:xfrm>
        </p:spPr>
        <p:txBody>
          <a:bodyPr>
            <a:noAutofit/>
          </a:bodyPr>
          <a:lstStyle/>
          <a:p>
            <a:pPr algn="l"/>
            <a:r>
              <a:rPr lang="en-IN" sz="2000" b="1" dirty="0" smtClean="0">
                <a:latin typeface="Times New Roman" pitchFamily="18" charset="0"/>
                <a:cs typeface="Times New Roman" pitchFamily="18" charset="0"/>
              </a:rPr>
              <a:t>Table 7: event_reviews</a:t>
            </a:r>
            <a:br>
              <a:rPr lang="en-IN" sz="2000" b="1" dirty="0" smtClean="0">
                <a:latin typeface="Times New Roman" pitchFamily="18" charset="0"/>
                <a:cs typeface="Times New Roman" pitchFamily="18" charset="0"/>
              </a:rPr>
            </a:br>
            <a:r>
              <a:rPr lang="en-IN" sz="2000" b="1" dirty="0" smtClean="0">
                <a:latin typeface="Times New Roman" pitchFamily="18" charset="0"/>
                <a:cs typeface="Times New Roman" pitchFamily="18" charset="0"/>
              </a:rPr>
              <a:t>Purpose: To store event review details</a:t>
            </a:r>
            <a:endParaRPr lang="en-US" sz="2000"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nvPr>
        </p:nvGraphicFramePr>
        <p:xfrm>
          <a:off x="179512" y="692696"/>
          <a:ext cx="8784981" cy="5899912"/>
        </p:xfrm>
        <a:graphic>
          <a:graphicData uri="http://schemas.openxmlformats.org/drawingml/2006/table">
            <a:tbl>
              <a:tblPr firstRow="1" bandRow="1">
                <a:tableStyleId>{C083E6E3-FA7D-4D7B-A595-EF9225AFEA82}</a:tableStyleId>
              </a:tblPr>
              <a:tblGrid>
                <a:gridCol w="720080"/>
                <a:gridCol w="1728192"/>
                <a:gridCol w="1080120"/>
                <a:gridCol w="1512168"/>
                <a:gridCol w="2280258"/>
                <a:gridCol w="1464163"/>
              </a:tblGrid>
              <a:tr h="370840">
                <a:tc>
                  <a:txBody>
                    <a:bodyPr/>
                    <a:lstStyle/>
                    <a:p>
                      <a:pPr>
                        <a:lnSpc>
                          <a:spcPct val="115000"/>
                        </a:lnSpc>
                        <a:spcAft>
                          <a:spcPts val="0"/>
                        </a:spcAft>
                      </a:pPr>
                      <a:r>
                        <a:rPr lang="en-IN" sz="1400" b="1" dirty="0">
                          <a:latin typeface="Times New Roman" pitchFamily="18" charset="0"/>
                          <a:ea typeface="Calibri"/>
                          <a:cs typeface="Times New Roman" pitchFamily="18" charset="0"/>
                        </a:rPr>
                        <a:t>Sr .no</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1" dirty="0">
                          <a:latin typeface="Times New Roman" pitchFamily="18" charset="0"/>
                          <a:ea typeface="Calibri"/>
                          <a:cs typeface="Times New Roman" pitchFamily="18" charset="0"/>
                        </a:rPr>
                        <a:t>Field Name</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1" dirty="0">
                          <a:latin typeface="Times New Roman" pitchFamily="18" charset="0"/>
                          <a:ea typeface="Calibri"/>
                          <a:cs typeface="Times New Roman" pitchFamily="18" charset="0"/>
                        </a:rPr>
                        <a:t>Data Type</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1" dirty="0">
                          <a:latin typeface="Times New Roman" pitchFamily="18" charset="0"/>
                          <a:ea typeface="Calibri"/>
                          <a:cs typeface="Times New Roman" pitchFamily="18" charset="0"/>
                        </a:rPr>
                        <a:t>Size</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1" dirty="0">
                          <a:latin typeface="Times New Roman" pitchFamily="18" charset="0"/>
                          <a:ea typeface="Calibri"/>
                          <a:cs typeface="Times New Roman" pitchFamily="18" charset="0"/>
                        </a:rPr>
                        <a:t>Constraints</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1" dirty="0">
                          <a:latin typeface="Times New Roman" pitchFamily="18" charset="0"/>
                          <a:ea typeface="Calibri"/>
                          <a:cs typeface="Times New Roman" pitchFamily="18" charset="0"/>
                        </a:rPr>
                        <a:t>Description</a:t>
                      </a:r>
                      <a:endParaRPr lang="en-US" sz="1400" dirty="0">
                        <a:latin typeface="Times New Roman" pitchFamily="18" charset="0"/>
                        <a:ea typeface="Calibri"/>
                        <a:cs typeface="Times New Roman" pitchFamily="18" charset="0"/>
                      </a:endParaRPr>
                    </a:p>
                  </a:txBody>
                  <a:tcPr marL="68580" marR="68580" marT="0" marB="0"/>
                </a:tc>
              </a:tr>
              <a:tr h="370840">
                <a:tc>
                  <a:txBody>
                    <a:bodyPr/>
                    <a:lstStyle/>
                    <a:p>
                      <a:pPr>
                        <a:lnSpc>
                          <a:spcPct val="115000"/>
                        </a:lnSpc>
                        <a:spcAft>
                          <a:spcPts val="0"/>
                        </a:spcAft>
                      </a:pPr>
                      <a:r>
                        <a:rPr lang="en-IN" sz="1400" dirty="0">
                          <a:latin typeface="Times New Roman" pitchFamily="18" charset="0"/>
                          <a:ea typeface="Calibri"/>
                          <a:cs typeface="Times New Roman" pitchFamily="18" charset="0"/>
                        </a:rPr>
                        <a:t>1</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id</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Int</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11</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PK, Auto_Increment</a:t>
                      </a:r>
                      <a:endParaRPr lang="en-US" sz="1400" dirty="0">
                        <a:latin typeface="Times New Roman" pitchFamily="18" charset="0"/>
                        <a:ea typeface="Calibri"/>
                        <a:cs typeface="Times New Roman" pitchFamily="18" charset="0"/>
                      </a:endParaRPr>
                    </a:p>
                    <a:p>
                      <a:pPr>
                        <a:lnSpc>
                          <a:spcPct val="115000"/>
                        </a:lnSpc>
                        <a:spcAft>
                          <a:spcPts val="0"/>
                        </a:spcAft>
                      </a:pPr>
                      <a:r>
                        <a:rPr lang="en-IN" sz="1400" dirty="0">
                          <a:latin typeface="Times New Roman" pitchFamily="18" charset="0"/>
                          <a:ea typeface="Calibri"/>
                          <a:cs typeface="Times New Roman" pitchFamily="18" charset="0"/>
                        </a:rPr>
                        <a:t>,Not null</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Unique booking id</a:t>
                      </a:r>
                      <a:endParaRPr lang="en-US" sz="1400" dirty="0">
                        <a:latin typeface="Times New Roman" pitchFamily="18" charset="0"/>
                        <a:ea typeface="Calibri"/>
                        <a:cs typeface="Times New Roman" pitchFamily="18" charset="0"/>
                      </a:endParaRPr>
                    </a:p>
                  </a:txBody>
                  <a:tcPr marL="68580" marR="68580" marT="0" marB="0"/>
                </a:tc>
              </a:tr>
              <a:tr h="370840">
                <a:tc>
                  <a:txBody>
                    <a:bodyPr/>
                    <a:lstStyle/>
                    <a:p>
                      <a:pPr>
                        <a:lnSpc>
                          <a:spcPct val="115000"/>
                        </a:lnSpc>
                        <a:spcAft>
                          <a:spcPts val="0"/>
                        </a:spcAft>
                      </a:pPr>
                      <a:r>
                        <a:rPr lang="en-IN" sz="1400" dirty="0">
                          <a:latin typeface="Times New Roman" pitchFamily="18" charset="0"/>
                          <a:ea typeface="Calibri"/>
                          <a:cs typeface="Times New Roman" pitchFamily="18" charset="0"/>
                        </a:rPr>
                        <a:t>2</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registration_id</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Int</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11</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FK(event_registrations),Not null</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Registration id </a:t>
                      </a:r>
                      <a:endParaRPr lang="en-US" sz="1400" dirty="0">
                        <a:latin typeface="Times New Roman" pitchFamily="18" charset="0"/>
                        <a:ea typeface="Calibri"/>
                        <a:cs typeface="Times New Roman" pitchFamily="18" charset="0"/>
                      </a:endParaRPr>
                    </a:p>
                  </a:txBody>
                  <a:tcPr marL="68580" marR="68580" marT="0" marB="0"/>
                </a:tc>
              </a:tr>
              <a:tr h="370840">
                <a:tc>
                  <a:txBody>
                    <a:bodyPr/>
                    <a:lstStyle/>
                    <a:p>
                      <a:pPr>
                        <a:lnSpc>
                          <a:spcPct val="115000"/>
                        </a:lnSpc>
                        <a:spcAft>
                          <a:spcPts val="0"/>
                        </a:spcAft>
                      </a:pPr>
                      <a:r>
                        <a:rPr lang="en-IN" sz="1400" dirty="0">
                          <a:latin typeface="Times New Roman" pitchFamily="18" charset="0"/>
                          <a:ea typeface="Calibri"/>
                          <a:cs typeface="Times New Roman" pitchFamily="18" charset="0"/>
                        </a:rPr>
                        <a:t>3</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ticket_id</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Varchar</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255</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FK(event_registrations),Not null </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Ticket id </a:t>
                      </a:r>
                      <a:endParaRPr lang="en-US" sz="1400" dirty="0">
                        <a:latin typeface="Times New Roman" pitchFamily="18" charset="0"/>
                        <a:ea typeface="Calibri"/>
                        <a:cs typeface="Times New Roman" pitchFamily="18" charset="0"/>
                      </a:endParaRPr>
                    </a:p>
                  </a:txBody>
                  <a:tcPr marL="68580" marR="68580" marT="0" marB="0"/>
                </a:tc>
              </a:tr>
              <a:tr h="370840">
                <a:tc>
                  <a:txBody>
                    <a:bodyPr/>
                    <a:lstStyle/>
                    <a:p>
                      <a:pPr>
                        <a:lnSpc>
                          <a:spcPct val="115000"/>
                        </a:lnSpc>
                        <a:spcAft>
                          <a:spcPts val="0"/>
                        </a:spcAft>
                      </a:pPr>
                      <a:r>
                        <a:rPr lang="en-IN" sz="1400" dirty="0">
                          <a:latin typeface="Times New Roman" pitchFamily="18" charset="0"/>
                          <a:ea typeface="Calibri"/>
                          <a:cs typeface="Times New Roman" pitchFamily="18" charset="0"/>
                        </a:rPr>
                        <a:t>4</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razorpay_order_id</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Varchar</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100</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Not null</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Razorpay order id</a:t>
                      </a:r>
                      <a:endParaRPr lang="en-US" sz="1400" dirty="0">
                        <a:latin typeface="Times New Roman" pitchFamily="18" charset="0"/>
                        <a:ea typeface="Calibri"/>
                        <a:cs typeface="Times New Roman" pitchFamily="18" charset="0"/>
                      </a:endParaRPr>
                    </a:p>
                  </a:txBody>
                  <a:tcPr marL="68580" marR="68580" marT="0" marB="0"/>
                </a:tc>
              </a:tr>
              <a:tr h="365279">
                <a:tc>
                  <a:txBody>
                    <a:bodyPr/>
                    <a:lstStyle/>
                    <a:p>
                      <a:pPr>
                        <a:lnSpc>
                          <a:spcPct val="115000"/>
                        </a:lnSpc>
                        <a:spcAft>
                          <a:spcPts val="0"/>
                        </a:spcAft>
                      </a:pPr>
                      <a:r>
                        <a:rPr lang="en-IN" sz="1400" dirty="0">
                          <a:latin typeface="Times New Roman" pitchFamily="18" charset="0"/>
                          <a:ea typeface="Calibri"/>
                          <a:cs typeface="Times New Roman" pitchFamily="18" charset="0"/>
                        </a:rPr>
                        <a:t>5</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razorpay_payment_id</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Varchar</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100</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endParaRPr lang="en-IN"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Razorpay payment id</a:t>
                      </a:r>
                      <a:endParaRPr lang="en-US" sz="1400" dirty="0">
                        <a:latin typeface="Times New Roman" pitchFamily="18" charset="0"/>
                        <a:ea typeface="Calibri"/>
                        <a:cs typeface="Times New Roman" pitchFamily="18" charset="0"/>
                      </a:endParaRPr>
                    </a:p>
                  </a:txBody>
                  <a:tcPr marL="68580" marR="68580" marT="0" marB="0"/>
                </a:tc>
              </a:tr>
              <a:tr h="370840">
                <a:tc>
                  <a:txBody>
                    <a:bodyPr/>
                    <a:lstStyle/>
                    <a:p>
                      <a:pPr>
                        <a:lnSpc>
                          <a:spcPct val="115000"/>
                        </a:lnSpc>
                        <a:spcAft>
                          <a:spcPts val="0"/>
                        </a:spcAft>
                      </a:pPr>
                      <a:r>
                        <a:rPr lang="en-IN" sz="1400" dirty="0">
                          <a:latin typeface="Times New Roman" pitchFamily="18" charset="0"/>
                          <a:ea typeface="Calibri"/>
                          <a:cs typeface="Times New Roman" pitchFamily="18" charset="0"/>
                        </a:rPr>
                        <a:t>6</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razorpay_signature</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Varchar</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255</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endParaRPr lang="en-IN"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Razorpay signature</a:t>
                      </a:r>
                      <a:endParaRPr lang="en-US" sz="1400" dirty="0">
                        <a:latin typeface="Times New Roman" pitchFamily="18" charset="0"/>
                        <a:ea typeface="Calibri"/>
                        <a:cs typeface="Times New Roman" pitchFamily="18" charset="0"/>
                      </a:endParaRPr>
                    </a:p>
                  </a:txBody>
                  <a:tcPr marL="68580" marR="68580" marT="0" marB="0"/>
                </a:tc>
              </a:tr>
              <a:tr h="370840">
                <a:tc>
                  <a:txBody>
                    <a:bodyPr/>
                    <a:lstStyle/>
                    <a:p>
                      <a:pPr>
                        <a:lnSpc>
                          <a:spcPct val="115000"/>
                        </a:lnSpc>
                        <a:spcAft>
                          <a:spcPts val="0"/>
                        </a:spcAft>
                      </a:pPr>
                      <a:r>
                        <a:rPr lang="en-IN" sz="1400" dirty="0">
                          <a:latin typeface="Times New Roman" pitchFamily="18" charset="0"/>
                          <a:ea typeface="Calibri"/>
                          <a:cs typeface="Times New Roman" pitchFamily="18" charset="0"/>
                        </a:rPr>
                        <a:t>7</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amount</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Int</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11</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Not null</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Booking amount</a:t>
                      </a:r>
                      <a:endParaRPr lang="en-US" sz="1400" dirty="0">
                        <a:latin typeface="Times New Roman" pitchFamily="18" charset="0"/>
                        <a:ea typeface="Calibri"/>
                        <a:cs typeface="Times New Roman" pitchFamily="18" charset="0"/>
                      </a:endParaRPr>
                    </a:p>
                  </a:txBody>
                  <a:tcPr marL="68580" marR="68580" marT="0" marB="0"/>
                </a:tc>
              </a:tr>
              <a:tr h="370840">
                <a:tc>
                  <a:txBody>
                    <a:bodyPr/>
                    <a:lstStyle/>
                    <a:p>
                      <a:pPr>
                        <a:lnSpc>
                          <a:spcPct val="115000"/>
                        </a:lnSpc>
                        <a:spcAft>
                          <a:spcPts val="0"/>
                        </a:spcAft>
                      </a:pPr>
                      <a:r>
                        <a:rPr lang="en-IN" sz="1400" dirty="0">
                          <a:latin typeface="Times New Roman" pitchFamily="18" charset="0"/>
                          <a:ea typeface="Calibri"/>
                          <a:cs typeface="Times New Roman" pitchFamily="18" charset="0"/>
                        </a:rPr>
                        <a:t>8</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payment_status</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Enum</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Pending, paid,</a:t>
                      </a:r>
                      <a:endParaRPr lang="en-US" sz="1400" dirty="0">
                        <a:latin typeface="Times New Roman" pitchFamily="18" charset="0"/>
                        <a:ea typeface="Calibri"/>
                        <a:cs typeface="Times New Roman" pitchFamily="18" charset="0"/>
                      </a:endParaRPr>
                    </a:p>
                    <a:p>
                      <a:pPr>
                        <a:lnSpc>
                          <a:spcPct val="115000"/>
                        </a:lnSpc>
                        <a:spcAft>
                          <a:spcPts val="0"/>
                        </a:spcAft>
                      </a:pPr>
                      <a:r>
                        <a:rPr lang="en-IN" sz="1400" dirty="0">
                          <a:latin typeface="Times New Roman" pitchFamily="18" charset="0"/>
                          <a:ea typeface="Calibri"/>
                          <a:cs typeface="Times New Roman" pitchFamily="18" charset="0"/>
                        </a:rPr>
                        <a:t>failed, refunded</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Not null, Default pending</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Payment status</a:t>
                      </a:r>
                      <a:endParaRPr lang="en-US" sz="1400" dirty="0">
                        <a:latin typeface="Times New Roman" pitchFamily="18" charset="0"/>
                        <a:ea typeface="Calibri"/>
                        <a:cs typeface="Times New Roman" pitchFamily="18" charset="0"/>
                      </a:endParaRPr>
                    </a:p>
                  </a:txBody>
                  <a:tcPr marL="68580" marR="68580" marT="0" marB="0"/>
                </a:tc>
              </a:tr>
              <a:tr h="370840">
                <a:tc>
                  <a:txBody>
                    <a:bodyPr/>
                    <a:lstStyle/>
                    <a:p>
                      <a:pPr>
                        <a:lnSpc>
                          <a:spcPct val="115000"/>
                        </a:lnSpc>
                        <a:spcAft>
                          <a:spcPts val="0"/>
                        </a:spcAft>
                      </a:pPr>
                      <a:r>
                        <a:rPr lang="en-IN" sz="1400" dirty="0">
                          <a:latin typeface="Times New Roman" pitchFamily="18" charset="0"/>
                          <a:ea typeface="Calibri"/>
                          <a:cs typeface="Times New Roman" pitchFamily="18" charset="0"/>
                        </a:rPr>
                        <a:t>9</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booking_date</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timestamp</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endParaRPr lang="en-IN"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Not null, Default Current_timestamp</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Booking date and time</a:t>
                      </a:r>
                      <a:endParaRPr lang="en-US" sz="1400" dirty="0">
                        <a:latin typeface="Times New Roman" pitchFamily="18" charset="0"/>
                        <a:ea typeface="Calibri"/>
                        <a:cs typeface="Times New Roman" pitchFamily="18" charset="0"/>
                      </a:endParaRPr>
                    </a:p>
                  </a:txBody>
                  <a:tcPr marL="68580" marR="68580" marT="0" marB="0"/>
                </a:tc>
              </a:tr>
              <a:tr h="370840">
                <a:tc>
                  <a:txBody>
                    <a:bodyPr/>
                    <a:lstStyle/>
                    <a:p>
                      <a:pPr>
                        <a:lnSpc>
                          <a:spcPct val="115000"/>
                        </a:lnSpc>
                        <a:spcAft>
                          <a:spcPts val="0"/>
                        </a:spcAft>
                      </a:pPr>
                      <a:r>
                        <a:rPr lang="en-IN" sz="1400" dirty="0">
                          <a:latin typeface="Times New Roman" pitchFamily="18" charset="0"/>
                          <a:ea typeface="Calibri"/>
                          <a:cs typeface="Times New Roman" pitchFamily="18" charset="0"/>
                        </a:rPr>
                        <a:t>10</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razorpay_refund_id</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Varchar</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100</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endParaRPr lang="en-IN"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Razorpay refund id</a:t>
                      </a:r>
                      <a:endParaRPr lang="en-US" sz="1400" dirty="0">
                        <a:latin typeface="Times New Roman" pitchFamily="18" charset="0"/>
                        <a:ea typeface="Calibri"/>
                        <a:cs typeface="Times New Roman" pitchFamily="18" charset="0"/>
                      </a:endParaRPr>
                    </a:p>
                  </a:txBody>
                  <a:tcPr marL="68580" marR="68580" marT="0" marB="0"/>
                </a:tc>
              </a:tr>
              <a:tr h="370840">
                <a:tc>
                  <a:txBody>
                    <a:bodyPr/>
                    <a:lstStyle/>
                    <a:p>
                      <a:pPr>
                        <a:lnSpc>
                          <a:spcPct val="115000"/>
                        </a:lnSpc>
                        <a:spcAft>
                          <a:spcPts val="0"/>
                        </a:spcAft>
                      </a:pPr>
                      <a:r>
                        <a:rPr lang="en-IN" sz="1400" dirty="0">
                          <a:latin typeface="Times New Roman" pitchFamily="18" charset="0"/>
                          <a:ea typeface="Calibri"/>
                          <a:cs typeface="Times New Roman" pitchFamily="18" charset="0"/>
                        </a:rPr>
                        <a:t>11</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refund_amount</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Int</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11</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endParaRPr lang="en-IN"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Refund amount</a:t>
                      </a:r>
                      <a:endParaRPr lang="en-US" sz="1400" dirty="0">
                        <a:latin typeface="Times New Roman" pitchFamily="18" charset="0"/>
                        <a:ea typeface="Calibri"/>
                        <a:cs typeface="Times New Roman" pitchFamily="18" charset="0"/>
                      </a:endParaRPr>
                    </a:p>
                  </a:txBody>
                  <a:tcPr marL="68580" marR="68580" marT="0" marB="0"/>
                </a:tc>
              </a:tr>
              <a:tr h="370840">
                <a:tc>
                  <a:txBody>
                    <a:bodyPr/>
                    <a:lstStyle/>
                    <a:p>
                      <a:pPr>
                        <a:lnSpc>
                          <a:spcPct val="115000"/>
                        </a:lnSpc>
                        <a:spcAft>
                          <a:spcPts val="0"/>
                        </a:spcAft>
                      </a:pPr>
                      <a:r>
                        <a:rPr lang="en-IN" sz="1400" dirty="0">
                          <a:latin typeface="Times New Roman" pitchFamily="18" charset="0"/>
                          <a:ea typeface="Calibri"/>
                          <a:cs typeface="Times New Roman" pitchFamily="18" charset="0"/>
                        </a:rPr>
                        <a:t>12</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refunded_at</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datetime</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endParaRPr lang="en-IN"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Not null, Default Current_timestamp</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Refund fate and time</a:t>
                      </a:r>
                      <a:endParaRPr lang="en-US" sz="1400" dirty="0">
                        <a:latin typeface="Times New Roman" pitchFamily="18" charset="0"/>
                        <a:ea typeface="Calibri"/>
                        <a:cs typeface="Times New Roman" pitchFamily="18" charset="0"/>
                      </a:endParaRPr>
                    </a:p>
                  </a:txBody>
                  <a:tcPr marL="68580" marR="68580" marT="0" marB="0"/>
                </a:tc>
              </a:tr>
            </a:tbl>
          </a:graphicData>
        </a:graphic>
      </p:graphicFrame>
      <p:sp>
        <p:nvSpPr>
          <p:cNvPr id="4" name="Title 1"/>
          <p:cNvSpPr>
            <a:spLocks noGrp="1"/>
          </p:cNvSpPr>
          <p:nvPr>
            <p:ph type="title"/>
          </p:nvPr>
        </p:nvSpPr>
        <p:spPr>
          <a:xfrm>
            <a:off x="0" y="0"/>
            <a:ext cx="8229600" cy="634082"/>
          </a:xfrm>
        </p:spPr>
        <p:txBody>
          <a:bodyPr>
            <a:noAutofit/>
          </a:bodyPr>
          <a:lstStyle/>
          <a:p>
            <a:pPr algn="l"/>
            <a:r>
              <a:rPr lang="en-IN" sz="2000" b="1" dirty="0" smtClean="0">
                <a:latin typeface="Times New Roman" pitchFamily="18" charset="0"/>
                <a:cs typeface="Times New Roman" pitchFamily="18" charset="0"/>
              </a:rPr>
              <a:t>Table 8: bookings</a:t>
            </a:r>
            <a:br>
              <a:rPr lang="en-IN" sz="2000" b="1" dirty="0" smtClean="0">
                <a:latin typeface="Times New Roman" pitchFamily="18" charset="0"/>
                <a:cs typeface="Times New Roman" pitchFamily="18" charset="0"/>
              </a:rPr>
            </a:br>
            <a:r>
              <a:rPr lang="en-IN" sz="2000" b="1" dirty="0" smtClean="0">
                <a:latin typeface="Times New Roman" pitchFamily="18" charset="0"/>
                <a:cs typeface="Times New Roman" pitchFamily="18" charset="0"/>
              </a:rPr>
              <a:t>Purpose: To store details of paid event booking</a:t>
            </a:r>
            <a:endParaRPr lang="en-US" sz="2000"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179514" y="764704"/>
          <a:ext cx="8712967" cy="3240360"/>
        </p:xfrm>
        <a:graphic>
          <a:graphicData uri="http://schemas.openxmlformats.org/drawingml/2006/table">
            <a:tbl>
              <a:tblPr firstRow="1" bandRow="1">
                <a:tableStyleId>{C083E6E3-FA7D-4D7B-A595-EF9225AFEA82}</a:tableStyleId>
              </a:tblPr>
              <a:tblGrid>
                <a:gridCol w="1452161"/>
                <a:gridCol w="1452161"/>
                <a:gridCol w="1452161"/>
                <a:gridCol w="1188131"/>
                <a:gridCol w="1716192"/>
                <a:gridCol w="1452161"/>
              </a:tblGrid>
              <a:tr h="709889">
                <a:tc>
                  <a:txBody>
                    <a:bodyPr/>
                    <a:lstStyle/>
                    <a:p>
                      <a:pPr>
                        <a:lnSpc>
                          <a:spcPct val="115000"/>
                        </a:lnSpc>
                        <a:spcAft>
                          <a:spcPts val="0"/>
                        </a:spcAft>
                      </a:pPr>
                      <a:r>
                        <a:rPr lang="en-IN" sz="1400" b="1" dirty="0">
                          <a:latin typeface="Times New Roman" pitchFamily="18" charset="0"/>
                          <a:ea typeface="Calibri"/>
                          <a:cs typeface="Times New Roman" pitchFamily="18" charset="0"/>
                        </a:rPr>
                        <a:t>Sr .no</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1" dirty="0">
                          <a:latin typeface="Times New Roman" pitchFamily="18" charset="0"/>
                          <a:ea typeface="Calibri"/>
                          <a:cs typeface="Times New Roman" pitchFamily="18" charset="0"/>
                        </a:rPr>
                        <a:t>Field Name</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1" dirty="0">
                          <a:latin typeface="Times New Roman" pitchFamily="18" charset="0"/>
                          <a:ea typeface="Calibri"/>
                          <a:cs typeface="Times New Roman" pitchFamily="18" charset="0"/>
                        </a:rPr>
                        <a:t>Data Type</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1" dirty="0">
                          <a:latin typeface="Times New Roman" pitchFamily="18" charset="0"/>
                          <a:ea typeface="Calibri"/>
                          <a:cs typeface="Times New Roman" pitchFamily="18" charset="0"/>
                        </a:rPr>
                        <a:t>Size</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1" dirty="0">
                          <a:latin typeface="Times New Roman" pitchFamily="18" charset="0"/>
                          <a:ea typeface="Calibri"/>
                          <a:cs typeface="Times New Roman" pitchFamily="18" charset="0"/>
                        </a:rPr>
                        <a:t>Constraints</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b="1" dirty="0">
                          <a:latin typeface="Times New Roman" pitchFamily="18" charset="0"/>
                          <a:ea typeface="Calibri"/>
                          <a:cs typeface="Times New Roman" pitchFamily="18" charset="0"/>
                        </a:rPr>
                        <a:t>Description</a:t>
                      </a:r>
                      <a:endParaRPr lang="en-US" sz="1400" dirty="0">
                        <a:latin typeface="Times New Roman" pitchFamily="18" charset="0"/>
                        <a:ea typeface="Calibri"/>
                        <a:cs typeface="Times New Roman" pitchFamily="18" charset="0"/>
                      </a:endParaRPr>
                    </a:p>
                  </a:txBody>
                  <a:tcPr marL="68580" marR="68580" marT="0" marB="0"/>
                </a:tc>
              </a:tr>
              <a:tr h="658263">
                <a:tc>
                  <a:txBody>
                    <a:bodyPr/>
                    <a:lstStyle/>
                    <a:p>
                      <a:pPr>
                        <a:lnSpc>
                          <a:spcPct val="115000"/>
                        </a:lnSpc>
                        <a:spcAft>
                          <a:spcPts val="0"/>
                        </a:spcAft>
                      </a:pPr>
                      <a:r>
                        <a:rPr lang="en-IN" sz="1400" dirty="0">
                          <a:latin typeface="Times New Roman" pitchFamily="18" charset="0"/>
                          <a:ea typeface="Calibri"/>
                          <a:cs typeface="Times New Roman" pitchFamily="18" charset="0"/>
                        </a:rPr>
                        <a:t>1</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id</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Int</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11</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PK, Auto_Increment</a:t>
                      </a:r>
                      <a:endParaRPr lang="en-US" sz="1400" dirty="0">
                        <a:latin typeface="Times New Roman" pitchFamily="18" charset="0"/>
                        <a:ea typeface="Calibri"/>
                        <a:cs typeface="Times New Roman" pitchFamily="18" charset="0"/>
                      </a:endParaRPr>
                    </a:p>
                    <a:p>
                      <a:pPr>
                        <a:lnSpc>
                          <a:spcPct val="115000"/>
                        </a:lnSpc>
                        <a:spcAft>
                          <a:spcPts val="0"/>
                        </a:spcAft>
                      </a:pPr>
                      <a:r>
                        <a:rPr lang="en-IN" sz="1400" dirty="0">
                          <a:latin typeface="Times New Roman" pitchFamily="18" charset="0"/>
                          <a:ea typeface="Calibri"/>
                          <a:cs typeface="Times New Roman" pitchFamily="18" charset="0"/>
                        </a:rPr>
                        <a:t>,Not null</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Unique user token id</a:t>
                      </a:r>
                      <a:endParaRPr lang="en-US" sz="1400" dirty="0">
                        <a:latin typeface="Times New Roman" pitchFamily="18" charset="0"/>
                        <a:ea typeface="Calibri"/>
                        <a:cs typeface="Times New Roman" pitchFamily="18" charset="0"/>
                      </a:endParaRPr>
                    </a:p>
                  </a:txBody>
                  <a:tcPr marL="68580" marR="68580" marT="0" marB="0"/>
                </a:tc>
              </a:tr>
              <a:tr h="576064">
                <a:tc>
                  <a:txBody>
                    <a:bodyPr/>
                    <a:lstStyle/>
                    <a:p>
                      <a:pPr>
                        <a:lnSpc>
                          <a:spcPct val="115000"/>
                        </a:lnSpc>
                        <a:spcAft>
                          <a:spcPts val="0"/>
                        </a:spcAft>
                      </a:pPr>
                      <a:r>
                        <a:rPr lang="en-IN" sz="1400" dirty="0">
                          <a:latin typeface="Times New Roman" pitchFamily="18" charset="0"/>
                          <a:ea typeface="Calibri"/>
                          <a:cs typeface="Times New Roman" pitchFamily="18" charset="0"/>
                        </a:rPr>
                        <a:t>2</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user_id</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Int</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11</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FK(users),Not null</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User id for identify user </a:t>
                      </a:r>
                      <a:endParaRPr lang="en-US" sz="1400" dirty="0">
                        <a:latin typeface="Times New Roman" pitchFamily="18" charset="0"/>
                        <a:ea typeface="Calibri"/>
                        <a:cs typeface="Times New Roman" pitchFamily="18" charset="0"/>
                      </a:endParaRPr>
                    </a:p>
                  </a:txBody>
                  <a:tcPr marL="68580" marR="68580" marT="0" marB="0"/>
                </a:tc>
              </a:tr>
              <a:tr h="576064">
                <a:tc>
                  <a:txBody>
                    <a:bodyPr/>
                    <a:lstStyle/>
                    <a:p>
                      <a:pPr>
                        <a:lnSpc>
                          <a:spcPct val="115000"/>
                        </a:lnSpc>
                        <a:spcAft>
                          <a:spcPts val="0"/>
                        </a:spcAft>
                      </a:pPr>
                      <a:r>
                        <a:rPr lang="en-IN" sz="1400" dirty="0">
                          <a:latin typeface="Times New Roman" pitchFamily="18" charset="0"/>
                          <a:ea typeface="Calibri"/>
                          <a:cs typeface="Times New Roman" pitchFamily="18" charset="0"/>
                        </a:rPr>
                        <a:t>3</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token</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Varchar</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255</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Not null</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Generated token from Google</a:t>
                      </a:r>
                      <a:endParaRPr lang="en-US" sz="1400" dirty="0">
                        <a:latin typeface="Times New Roman" pitchFamily="18" charset="0"/>
                        <a:ea typeface="Calibri"/>
                        <a:cs typeface="Times New Roman" pitchFamily="18" charset="0"/>
                      </a:endParaRPr>
                    </a:p>
                  </a:txBody>
                  <a:tcPr marL="68580" marR="68580" marT="0" marB="0"/>
                </a:tc>
              </a:tr>
              <a:tr h="720080">
                <a:tc>
                  <a:txBody>
                    <a:bodyPr/>
                    <a:lstStyle/>
                    <a:p>
                      <a:pPr>
                        <a:lnSpc>
                          <a:spcPct val="115000"/>
                        </a:lnSpc>
                        <a:spcAft>
                          <a:spcPts val="0"/>
                        </a:spcAft>
                      </a:pPr>
                      <a:r>
                        <a:rPr lang="en-IN" sz="1400" dirty="0">
                          <a:latin typeface="Times New Roman" pitchFamily="18" charset="0"/>
                          <a:ea typeface="Calibri"/>
                          <a:cs typeface="Times New Roman" pitchFamily="18" charset="0"/>
                        </a:rPr>
                        <a:t>4</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created_at</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Timestamp</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endParaRPr lang="en-IN"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Not null, Default Current_timestamp</a:t>
                      </a:r>
                      <a:endParaRPr lang="en-US" sz="1400" dirty="0">
                        <a:latin typeface="Times New Roman" pitchFamily="18" charset="0"/>
                        <a:ea typeface="Calibri"/>
                        <a:cs typeface="Times New Roman" pitchFamily="18" charset="0"/>
                      </a:endParaRPr>
                    </a:p>
                  </a:txBody>
                  <a:tcPr marL="68580" marR="68580" marT="0" marB="0"/>
                </a:tc>
                <a:tc>
                  <a:txBody>
                    <a:bodyPr/>
                    <a:lstStyle/>
                    <a:p>
                      <a:pPr>
                        <a:lnSpc>
                          <a:spcPct val="115000"/>
                        </a:lnSpc>
                        <a:spcAft>
                          <a:spcPts val="0"/>
                        </a:spcAft>
                      </a:pPr>
                      <a:r>
                        <a:rPr lang="en-IN" sz="1400" dirty="0">
                          <a:latin typeface="Times New Roman" pitchFamily="18" charset="0"/>
                          <a:ea typeface="Calibri"/>
                          <a:cs typeface="Times New Roman" pitchFamily="18" charset="0"/>
                        </a:rPr>
                        <a:t>Token creation date and time</a:t>
                      </a:r>
                      <a:endParaRPr lang="en-US" sz="1400" dirty="0">
                        <a:latin typeface="Times New Roman" pitchFamily="18" charset="0"/>
                        <a:ea typeface="Calibri"/>
                        <a:cs typeface="Times New Roman" pitchFamily="18" charset="0"/>
                      </a:endParaRPr>
                    </a:p>
                  </a:txBody>
                  <a:tcPr marL="68580" marR="68580" marT="0" marB="0"/>
                </a:tc>
              </a:tr>
            </a:tbl>
          </a:graphicData>
        </a:graphic>
      </p:graphicFrame>
      <p:sp>
        <p:nvSpPr>
          <p:cNvPr id="5" name="Title 1"/>
          <p:cNvSpPr>
            <a:spLocks noGrp="1"/>
          </p:cNvSpPr>
          <p:nvPr>
            <p:ph type="title"/>
          </p:nvPr>
        </p:nvSpPr>
        <p:spPr>
          <a:xfrm>
            <a:off x="0" y="0"/>
            <a:ext cx="8229600" cy="634082"/>
          </a:xfrm>
        </p:spPr>
        <p:txBody>
          <a:bodyPr>
            <a:noAutofit/>
          </a:bodyPr>
          <a:lstStyle/>
          <a:p>
            <a:pPr algn="l"/>
            <a:r>
              <a:rPr lang="en-IN" sz="2000" b="1" dirty="0" smtClean="0">
                <a:latin typeface="Times New Roman" pitchFamily="18" charset="0"/>
                <a:cs typeface="Times New Roman" pitchFamily="18" charset="0"/>
              </a:rPr>
              <a:t>Table 9: user_tokens</a:t>
            </a:r>
            <a:br>
              <a:rPr lang="en-IN" sz="2000" b="1" dirty="0" smtClean="0">
                <a:latin typeface="Times New Roman" pitchFamily="18" charset="0"/>
                <a:cs typeface="Times New Roman" pitchFamily="18" charset="0"/>
              </a:rPr>
            </a:br>
            <a:r>
              <a:rPr lang="en-IN" sz="2000" b="1" dirty="0" smtClean="0">
                <a:latin typeface="Times New Roman" pitchFamily="18" charset="0"/>
                <a:cs typeface="Times New Roman" pitchFamily="18" charset="0"/>
              </a:rPr>
              <a:t>Purpose: To store user token</a:t>
            </a:r>
            <a:endParaRPr lang="en-US" sz="2000"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764704"/>
            <a:ext cx="8229600" cy="5242587"/>
          </a:xfrm>
        </p:spPr>
        <p:txBody>
          <a:bodyPr/>
          <a:lstStyle/>
          <a:p>
            <a:r>
              <a:rPr lang="en-IN" sz="2800" b="1" dirty="0" smtClean="0">
                <a:latin typeface="Times New Roman" pitchFamily="18" charset="0"/>
                <a:cs typeface="Times New Roman" pitchFamily="18" charset="0"/>
              </a:rPr>
              <a:t>Register Page</a:t>
            </a:r>
          </a:p>
          <a:p>
            <a:endParaRPr lang="en-US" dirty="0"/>
          </a:p>
        </p:txBody>
      </p:sp>
      <p:sp>
        <p:nvSpPr>
          <p:cNvPr id="3" name="Title 2"/>
          <p:cNvSpPr>
            <a:spLocks noGrp="1"/>
          </p:cNvSpPr>
          <p:nvPr>
            <p:ph type="title"/>
          </p:nvPr>
        </p:nvSpPr>
        <p:spPr>
          <a:xfrm>
            <a:off x="395536" y="0"/>
            <a:ext cx="8229600" cy="778098"/>
          </a:xfrm>
        </p:spPr>
        <p:txBody>
          <a:bodyPr>
            <a:normAutofit/>
          </a:bodyPr>
          <a:lstStyle/>
          <a:p>
            <a:pPr algn="ctr"/>
            <a:r>
              <a:rPr lang="en-IN" sz="4000" dirty="0" smtClean="0">
                <a:latin typeface="Times New Roman" pitchFamily="18" charset="0"/>
                <a:cs typeface="Times New Roman" pitchFamily="18" charset="0"/>
              </a:rPr>
              <a:t>Web Interface</a:t>
            </a:r>
            <a:endParaRPr lang="en-US" sz="4000" dirty="0">
              <a:latin typeface="Times New Roman" pitchFamily="18" charset="0"/>
              <a:cs typeface="Times New Roman" pitchFamily="18" charset="0"/>
            </a:endParaRPr>
          </a:p>
        </p:txBody>
      </p:sp>
      <p:pic>
        <p:nvPicPr>
          <p:cNvPr id="4" name="Picture 3" descr="C:\Users\A\Pictures\Screenshots\Register page.png"/>
          <p:cNvPicPr/>
          <p:nvPr/>
        </p:nvPicPr>
        <p:blipFill>
          <a:blip r:embed="rId2" cstate="print"/>
          <a:srcRect/>
          <a:stretch>
            <a:fillRect/>
          </a:stretch>
        </p:blipFill>
        <p:spPr bwMode="auto">
          <a:xfrm>
            <a:off x="0" y="1268760"/>
            <a:ext cx="9144000" cy="468052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007291"/>
          </a:xfrm>
        </p:spPr>
        <p:txBody>
          <a:bodyPr>
            <a:normAutofit/>
          </a:bodyPr>
          <a:lstStyle/>
          <a:p>
            <a:r>
              <a:rPr lang="en-IN" sz="2800" b="1" dirty="0" smtClean="0">
                <a:latin typeface="Times New Roman" pitchFamily="18" charset="0"/>
                <a:cs typeface="Times New Roman" pitchFamily="18" charset="0"/>
              </a:rPr>
              <a:t>Login Page</a:t>
            </a:r>
            <a:endParaRPr lang="en-US" sz="2800" b="1" dirty="0">
              <a:latin typeface="Times New Roman" pitchFamily="18" charset="0"/>
              <a:cs typeface="Times New Roman" pitchFamily="18" charset="0"/>
            </a:endParaRPr>
          </a:p>
        </p:txBody>
      </p:sp>
      <p:pic>
        <p:nvPicPr>
          <p:cNvPr id="4" name="Picture 3" descr="C:\Users\A\Pictures\Screenshots\login page.png"/>
          <p:cNvPicPr/>
          <p:nvPr/>
        </p:nvPicPr>
        <p:blipFill>
          <a:blip r:embed="rId2" cstate="print"/>
          <a:srcRect/>
          <a:stretch>
            <a:fillRect/>
          </a:stretch>
        </p:blipFill>
        <p:spPr bwMode="auto">
          <a:xfrm>
            <a:off x="0" y="620688"/>
            <a:ext cx="9144000" cy="518457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r>
              <a:rPr lang="en-IN" sz="2800" b="1" dirty="0" smtClean="0">
                <a:latin typeface="Times New Roman" pitchFamily="18" charset="0"/>
                <a:cs typeface="Times New Roman" pitchFamily="18" charset="0"/>
              </a:rPr>
              <a:t>Home Page</a:t>
            </a:r>
            <a:endParaRPr lang="en-US" sz="2800" b="1" dirty="0">
              <a:latin typeface="Times New Roman" pitchFamily="18" charset="0"/>
              <a:cs typeface="Times New Roman" pitchFamily="18" charset="0"/>
            </a:endParaRPr>
          </a:p>
        </p:txBody>
      </p:sp>
      <p:pic>
        <p:nvPicPr>
          <p:cNvPr id="4098" name="Picture 2" descr="C:\Users\A\Pictures\Screenshots\Home Page.png"/>
          <p:cNvPicPr>
            <a:picLocks noChangeAspect="1" noChangeArrowheads="1"/>
          </p:cNvPicPr>
          <p:nvPr/>
        </p:nvPicPr>
        <p:blipFill>
          <a:blip r:embed="rId2" cstate="print"/>
          <a:srcRect/>
          <a:stretch>
            <a:fillRect/>
          </a:stretch>
        </p:blipFill>
        <p:spPr bwMode="auto">
          <a:xfrm>
            <a:off x="0" y="495300"/>
            <a:ext cx="9144000" cy="5867400"/>
          </a:xfrm>
          <a:prstGeom prst="rect">
            <a:avLst/>
          </a:prstGeom>
          <a:noFill/>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r>
              <a:rPr lang="en-IN" sz="2800" b="1" dirty="0" smtClean="0">
                <a:latin typeface="Times New Roman" pitchFamily="18" charset="0"/>
                <a:cs typeface="Times New Roman" pitchFamily="18" charset="0"/>
              </a:rPr>
              <a:t>Upcoming Events</a:t>
            </a:r>
            <a:endParaRPr lang="en-US" sz="2800" b="1" dirty="0">
              <a:latin typeface="Times New Roman" pitchFamily="18" charset="0"/>
              <a:cs typeface="Times New Roman" pitchFamily="18" charset="0"/>
            </a:endParaRPr>
          </a:p>
        </p:txBody>
      </p:sp>
      <p:pic>
        <p:nvPicPr>
          <p:cNvPr id="7170" name="Picture 2" descr="C:\Users\A\Pictures\Screenshots\Upcoming events.png"/>
          <p:cNvPicPr>
            <a:picLocks noChangeAspect="1" noChangeArrowheads="1"/>
          </p:cNvPicPr>
          <p:nvPr/>
        </p:nvPicPr>
        <p:blipFill>
          <a:blip r:embed="rId2" cstate="print"/>
          <a:srcRect/>
          <a:stretch>
            <a:fillRect/>
          </a:stretch>
        </p:blipFill>
        <p:spPr bwMode="auto">
          <a:xfrm>
            <a:off x="0" y="538163"/>
            <a:ext cx="9144000" cy="5781675"/>
          </a:xfrm>
          <a:prstGeom prst="rect">
            <a:avLst/>
          </a:prstGeom>
          <a:noFill/>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r>
              <a:rPr lang="en-IN" sz="2800" b="1" dirty="0" smtClean="0">
                <a:latin typeface="Times New Roman" pitchFamily="18" charset="0"/>
                <a:cs typeface="Times New Roman" pitchFamily="18" charset="0"/>
              </a:rPr>
              <a:t>Event Details Page</a:t>
            </a:r>
            <a:endParaRPr lang="en-US" sz="2800" b="1" dirty="0">
              <a:latin typeface="Times New Roman" pitchFamily="18" charset="0"/>
              <a:cs typeface="Times New Roman" pitchFamily="18" charset="0"/>
            </a:endParaRPr>
          </a:p>
        </p:txBody>
      </p:sp>
      <p:pic>
        <p:nvPicPr>
          <p:cNvPr id="8194" name="Picture 2" descr="C:\Users\A\Pictures\Screenshots\EventDetails Page.png"/>
          <p:cNvPicPr>
            <a:picLocks noChangeAspect="1" noChangeArrowheads="1"/>
          </p:cNvPicPr>
          <p:nvPr/>
        </p:nvPicPr>
        <p:blipFill>
          <a:blip r:embed="rId2" cstate="print"/>
          <a:srcRect/>
          <a:stretch>
            <a:fillRect/>
          </a:stretch>
        </p:blipFill>
        <p:spPr bwMode="auto">
          <a:xfrm>
            <a:off x="0" y="534119"/>
            <a:ext cx="9144000" cy="5991225"/>
          </a:xfrm>
          <a:prstGeom prst="rect">
            <a:avLst/>
          </a:prstGeom>
          <a:noFill/>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r>
              <a:rPr lang="en-IN" sz="2800" b="1" dirty="0" smtClean="0">
                <a:latin typeface="Times New Roman" pitchFamily="18" charset="0"/>
                <a:cs typeface="Times New Roman" pitchFamily="18" charset="0"/>
              </a:rPr>
              <a:t>Customer Dashboard</a:t>
            </a:r>
            <a:endParaRPr lang="en-US" sz="2800" b="1" dirty="0">
              <a:latin typeface="Times New Roman" pitchFamily="18" charset="0"/>
              <a:cs typeface="Times New Roman" pitchFamily="18" charset="0"/>
            </a:endParaRPr>
          </a:p>
        </p:txBody>
      </p:sp>
      <p:pic>
        <p:nvPicPr>
          <p:cNvPr id="9219" name="Picture 3" descr="C:\Users\A\Pictures\Screenshots\CustomerDashboard.png"/>
          <p:cNvPicPr>
            <a:picLocks noChangeAspect="1" noChangeArrowheads="1"/>
          </p:cNvPicPr>
          <p:nvPr/>
        </p:nvPicPr>
        <p:blipFill>
          <a:blip r:embed="rId2" cstate="print"/>
          <a:srcRect/>
          <a:stretch>
            <a:fillRect/>
          </a:stretch>
        </p:blipFill>
        <p:spPr bwMode="auto">
          <a:xfrm>
            <a:off x="-1" y="571500"/>
            <a:ext cx="9144001" cy="5715000"/>
          </a:xfrm>
          <a:prstGeom prst="rect">
            <a:avLst/>
          </a:prstGeom>
          <a:noFill/>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r>
              <a:rPr lang="en-IN" sz="2800" b="1" dirty="0" smtClean="0">
                <a:latin typeface="Times New Roman" pitchFamily="18" charset="0"/>
                <a:cs typeface="Times New Roman" pitchFamily="18" charset="0"/>
              </a:rPr>
              <a:t>User Notification</a:t>
            </a:r>
            <a:endParaRPr lang="en-US" sz="2800" b="1" dirty="0">
              <a:latin typeface="Times New Roman" pitchFamily="18" charset="0"/>
              <a:cs typeface="Times New Roman" pitchFamily="18" charset="0"/>
            </a:endParaRPr>
          </a:p>
        </p:txBody>
      </p:sp>
      <p:pic>
        <p:nvPicPr>
          <p:cNvPr id="10243" name="Picture 3" descr="C:\Users\A\Pictures\Screenshots\User Notification.png"/>
          <p:cNvPicPr>
            <a:picLocks noChangeAspect="1" noChangeArrowheads="1"/>
          </p:cNvPicPr>
          <p:nvPr/>
        </p:nvPicPr>
        <p:blipFill>
          <a:blip r:embed="rId2" cstate="print"/>
          <a:srcRect/>
          <a:stretch>
            <a:fillRect/>
          </a:stretch>
        </p:blipFill>
        <p:spPr bwMode="auto">
          <a:xfrm>
            <a:off x="0" y="600794"/>
            <a:ext cx="9144000" cy="5924550"/>
          </a:xfrm>
          <a:prstGeom prst="rect">
            <a:avLst/>
          </a:prstGeom>
          <a:noFill/>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r>
              <a:rPr lang="en-IN" sz="2800" b="1" dirty="0" smtClean="0">
                <a:latin typeface="Times New Roman" pitchFamily="18" charset="0"/>
                <a:cs typeface="Times New Roman" pitchFamily="18" charset="0"/>
              </a:rPr>
              <a:t>Booking Page</a:t>
            </a:r>
            <a:endParaRPr lang="en-US" sz="2800" b="1" dirty="0">
              <a:latin typeface="Times New Roman" pitchFamily="18" charset="0"/>
              <a:cs typeface="Times New Roman" pitchFamily="18" charset="0"/>
            </a:endParaRPr>
          </a:p>
        </p:txBody>
      </p:sp>
      <p:pic>
        <p:nvPicPr>
          <p:cNvPr id="11266" name="Picture 2" descr="C:\Users\A\Pictures\Screenshots\Booking Page.png"/>
          <p:cNvPicPr>
            <a:picLocks noChangeAspect="1" noChangeArrowheads="1"/>
          </p:cNvPicPr>
          <p:nvPr/>
        </p:nvPicPr>
        <p:blipFill>
          <a:blip r:embed="rId2" cstate="print"/>
          <a:srcRect/>
          <a:stretch>
            <a:fillRect/>
          </a:stretch>
        </p:blipFill>
        <p:spPr bwMode="auto">
          <a:xfrm>
            <a:off x="0" y="764704"/>
            <a:ext cx="9144000" cy="5686425"/>
          </a:xfrm>
          <a:prstGeom prst="rect">
            <a:avLst/>
          </a:prstGeom>
          <a:noFill/>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r>
              <a:rPr lang="en-IN" sz="2800" b="1" dirty="0" smtClean="0">
                <a:latin typeface="Times New Roman" pitchFamily="18" charset="0"/>
                <a:cs typeface="Times New Roman" pitchFamily="18" charset="0"/>
              </a:rPr>
              <a:t>Payment Page</a:t>
            </a:r>
            <a:endParaRPr lang="en-US" sz="2800" b="1" dirty="0">
              <a:latin typeface="Times New Roman" pitchFamily="18" charset="0"/>
              <a:cs typeface="Times New Roman" pitchFamily="18" charset="0"/>
            </a:endParaRPr>
          </a:p>
        </p:txBody>
      </p:sp>
      <p:pic>
        <p:nvPicPr>
          <p:cNvPr id="12290" name="Picture 2" descr="C:\Users\A\Pictures\Screenshots\Payment Page.png"/>
          <p:cNvPicPr>
            <a:picLocks noChangeAspect="1" noChangeArrowheads="1"/>
          </p:cNvPicPr>
          <p:nvPr/>
        </p:nvPicPr>
        <p:blipFill>
          <a:blip r:embed="rId2" cstate="print"/>
          <a:srcRect/>
          <a:stretch>
            <a:fillRect/>
          </a:stretch>
        </p:blipFill>
        <p:spPr bwMode="auto">
          <a:xfrm>
            <a:off x="0" y="548680"/>
            <a:ext cx="9144000" cy="5924550"/>
          </a:xfrm>
          <a:prstGeom prst="rect">
            <a:avLst/>
          </a:prstGeom>
          <a:noFill/>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r>
              <a:rPr lang="en-IN" sz="2800" b="1" dirty="0" smtClean="0">
                <a:latin typeface="Times New Roman" pitchFamily="18" charset="0"/>
                <a:cs typeface="Times New Roman" pitchFamily="18" charset="0"/>
              </a:rPr>
              <a:t>Ticket Page</a:t>
            </a:r>
            <a:endParaRPr lang="en-US" sz="2800" b="1" dirty="0">
              <a:latin typeface="Times New Roman" pitchFamily="18" charset="0"/>
              <a:cs typeface="Times New Roman" pitchFamily="18" charset="0"/>
            </a:endParaRPr>
          </a:p>
        </p:txBody>
      </p:sp>
      <p:pic>
        <p:nvPicPr>
          <p:cNvPr id="13314" name="Picture 2" descr="C:\Users\A\Pictures\Screenshots\Ticket Page.png"/>
          <p:cNvPicPr>
            <a:picLocks noChangeAspect="1" noChangeArrowheads="1"/>
          </p:cNvPicPr>
          <p:nvPr/>
        </p:nvPicPr>
        <p:blipFill>
          <a:blip r:embed="rId2" cstate="print"/>
          <a:srcRect/>
          <a:stretch>
            <a:fillRect/>
          </a:stretch>
        </p:blipFill>
        <p:spPr bwMode="auto">
          <a:xfrm>
            <a:off x="1" y="548680"/>
            <a:ext cx="9108504" cy="5663183"/>
          </a:xfrm>
          <a:prstGeom prst="rect">
            <a:avLst/>
          </a:prstGeom>
          <a:noFill/>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r>
              <a:rPr lang="en-IN" sz="2800" b="1" dirty="0" smtClean="0">
                <a:latin typeface="Times New Roman" pitchFamily="18" charset="0"/>
                <a:cs typeface="Times New Roman" pitchFamily="18" charset="0"/>
              </a:rPr>
              <a:t>Ticket PDF Format</a:t>
            </a:r>
            <a:endParaRPr lang="en-US" sz="2800" b="1" dirty="0">
              <a:latin typeface="Times New Roman" pitchFamily="18" charset="0"/>
              <a:cs typeface="Times New Roman" pitchFamily="18" charset="0"/>
            </a:endParaRPr>
          </a:p>
        </p:txBody>
      </p:sp>
      <p:pic>
        <p:nvPicPr>
          <p:cNvPr id="14338" name="Picture 2" descr="C:\Users\A\Pictures\Screenshots\Ticket Downlod PDF.png"/>
          <p:cNvPicPr>
            <a:picLocks noChangeAspect="1" noChangeArrowheads="1"/>
          </p:cNvPicPr>
          <p:nvPr/>
        </p:nvPicPr>
        <p:blipFill>
          <a:blip r:embed="rId2" cstate="print"/>
          <a:srcRect/>
          <a:stretch>
            <a:fillRect/>
          </a:stretch>
        </p:blipFill>
        <p:spPr bwMode="auto">
          <a:xfrm>
            <a:off x="1619672" y="690265"/>
            <a:ext cx="6120680" cy="5907087"/>
          </a:xfrm>
          <a:prstGeom prst="rect">
            <a:avLst/>
          </a:prstGeom>
          <a:noFill/>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r>
              <a:rPr lang="en-IN" sz="2800" b="1" dirty="0" smtClean="0">
                <a:latin typeface="Times New Roman" pitchFamily="18" charset="0"/>
                <a:cs typeface="Times New Roman" pitchFamily="18" charset="0"/>
              </a:rPr>
              <a:t>Review Page</a:t>
            </a:r>
            <a:endParaRPr lang="en-US" sz="2800" b="1" dirty="0">
              <a:latin typeface="Times New Roman" pitchFamily="18" charset="0"/>
              <a:cs typeface="Times New Roman" pitchFamily="18" charset="0"/>
            </a:endParaRPr>
          </a:p>
        </p:txBody>
      </p:sp>
      <p:pic>
        <p:nvPicPr>
          <p:cNvPr id="25602" name="Picture 2" descr="C:\Users\A\Pictures\Screenshots\Feedback_User.png"/>
          <p:cNvPicPr>
            <a:picLocks noChangeAspect="1" noChangeArrowheads="1"/>
          </p:cNvPicPr>
          <p:nvPr/>
        </p:nvPicPr>
        <p:blipFill>
          <a:blip r:embed="rId2" cstate="print"/>
          <a:srcRect/>
          <a:stretch>
            <a:fillRect/>
          </a:stretch>
        </p:blipFill>
        <p:spPr bwMode="auto">
          <a:xfrm>
            <a:off x="0" y="620688"/>
            <a:ext cx="9144000" cy="5867400"/>
          </a:xfrm>
          <a:prstGeom prst="rect">
            <a:avLst/>
          </a:prstGeom>
          <a:noFill/>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r>
              <a:rPr lang="en-IN" sz="2800" b="1" dirty="0" smtClean="0">
                <a:latin typeface="Times New Roman" pitchFamily="18" charset="0"/>
                <a:cs typeface="Times New Roman" pitchFamily="18" charset="0"/>
              </a:rPr>
              <a:t>About Us Page</a:t>
            </a:r>
            <a:endParaRPr lang="en-US" sz="2800" b="1" dirty="0">
              <a:latin typeface="Times New Roman" pitchFamily="18" charset="0"/>
              <a:cs typeface="Times New Roman" pitchFamily="18" charset="0"/>
            </a:endParaRPr>
          </a:p>
        </p:txBody>
      </p:sp>
      <p:pic>
        <p:nvPicPr>
          <p:cNvPr id="28674" name="Picture 2" descr="C:\Users\A\Pictures\Screenshots\About-1.png"/>
          <p:cNvPicPr>
            <a:picLocks noChangeAspect="1" noChangeArrowheads="1"/>
          </p:cNvPicPr>
          <p:nvPr/>
        </p:nvPicPr>
        <p:blipFill>
          <a:blip r:embed="rId2" cstate="print"/>
          <a:srcRect/>
          <a:stretch>
            <a:fillRect/>
          </a:stretch>
        </p:blipFill>
        <p:spPr bwMode="auto">
          <a:xfrm>
            <a:off x="0" y="620688"/>
            <a:ext cx="9144000" cy="6237312"/>
          </a:xfrm>
          <a:prstGeom prst="rect">
            <a:avLst/>
          </a:prstGeom>
          <a:noFill/>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r>
              <a:rPr lang="en-IN" sz="2800" b="1" dirty="0" smtClean="0">
                <a:latin typeface="Times New Roman" pitchFamily="18" charset="0"/>
                <a:cs typeface="Times New Roman" pitchFamily="18" charset="0"/>
              </a:rPr>
              <a:t>Contact Us Page</a:t>
            </a:r>
            <a:endParaRPr lang="en-US" sz="2800" b="1" dirty="0">
              <a:latin typeface="Times New Roman" pitchFamily="18" charset="0"/>
              <a:cs typeface="Times New Roman" pitchFamily="18" charset="0"/>
            </a:endParaRPr>
          </a:p>
        </p:txBody>
      </p:sp>
      <p:pic>
        <p:nvPicPr>
          <p:cNvPr id="27650" name="Picture 2" descr="C:\Users\A\Pictures\Screenshots\Contact Page.png"/>
          <p:cNvPicPr>
            <a:picLocks noChangeAspect="1" noChangeArrowheads="1"/>
          </p:cNvPicPr>
          <p:nvPr/>
        </p:nvPicPr>
        <p:blipFill>
          <a:blip r:embed="rId2" cstate="print"/>
          <a:srcRect/>
          <a:stretch>
            <a:fillRect/>
          </a:stretch>
        </p:blipFill>
        <p:spPr bwMode="auto">
          <a:xfrm>
            <a:off x="0" y="548680"/>
            <a:ext cx="9144000" cy="6000750"/>
          </a:xfrm>
          <a:prstGeom prst="rect">
            <a:avLst/>
          </a:prstGeom>
          <a:noFill/>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r>
              <a:rPr lang="en-IN" sz="2800" b="1" dirty="0" smtClean="0">
                <a:latin typeface="Times New Roman" pitchFamily="18" charset="0"/>
                <a:cs typeface="Times New Roman" pitchFamily="18" charset="0"/>
              </a:rPr>
              <a:t>Organizer Dashboard</a:t>
            </a:r>
            <a:endParaRPr lang="en-US" sz="2800" b="1" dirty="0">
              <a:latin typeface="Times New Roman" pitchFamily="18" charset="0"/>
              <a:cs typeface="Times New Roman" pitchFamily="18" charset="0"/>
            </a:endParaRPr>
          </a:p>
        </p:txBody>
      </p:sp>
      <p:pic>
        <p:nvPicPr>
          <p:cNvPr id="15362" name="Picture 2" descr="C:\Users\A\Pictures\Screenshots\Organizer Dashboard.png"/>
          <p:cNvPicPr>
            <a:picLocks noChangeAspect="1" noChangeArrowheads="1"/>
          </p:cNvPicPr>
          <p:nvPr/>
        </p:nvPicPr>
        <p:blipFill>
          <a:blip r:embed="rId2" cstate="print"/>
          <a:srcRect/>
          <a:stretch>
            <a:fillRect/>
          </a:stretch>
        </p:blipFill>
        <p:spPr bwMode="auto">
          <a:xfrm>
            <a:off x="0" y="628650"/>
            <a:ext cx="9144000" cy="5600700"/>
          </a:xfrm>
          <a:prstGeom prst="rect">
            <a:avLst/>
          </a:prstGeom>
          <a:noFill/>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r>
              <a:rPr lang="en-IN" sz="2800" b="1" dirty="0" smtClean="0">
                <a:latin typeface="Times New Roman" pitchFamily="18" charset="0"/>
                <a:cs typeface="Times New Roman" pitchFamily="18" charset="0"/>
              </a:rPr>
              <a:t>Create Event Page</a:t>
            </a:r>
            <a:endParaRPr lang="en-US" sz="2800" b="1" dirty="0">
              <a:latin typeface="Times New Roman" pitchFamily="18" charset="0"/>
              <a:cs typeface="Times New Roman" pitchFamily="18" charset="0"/>
            </a:endParaRPr>
          </a:p>
        </p:txBody>
      </p:sp>
      <p:pic>
        <p:nvPicPr>
          <p:cNvPr id="16386" name="Picture 2" descr="C:\Users\A\Pictures\Screenshots\Create Event Page.png"/>
          <p:cNvPicPr>
            <a:picLocks noChangeAspect="1" noChangeArrowheads="1"/>
          </p:cNvPicPr>
          <p:nvPr/>
        </p:nvPicPr>
        <p:blipFill>
          <a:blip r:embed="rId2" cstate="print"/>
          <a:srcRect/>
          <a:stretch>
            <a:fillRect/>
          </a:stretch>
        </p:blipFill>
        <p:spPr bwMode="auto">
          <a:xfrm>
            <a:off x="0" y="620688"/>
            <a:ext cx="9144000" cy="5954713"/>
          </a:xfrm>
          <a:prstGeom prst="rect">
            <a:avLst/>
          </a:prstGeom>
          <a:noFill/>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r>
              <a:rPr lang="en-IN" sz="2800" b="1" dirty="0" smtClean="0">
                <a:latin typeface="Times New Roman" pitchFamily="18" charset="0"/>
                <a:cs typeface="Times New Roman" pitchFamily="18" charset="0"/>
              </a:rPr>
              <a:t>Organizer Event List Page</a:t>
            </a:r>
            <a:endParaRPr lang="en-US" sz="2800" b="1" dirty="0">
              <a:latin typeface="Times New Roman" pitchFamily="18" charset="0"/>
              <a:cs typeface="Times New Roman" pitchFamily="18" charset="0"/>
            </a:endParaRPr>
          </a:p>
        </p:txBody>
      </p:sp>
      <p:pic>
        <p:nvPicPr>
          <p:cNvPr id="26626" name="Picture 2" descr="C:\Users\A\Pictures\Screenshots\Event List Page.png"/>
          <p:cNvPicPr>
            <a:picLocks noChangeAspect="1" noChangeArrowheads="1"/>
          </p:cNvPicPr>
          <p:nvPr/>
        </p:nvPicPr>
        <p:blipFill>
          <a:blip r:embed="rId2" cstate="print"/>
          <a:srcRect/>
          <a:stretch>
            <a:fillRect/>
          </a:stretch>
        </p:blipFill>
        <p:spPr bwMode="auto">
          <a:xfrm>
            <a:off x="0" y="620688"/>
            <a:ext cx="9144000" cy="5840413"/>
          </a:xfrm>
          <a:prstGeom prst="rect">
            <a:avLst/>
          </a:prstGeom>
          <a:noFill/>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r>
              <a:rPr lang="en-IN" sz="2800" b="1" dirty="0" smtClean="0">
                <a:latin typeface="Times New Roman" pitchFamily="18" charset="0"/>
                <a:cs typeface="Times New Roman" pitchFamily="18" charset="0"/>
              </a:rPr>
              <a:t>Organizer Analytics Page</a:t>
            </a:r>
            <a:endParaRPr lang="en-US" sz="2800" b="1" dirty="0">
              <a:latin typeface="Times New Roman" pitchFamily="18" charset="0"/>
              <a:cs typeface="Times New Roman" pitchFamily="18" charset="0"/>
            </a:endParaRPr>
          </a:p>
        </p:txBody>
      </p:sp>
      <p:pic>
        <p:nvPicPr>
          <p:cNvPr id="17410" name="Picture 2" descr="C:\Users\A\Pictures\Screenshots\Organizer Analytics Page.png"/>
          <p:cNvPicPr>
            <a:picLocks noChangeAspect="1" noChangeArrowheads="1"/>
          </p:cNvPicPr>
          <p:nvPr/>
        </p:nvPicPr>
        <p:blipFill>
          <a:blip r:embed="rId2" cstate="print"/>
          <a:srcRect/>
          <a:stretch>
            <a:fillRect/>
          </a:stretch>
        </p:blipFill>
        <p:spPr bwMode="auto">
          <a:xfrm>
            <a:off x="0" y="612923"/>
            <a:ext cx="9143999" cy="5840413"/>
          </a:xfrm>
          <a:prstGeom prst="rect">
            <a:avLst/>
          </a:prstGeom>
          <a:noFill/>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r>
              <a:rPr lang="en-IN" sz="2800" b="1" dirty="0" smtClean="0">
                <a:latin typeface="Times New Roman" pitchFamily="18" charset="0"/>
                <a:cs typeface="Times New Roman" pitchFamily="18" charset="0"/>
              </a:rPr>
              <a:t>Event Attendees Details</a:t>
            </a:r>
            <a:endParaRPr lang="en-US" sz="2800" b="1" dirty="0">
              <a:latin typeface="Times New Roman" pitchFamily="18" charset="0"/>
              <a:cs typeface="Times New Roman" pitchFamily="18" charset="0"/>
            </a:endParaRPr>
          </a:p>
        </p:txBody>
      </p:sp>
      <p:pic>
        <p:nvPicPr>
          <p:cNvPr id="18434" name="Picture 2" descr="C:\Users\A\Pictures\Screenshots\Event Attendes Details.png"/>
          <p:cNvPicPr>
            <a:picLocks noChangeAspect="1" noChangeArrowheads="1"/>
          </p:cNvPicPr>
          <p:nvPr/>
        </p:nvPicPr>
        <p:blipFill>
          <a:blip r:embed="rId2" cstate="print"/>
          <a:srcRect/>
          <a:stretch>
            <a:fillRect/>
          </a:stretch>
        </p:blipFill>
        <p:spPr bwMode="auto">
          <a:xfrm>
            <a:off x="0" y="620688"/>
            <a:ext cx="9144000" cy="6010275"/>
          </a:xfrm>
          <a:prstGeom prst="rect">
            <a:avLst/>
          </a:prstGeom>
          <a:noFill/>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r>
              <a:rPr lang="en-IN" sz="2800" b="1" dirty="0" smtClean="0">
                <a:latin typeface="Times New Roman" pitchFamily="18" charset="0"/>
                <a:cs typeface="Times New Roman" pitchFamily="18" charset="0"/>
              </a:rPr>
              <a:t>Admin Dashboard</a:t>
            </a:r>
            <a:endParaRPr lang="en-US" sz="2800" b="1" dirty="0">
              <a:latin typeface="Times New Roman" pitchFamily="18" charset="0"/>
              <a:cs typeface="Times New Roman" pitchFamily="18" charset="0"/>
            </a:endParaRPr>
          </a:p>
        </p:txBody>
      </p:sp>
      <p:pic>
        <p:nvPicPr>
          <p:cNvPr id="19458" name="Picture 2" descr="C:\Users\A\Pictures\Screenshots\Admin Dashbaord.png"/>
          <p:cNvPicPr>
            <a:picLocks noChangeAspect="1" noChangeArrowheads="1"/>
          </p:cNvPicPr>
          <p:nvPr/>
        </p:nvPicPr>
        <p:blipFill>
          <a:blip r:embed="rId2" cstate="print"/>
          <a:srcRect/>
          <a:stretch>
            <a:fillRect/>
          </a:stretch>
        </p:blipFill>
        <p:spPr bwMode="auto">
          <a:xfrm>
            <a:off x="0" y="548680"/>
            <a:ext cx="9144000" cy="5328591"/>
          </a:xfrm>
          <a:prstGeom prst="rect">
            <a:avLst/>
          </a:prstGeom>
          <a:noFill/>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r>
              <a:rPr lang="en-IN" sz="2800" b="1" dirty="0" smtClean="0">
                <a:latin typeface="Times New Roman" pitchFamily="18" charset="0"/>
                <a:cs typeface="Times New Roman" pitchFamily="18" charset="0"/>
              </a:rPr>
              <a:t>Add Categories Page</a:t>
            </a:r>
            <a:endParaRPr lang="en-US" sz="2800" b="1" dirty="0">
              <a:latin typeface="Times New Roman" pitchFamily="18" charset="0"/>
              <a:cs typeface="Times New Roman" pitchFamily="18" charset="0"/>
            </a:endParaRPr>
          </a:p>
        </p:txBody>
      </p:sp>
      <p:pic>
        <p:nvPicPr>
          <p:cNvPr id="29698" name="Picture 2" descr="C:\Users\A\Pictures\Screenshots\Add Categories.png"/>
          <p:cNvPicPr>
            <a:picLocks noChangeAspect="1" noChangeArrowheads="1"/>
          </p:cNvPicPr>
          <p:nvPr/>
        </p:nvPicPr>
        <p:blipFill>
          <a:blip r:embed="rId2" cstate="print"/>
          <a:srcRect/>
          <a:stretch>
            <a:fillRect/>
          </a:stretch>
        </p:blipFill>
        <p:spPr bwMode="auto">
          <a:xfrm>
            <a:off x="0" y="620688"/>
            <a:ext cx="9144000" cy="5934075"/>
          </a:xfrm>
          <a:prstGeom prst="rect">
            <a:avLst/>
          </a:prstGeom>
          <a:noFill/>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r>
              <a:rPr lang="en-IN" sz="2800" b="1" dirty="0" smtClean="0">
                <a:latin typeface="Times New Roman" pitchFamily="18" charset="0"/>
                <a:cs typeface="Times New Roman" pitchFamily="18" charset="0"/>
              </a:rPr>
              <a:t>Manage Events</a:t>
            </a:r>
            <a:endParaRPr lang="en-US" sz="2800" b="1" dirty="0">
              <a:latin typeface="Times New Roman" pitchFamily="18" charset="0"/>
              <a:cs typeface="Times New Roman" pitchFamily="18" charset="0"/>
            </a:endParaRPr>
          </a:p>
        </p:txBody>
      </p:sp>
      <p:pic>
        <p:nvPicPr>
          <p:cNvPr id="20482" name="Picture 2" descr="C:\Users\A\Pictures\Screenshots\Manage Events.png"/>
          <p:cNvPicPr>
            <a:picLocks noChangeAspect="1" noChangeArrowheads="1"/>
          </p:cNvPicPr>
          <p:nvPr/>
        </p:nvPicPr>
        <p:blipFill>
          <a:blip r:embed="rId2" cstate="print"/>
          <a:srcRect/>
          <a:stretch>
            <a:fillRect/>
          </a:stretch>
        </p:blipFill>
        <p:spPr bwMode="auto">
          <a:xfrm>
            <a:off x="-19050" y="534119"/>
            <a:ext cx="9163050" cy="5991225"/>
          </a:xfrm>
          <a:prstGeom prst="rect">
            <a:avLst/>
          </a:prstGeom>
          <a:noFill/>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r>
              <a:rPr lang="en-IN" sz="2800" b="1" dirty="0" smtClean="0">
                <a:latin typeface="Times New Roman" pitchFamily="18" charset="0"/>
                <a:cs typeface="Times New Roman" pitchFamily="18" charset="0"/>
              </a:rPr>
              <a:t>Manage Event Registrations</a:t>
            </a:r>
            <a:endParaRPr lang="en-US" sz="2800" b="1" dirty="0">
              <a:latin typeface="Times New Roman" pitchFamily="18" charset="0"/>
              <a:cs typeface="Times New Roman" pitchFamily="18" charset="0"/>
            </a:endParaRPr>
          </a:p>
        </p:txBody>
      </p:sp>
      <p:pic>
        <p:nvPicPr>
          <p:cNvPr id="21506" name="Picture 2" descr="C:\Users\A\Pictures\Screenshots\Manage Registrations.png"/>
          <p:cNvPicPr>
            <a:picLocks noChangeAspect="1" noChangeArrowheads="1"/>
          </p:cNvPicPr>
          <p:nvPr/>
        </p:nvPicPr>
        <p:blipFill>
          <a:blip r:embed="rId2" cstate="print"/>
          <a:srcRect/>
          <a:stretch>
            <a:fillRect/>
          </a:stretch>
        </p:blipFill>
        <p:spPr bwMode="auto">
          <a:xfrm>
            <a:off x="0" y="692696"/>
            <a:ext cx="9144000" cy="5886450"/>
          </a:xfrm>
          <a:prstGeom prst="rect">
            <a:avLst/>
          </a:prstGeom>
          <a:noFill/>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r>
              <a:rPr lang="en-IN" sz="2800" b="1" dirty="0" smtClean="0">
                <a:latin typeface="Times New Roman" pitchFamily="18" charset="0"/>
                <a:cs typeface="Times New Roman" pitchFamily="18" charset="0"/>
              </a:rPr>
              <a:t>View Booking History</a:t>
            </a:r>
            <a:endParaRPr lang="en-US" sz="2800" b="1" dirty="0">
              <a:latin typeface="Times New Roman" pitchFamily="18" charset="0"/>
              <a:cs typeface="Times New Roman" pitchFamily="18" charset="0"/>
            </a:endParaRPr>
          </a:p>
        </p:txBody>
      </p:sp>
      <p:pic>
        <p:nvPicPr>
          <p:cNvPr id="22530" name="Picture 2" descr="C:\Users\A\Pictures\Screenshots\View Booking.png"/>
          <p:cNvPicPr>
            <a:picLocks noChangeAspect="1" noChangeArrowheads="1"/>
          </p:cNvPicPr>
          <p:nvPr/>
        </p:nvPicPr>
        <p:blipFill>
          <a:blip r:embed="rId2" cstate="print"/>
          <a:srcRect/>
          <a:stretch>
            <a:fillRect/>
          </a:stretch>
        </p:blipFill>
        <p:spPr bwMode="auto">
          <a:xfrm>
            <a:off x="0" y="620688"/>
            <a:ext cx="9144000" cy="5916613"/>
          </a:xfrm>
          <a:prstGeom prst="rect">
            <a:avLst/>
          </a:prstGeom>
          <a:noFill/>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r>
              <a:rPr lang="en-IN" sz="2800" b="1" dirty="0" smtClean="0">
                <a:latin typeface="Times New Roman" pitchFamily="18" charset="0"/>
                <a:cs typeface="Times New Roman" pitchFamily="18" charset="0"/>
              </a:rPr>
              <a:t>User Messages Page</a:t>
            </a:r>
            <a:endParaRPr lang="en-US" sz="2800" b="1" dirty="0">
              <a:latin typeface="Times New Roman" pitchFamily="18" charset="0"/>
              <a:cs typeface="Times New Roman" pitchFamily="18" charset="0"/>
            </a:endParaRPr>
          </a:p>
        </p:txBody>
      </p:sp>
      <p:pic>
        <p:nvPicPr>
          <p:cNvPr id="23554" name="Picture 2" descr="C:\Users\A\Pictures\Screenshots\View Message.png"/>
          <p:cNvPicPr>
            <a:picLocks noChangeAspect="1" noChangeArrowheads="1"/>
          </p:cNvPicPr>
          <p:nvPr/>
        </p:nvPicPr>
        <p:blipFill>
          <a:blip r:embed="rId2" cstate="print"/>
          <a:srcRect/>
          <a:stretch>
            <a:fillRect/>
          </a:stretch>
        </p:blipFill>
        <p:spPr bwMode="auto">
          <a:xfrm>
            <a:off x="0" y="620688"/>
            <a:ext cx="9144000" cy="5886450"/>
          </a:xfrm>
          <a:prstGeom prst="rect">
            <a:avLst/>
          </a:prstGeom>
          <a:noFill/>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r>
              <a:rPr lang="en-IN" sz="2800" b="1" dirty="0" smtClean="0">
                <a:latin typeface="Times New Roman" pitchFamily="18" charset="0"/>
                <a:cs typeface="Times New Roman" pitchFamily="18" charset="0"/>
              </a:rPr>
              <a:t>View Reviews Page</a:t>
            </a:r>
            <a:endParaRPr lang="en-US" sz="2800" b="1" dirty="0">
              <a:latin typeface="Times New Roman" pitchFamily="18" charset="0"/>
              <a:cs typeface="Times New Roman" pitchFamily="18" charset="0"/>
            </a:endParaRPr>
          </a:p>
        </p:txBody>
      </p:sp>
      <p:pic>
        <p:nvPicPr>
          <p:cNvPr id="24578" name="Picture 2" descr="C:\Users\A\Pictures\Screenshots\View Review Details.png"/>
          <p:cNvPicPr>
            <a:picLocks noChangeAspect="1" noChangeArrowheads="1"/>
          </p:cNvPicPr>
          <p:nvPr/>
        </p:nvPicPr>
        <p:blipFill>
          <a:blip r:embed="rId2" cstate="print"/>
          <a:srcRect/>
          <a:stretch>
            <a:fillRect/>
          </a:stretch>
        </p:blipFill>
        <p:spPr bwMode="auto">
          <a:xfrm>
            <a:off x="0" y="692696"/>
            <a:ext cx="9144000" cy="5800725"/>
          </a:xfrm>
          <a:prstGeom prst="rect">
            <a:avLst/>
          </a:prstGeom>
          <a:noFill/>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r>
              <a:rPr lang="en-IN" sz="2800" b="1" dirty="0" smtClean="0">
                <a:latin typeface="Times New Roman" pitchFamily="18" charset="0"/>
                <a:cs typeface="Times New Roman" pitchFamily="18" charset="0"/>
              </a:rPr>
              <a:t>Monthly Event Report</a:t>
            </a:r>
            <a:endParaRPr lang="en-US" sz="2800" b="1" dirty="0">
              <a:latin typeface="Times New Roman" pitchFamily="18" charset="0"/>
              <a:cs typeface="Times New Roman" pitchFamily="18" charset="0"/>
            </a:endParaRPr>
          </a:p>
        </p:txBody>
      </p:sp>
      <p:pic>
        <p:nvPicPr>
          <p:cNvPr id="30722" name="Picture 2" descr="C:\Users\A\Pictures\Screenshots\Monthly Reports.png"/>
          <p:cNvPicPr>
            <a:picLocks noChangeAspect="1" noChangeArrowheads="1"/>
          </p:cNvPicPr>
          <p:nvPr/>
        </p:nvPicPr>
        <p:blipFill>
          <a:blip r:embed="rId2" cstate="print"/>
          <a:srcRect/>
          <a:stretch>
            <a:fillRect/>
          </a:stretch>
        </p:blipFill>
        <p:spPr bwMode="auto">
          <a:xfrm>
            <a:off x="0" y="637307"/>
            <a:ext cx="9144000" cy="5888037"/>
          </a:xfrm>
          <a:prstGeom prst="rect">
            <a:avLst/>
          </a:prstGeom>
          <a:noFill/>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r>
              <a:rPr lang="en-IN" sz="2800" b="1" dirty="0" smtClean="0">
                <a:latin typeface="Times New Roman" pitchFamily="18" charset="0"/>
                <a:cs typeface="Times New Roman" pitchFamily="18" charset="0"/>
              </a:rPr>
              <a:t>Yearly Event Report</a:t>
            </a:r>
            <a:endParaRPr lang="en-US" sz="2800" b="1" dirty="0">
              <a:latin typeface="Times New Roman" pitchFamily="18" charset="0"/>
              <a:cs typeface="Times New Roman" pitchFamily="18" charset="0"/>
            </a:endParaRPr>
          </a:p>
        </p:txBody>
      </p:sp>
      <p:pic>
        <p:nvPicPr>
          <p:cNvPr id="31746" name="Picture 2" descr="C:\Users\A\Pictures\Screenshots\Yearly Report.png"/>
          <p:cNvPicPr>
            <a:picLocks noChangeAspect="1" noChangeArrowheads="1"/>
          </p:cNvPicPr>
          <p:nvPr/>
        </p:nvPicPr>
        <p:blipFill>
          <a:blip r:embed="rId2" cstate="print"/>
          <a:srcRect/>
          <a:stretch>
            <a:fillRect/>
          </a:stretch>
        </p:blipFill>
        <p:spPr bwMode="auto">
          <a:xfrm>
            <a:off x="0" y="757239"/>
            <a:ext cx="9144000" cy="4471962"/>
          </a:xfrm>
          <a:prstGeom prst="rect">
            <a:avLst/>
          </a:prstGeom>
          <a:noFill/>
        </p:spPr>
      </p:pic>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402</TotalTime>
  <Words>1901</Words>
  <Application>Microsoft Office PowerPoint</Application>
  <PresentationFormat>On-screen Show (4:3)</PresentationFormat>
  <Paragraphs>631</Paragraphs>
  <Slides>58</Slides>
  <Notes>0</Notes>
  <HiddenSlides>0</HiddenSlides>
  <MMClips>0</MMClips>
  <ScaleCrop>false</ScaleCrop>
  <HeadingPairs>
    <vt:vector size="4" baseType="variant">
      <vt:variant>
        <vt:lpstr>Theme</vt:lpstr>
      </vt:variant>
      <vt:variant>
        <vt:i4>1</vt:i4>
      </vt:variant>
      <vt:variant>
        <vt:lpstr>Slide Titles</vt:lpstr>
      </vt:variant>
      <vt:variant>
        <vt:i4>58</vt:i4>
      </vt:variant>
    </vt:vector>
  </HeadingPairs>
  <TitlesOfParts>
    <vt:vector size="59" baseType="lpstr">
      <vt:lpstr>Concourse</vt:lpstr>
      <vt:lpstr>The Event Management System</vt:lpstr>
      <vt:lpstr>Project Profile</vt:lpstr>
      <vt:lpstr>Hardware and Software Configuration</vt:lpstr>
      <vt:lpstr>Salient features</vt:lpstr>
      <vt:lpstr>Introduction</vt:lpstr>
      <vt:lpstr>Aim and Objectives</vt:lpstr>
      <vt:lpstr>Aim and Objectives</vt:lpstr>
      <vt:lpstr>Modules</vt:lpstr>
      <vt:lpstr>Modules</vt:lpstr>
      <vt:lpstr>Modules</vt:lpstr>
      <vt:lpstr>Problem statement</vt:lpstr>
      <vt:lpstr>Data Flow Diagram</vt:lpstr>
      <vt:lpstr>Slide 13</vt:lpstr>
      <vt:lpstr>Slide 14</vt:lpstr>
      <vt:lpstr>Slide 15</vt:lpstr>
      <vt:lpstr>Slide 16</vt:lpstr>
      <vt:lpstr>Slide 17</vt:lpstr>
      <vt:lpstr>Use Case Diagram</vt:lpstr>
      <vt:lpstr>Use Case Diagram of Organizer</vt:lpstr>
      <vt:lpstr>Use Case Diagram of Admin</vt:lpstr>
      <vt:lpstr>Data Dictionary</vt:lpstr>
      <vt:lpstr>Table 1: users Purpose: To store information about users</vt:lpstr>
      <vt:lpstr>Table 2: categories Purpose: To store event categories</vt:lpstr>
      <vt:lpstr>Table 3: events Purpose: To store event details</vt:lpstr>
      <vt:lpstr>Table 4: event_registrations Purpose: To store registrations details</vt:lpstr>
      <vt:lpstr>Table 5: notification Purpose: To store notification details</vt:lpstr>
      <vt:lpstr>Table 6: contact_messages Purpose: To store details about messages</vt:lpstr>
      <vt:lpstr>Table 7: event_reviews Purpose: To store event review details</vt:lpstr>
      <vt:lpstr>Table 8: bookings Purpose: To store details of paid event booking</vt:lpstr>
      <vt:lpstr>Table 9: user_tokens Purpose: To store user token</vt:lpstr>
      <vt:lpstr>Web Interface</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c:creator>
  <cp:lastModifiedBy>A</cp:lastModifiedBy>
  <cp:revision>169</cp:revision>
  <dcterms:created xsi:type="dcterms:W3CDTF">2026-03-24T06:38:59Z</dcterms:created>
  <dcterms:modified xsi:type="dcterms:W3CDTF">2026-03-25T16:52:50Z</dcterms:modified>
</cp:coreProperties>
</file>